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embeddedFontLst>
    <p:embeddedFont>
      <p:font typeface="Quattrocento Sans" charset="-122" pitchFamily="34"/>
      <p:regular r:id="rId23"/>
    </p:embeddedFont>
    <p:embeddedFont>
      <p:font typeface="Liter" charset="-122" pitchFamily="34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dribbble.com/0577e90430da18c91d4cf5fbebe2c1cd1dddf123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95000"/>
                </a:srgbClr>
              </a:gs>
              <a:gs pos="50000">
                <a:srgbClr val="1E3A5F">
                  <a:alpha val="85000"/>
                </a:srgbClr>
              </a:gs>
              <a:gs pos="100000">
                <a:srgbClr val="2E7D32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06855"/>
            <a:ext cx="3133725" cy="381000"/>
          </a:xfrm>
          <a:custGeom>
            <a:avLst/>
            <a:gdLst/>
            <a:ahLst/>
            <a:cxnLst/>
            <a:rect l="l" t="t" r="r" b="b"/>
            <a:pathLst>
              <a:path w="3133725" h="381000">
                <a:moveTo>
                  <a:pt x="57150" y="0"/>
                </a:moveTo>
                <a:lnTo>
                  <a:pt x="3076575" y="0"/>
                </a:lnTo>
                <a:cubicBezTo>
                  <a:pt x="3108117" y="0"/>
                  <a:pt x="3133725" y="25608"/>
                  <a:pt x="3133725" y="57150"/>
                </a:cubicBezTo>
                <a:lnTo>
                  <a:pt x="3133725" y="323850"/>
                </a:lnTo>
                <a:cubicBezTo>
                  <a:pt x="3133725" y="355392"/>
                  <a:pt x="3108117" y="381000"/>
                  <a:pt x="3076575" y="381000"/>
                </a:cubicBezTo>
                <a:lnTo>
                  <a:pt x="57150" y="381000"/>
                </a:lnTo>
                <a:cubicBezTo>
                  <a:pt x="25608" y="381000"/>
                  <a:pt x="0" y="355392"/>
                  <a:pt x="0" y="3238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506855"/>
            <a:ext cx="3209925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&amp; ANALYTICS CASE STUDY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16455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SkillStream Pro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202305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81C78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Subscription Revenue Optimization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6719" y="392620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9" name="Text 6"/>
          <p:cNvSpPr/>
          <p:nvPr/>
        </p:nvSpPr>
        <p:spPr>
          <a:xfrm>
            <a:off x="695325" y="3888105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 2024 - Feb 2026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13898" y="392620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11" name="Text 8"/>
          <p:cNvSpPr/>
          <p:nvPr/>
        </p:nvSpPr>
        <p:spPr>
          <a:xfrm>
            <a:off x="2904411" y="3888105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Analytics Project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4810" y="5513189"/>
            <a:ext cx="1388745" cy="960120"/>
          </a:xfrm>
          <a:custGeom>
            <a:avLst/>
            <a:gdLst/>
            <a:ahLst/>
            <a:cxnLst/>
            <a:rect l="l" t="t" r="r" b="b"/>
            <a:pathLst>
              <a:path w="1388745" h="960120">
                <a:moveTo>
                  <a:pt x="76205" y="0"/>
                </a:moveTo>
                <a:lnTo>
                  <a:pt x="1312540" y="0"/>
                </a:lnTo>
                <a:cubicBezTo>
                  <a:pt x="1354627" y="0"/>
                  <a:pt x="1388745" y="34118"/>
                  <a:pt x="1388745" y="76205"/>
                </a:cubicBezTo>
                <a:lnTo>
                  <a:pt x="1388745" y="883915"/>
                </a:lnTo>
                <a:cubicBezTo>
                  <a:pt x="1388745" y="926002"/>
                  <a:pt x="1354627" y="960120"/>
                  <a:pt x="131254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9120" y="5707499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Period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9120" y="5974199"/>
            <a:ext cx="1114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Months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50299" y="5513189"/>
            <a:ext cx="1569720" cy="960120"/>
          </a:xfrm>
          <a:custGeom>
            <a:avLst/>
            <a:gdLst/>
            <a:ahLst/>
            <a:cxnLst/>
            <a:rect l="l" t="t" r="r" b="b"/>
            <a:pathLst>
              <a:path w="1569720" h="960120">
                <a:moveTo>
                  <a:pt x="76205" y="0"/>
                </a:moveTo>
                <a:lnTo>
                  <a:pt x="1493515" y="0"/>
                </a:lnTo>
                <a:cubicBezTo>
                  <a:pt x="1535602" y="0"/>
                  <a:pt x="1569720" y="34118"/>
                  <a:pt x="1569720" y="76205"/>
                </a:cubicBezTo>
                <a:lnTo>
                  <a:pt x="1569720" y="883915"/>
                </a:lnTo>
                <a:cubicBezTo>
                  <a:pt x="1569720" y="926002"/>
                  <a:pt x="1535602" y="960120"/>
                  <a:pt x="1493515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4609" y="5707499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Points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44609" y="5974199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614 Records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297120" y="5513189"/>
            <a:ext cx="1512570" cy="960120"/>
          </a:xfrm>
          <a:custGeom>
            <a:avLst/>
            <a:gdLst/>
            <a:ahLst/>
            <a:cxnLst/>
            <a:rect l="l" t="t" r="r" b="b"/>
            <a:pathLst>
              <a:path w="1512570" h="960120">
                <a:moveTo>
                  <a:pt x="76205" y="0"/>
                </a:moveTo>
                <a:lnTo>
                  <a:pt x="1436365" y="0"/>
                </a:lnTo>
                <a:cubicBezTo>
                  <a:pt x="1478452" y="0"/>
                  <a:pt x="1512570" y="34118"/>
                  <a:pt x="1512570" y="76205"/>
                </a:cubicBezTo>
                <a:lnTo>
                  <a:pt x="1512570" y="883915"/>
                </a:lnTo>
                <a:cubicBezTo>
                  <a:pt x="1512570" y="926002"/>
                  <a:pt x="1478452" y="960120"/>
                  <a:pt x="1436365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491431" y="5707499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Projected Impact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491431" y="5974199"/>
            <a:ext cx="123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$120K+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95400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38100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1181095"/>
                </a:lnTo>
                <a:cubicBezTo>
                  <a:pt x="5600700" y="1223182"/>
                  <a:pt x="5566582" y="1257300"/>
                  <a:pt x="552449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12954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6" name="Shape 4"/>
          <p:cNvSpPr/>
          <p:nvPr/>
        </p:nvSpPr>
        <p:spPr>
          <a:xfrm>
            <a:off x="638175" y="1504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1009650" y="1485900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Business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186690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18% revenue per user decline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despite 12% subscriber growth - a paradoxical situation demanding immediate data-driven intervention.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2705100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38100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1181095"/>
                </a:lnTo>
                <a:cubicBezTo>
                  <a:pt x="5600700" y="1223182"/>
                  <a:pt x="5566582" y="1257300"/>
                  <a:pt x="552449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0050" y="27051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11" name="Shape 9"/>
          <p:cNvSpPr/>
          <p:nvPr/>
        </p:nvSpPr>
        <p:spPr>
          <a:xfrm>
            <a:off x="666750" y="29146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9650" y="2895600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Analytical Finding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327660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 churn probability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after 30+ days of inactivity - early warning system enables proactive retention with 300% ROI.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4114800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38100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1181095"/>
                </a:lnTo>
                <a:cubicBezTo>
                  <a:pt x="5600700" y="1223182"/>
                  <a:pt x="5566582" y="1257300"/>
                  <a:pt x="552449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0050" y="41148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16" name="Shape 14"/>
          <p:cNvSpPr/>
          <p:nvPr/>
        </p:nvSpPr>
        <p:spPr>
          <a:xfrm>
            <a:off x="681038" y="432435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9650" y="4305300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Takeaway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68630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retention and acquisition optimization can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565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reverse revenue decline within 90 days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targeted interventions.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1250" y="1295400"/>
            <a:ext cx="5619750" cy="4152900"/>
          </a:xfrm>
          <a:custGeom>
            <a:avLst/>
            <a:gdLst/>
            <a:ahLst/>
            <a:cxnLst/>
            <a:rect l="l" t="t" r="r" b="b"/>
            <a:pathLst>
              <a:path w="5619750" h="4152900">
                <a:moveTo>
                  <a:pt x="76206" y="0"/>
                </a:moveTo>
                <a:lnTo>
                  <a:pt x="5543544" y="0"/>
                </a:lnTo>
                <a:cubicBezTo>
                  <a:pt x="5585603" y="0"/>
                  <a:pt x="5619750" y="34147"/>
                  <a:pt x="5619750" y="76206"/>
                </a:cubicBezTo>
                <a:lnTo>
                  <a:pt x="5619750" y="4076694"/>
                </a:lnTo>
                <a:cubicBezTo>
                  <a:pt x="5619750" y="4118782"/>
                  <a:pt x="5585632" y="4152900"/>
                  <a:pt x="5543544" y="4152900"/>
                </a:cubicBezTo>
                <a:lnTo>
                  <a:pt x="76206" y="4152900"/>
                </a:lnTo>
                <a:cubicBezTo>
                  <a:pt x="34118" y="4152900"/>
                  <a:pt x="0" y="4118782"/>
                  <a:pt x="0" y="40766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81750" y="179070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Revenue Impact Opportunity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48400" y="2095500"/>
            <a:ext cx="5505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$120K+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72225" y="285750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Recovery Potential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19850" y="3314700"/>
            <a:ext cx="2524125" cy="762000"/>
          </a:xfrm>
          <a:custGeom>
            <a:avLst/>
            <a:gdLst/>
            <a:ahLst/>
            <a:cxnLst/>
            <a:rect l="l" t="t" r="r" b="b"/>
            <a:pathLst>
              <a:path w="2524125" h="762000">
                <a:moveTo>
                  <a:pt x="76200" y="0"/>
                </a:moveTo>
                <a:lnTo>
                  <a:pt x="2447925" y="0"/>
                </a:lnTo>
                <a:cubicBezTo>
                  <a:pt x="2489981" y="0"/>
                  <a:pt x="2524125" y="34144"/>
                  <a:pt x="2524125" y="76200"/>
                </a:cubicBezTo>
                <a:lnTo>
                  <a:pt x="2524125" y="685800"/>
                </a:lnTo>
                <a:cubicBezTo>
                  <a:pt x="2524125" y="727856"/>
                  <a:pt x="2489981" y="762000"/>
                  <a:pt x="24479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62713" y="3429000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$90K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00813" y="377190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 Campaign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58275" y="3314700"/>
            <a:ext cx="2524125" cy="762000"/>
          </a:xfrm>
          <a:custGeom>
            <a:avLst/>
            <a:gdLst/>
            <a:ahLst/>
            <a:cxnLst/>
            <a:rect l="l" t="t" r="r" b="b"/>
            <a:pathLst>
              <a:path w="2524125" h="762000">
                <a:moveTo>
                  <a:pt x="76200" y="0"/>
                </a:moveTo>
                <a:lnTo>
                  <a:pt x="2447925" y="0"/>
                </a:lnTo>
                <a:cubicBezTo>
                  <a:pt x="2489981" y="0"/>
                  <a:pt x="2524125" y="34144"/>
                  <a:pt x="2524125" y="76200"/>
                </a:cubicBezTo>
                <a:lnTo>
                  <a:pt x="2524125" y="685800"/>
                </a:lnTo>
                <a:cubicBezTo>
                  <a:pt x="2524125" y="727856"/>
                  <a:pt x="2489981" y="762000"/>
                  <a:pt x="24479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101138" y="3429000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$15K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39238" y="377190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Recovery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19850" y="4191000"/>
            <a:ext cx="2524125" cy="762000"/>
          </a:xfrm>
          <a:custGeom>
            <a:avLst/>
            <a:gdLst/>
            <a:ahLst/>
            <a:cxnLst/>
            <a:rect l="l" t="t" r="r" b="b"/>
            <a:pathLst>
              <a:path w="2524125" h="762000">
                <a:moveTo>
                  <a:pt x="76200" y="0"/>
                </a:moveTo>
                <a:lnTo>
                  <a:pt x="2447925" y="0"/>
                </a:lnTo>
                <a:cubicBezTo>
                  <a:pt x="2489981" y="0"/>
                  <a:pt x="2524125" y="34144"/>
                  <a:pt x="2524125" y="76200"/>
                </a:cubicBezTo>
                <a:lnTo>
                  <a:pt x="2524125" y="685800"/>
                </a:lnTo>
                <a:cubicBezTo>
                  <a:pt x="2524125" y="727856"/>
                  <a:pt x="2489981" y="762000"/>
                  <a:pt x="24479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62713" y="4305300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$35K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00813" y="464820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 Optimization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58275" y="4191000"/>
            <a:ext cx="2524125" cy="762000"/>
          </a:xfrm>
          <a:custGeom>
            <a:avLst/>
            <a:gdLst/>
            <a:ahLst/>
            <a:cxnLst/>
            <a:rect l="l" t="t" r="r" b="b"/>
            <a:pathLst>
              <a:path w="2524125" h="762000">
                <a:moveTo>
                  <a:pt x="76200" y="0"/>
                </a:moveTo>
                <a:lnTo>
                  <a:pt x="2447925" y="0"/>
                </a:lnTo>
                <a:cubicBezTo>
                  <a:pt x="2489981" y="0"/>
                  <a:pt x="2524125" y="34144"/>
                  <a:pt x="2524125" y="76200"/>
                </a:cubicBezTo>
                <a:lnTo>
                  <a:pt x="2524125" y="685800"/>
                </a:lnTo>
                <a:cubicBezTo>
                  <a:pt x="2524125" y="727856"/>
                  <a:pt x="2489981" y="762000"/>
                  <a:pt x="24479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101138" y="4305300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$216K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39238" y="464820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Onboarding Improvement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5619870"/>
            <a:ext cx="5619750" cy="857250"/>
          </a:xfrm>
          <a:custGeom>
            <a:avLst/>
            <a:gdLst/>
            <a:ahLst/>
            <a:cxnLst/>
            <a:rect l="l" t="t" r="r" b="b"/>
            <a:pathLst>
              <a:path w="5619750" h="8572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781049"/>
                </a:lnTo>
                <a:cubicBezTo>
                  <a:pt x="5619750" y="823134"/>
                  <a:pt x="5585634" y="857250"/>
                  <a:pt x="5543549" y="857250"/>
                </a:cubicBezTo>
                <a:lnTo>
                  <a:pt x="76201" y="857250"/>
                </a:lnTo>
                <a:cubicBezTo>
                  <a:pt x="34116" y="857250"/>
                  <a:pt x="0" y="823134"/>
                  <a:pt x="0" y="78104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91250" y="561987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37" name="Text 35"/>
          <p:cNvSpPr/>
          <p:nvPr/>
        </p:nvSpPr>
        <p:spPr>
          <a:xfrm>
            <a:off x="6343650" y="579132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Timeline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43650" y="6019920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 Days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900285" y="5943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40" name="Text 38"/>
          <p:cNvSpPr/>
          <p:nvPr/>
        </p:nvSpPr>
        <p:spPr>
          <a:xfrm>
            <a:off x="10233660" y="594360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Wins Identified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LANDSCAPE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Context &amp; Industry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6781800" cy="4171950"/>
          </a:xfrm>
          <a:custGeom>
            <a:avLst/>
            <a:gdLst/>
            <a:ahLst/>
            <a:cxnLst/>
            <a:rect l="l" t="t" r="r" b="b"/>
            <a:pathLst>
              <a:path w="6781800" h="4171950">
                <a:moveTo>
                  <a:pt x="76180" y="0"/>
                </a:moveTo>
                <a:lnTo>
                  <a:pt x="6705620" y="0"/>
                </a:lnTo>
                <a:cubicBezTo>
                  <a:pt x="6747693" y="0"/>
                  <a:pt x="6781800" y="34107"/>
                  <a:pt x="6781800" y="76180"/>
                </a:cubicBezTo>
                <a:lnTo>
                  <a:pt x="6781800" y="4095770"/>
                </a:lnTo>
                <a:cubicBezTo>
                  <a:pt x="6781800" y="4137843"/>
                  <a:pt x="6747693" y="4171950"/>
                  <a:pt x="6705620" y="4171950"/>
                </a:cubicBezTo>
                <a:lnTo>
                  <a:pt x="76180" y="4171950"/>
                </a:lnTo>
                <a:cubicBezTo>
                  <a:pt x="34107" y="4171950"/>
                  <a:pt x="0" y="4137843"/>
                  <a:pt x="0" y="4095770"/>
                </a:cubicBezTo>
                <a:lnTo>
                  <a:pt x="0" y="76180"/>
                </a:lnTo>
                <a:cubicBezTo>
                  <a:pt x="0" y="34135"/>
                  <a:pt x="34135" y="0"/>
                  <a:pt x="7618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5238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692944" y="165723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48590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SaaS/EdTech Industry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790581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Learning Platform Market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171581"/>
            <a:ext cx="6477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global e-learning market is experiencing explosive growth, projected to reach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 trillion by 2028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 20% compound annual growth rate. However, this rapid expansion brings intense competition with over 500 major platforms competing for market share.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3066931"/>
            <a:ext cx="6400800" cy="2209800"/>
          </a:xfrm>
          <a:custGeom>
            <a:avLst/>
            <a:gdLst/>
            <a:ahLst/>
            <a:cxnLst/>
            <a:rect l="l" t="t" r="r" b="b"/>
            <a:pathLst>
              <a:path w="6400800" h="2209800">
                <a:moveTo>
                  <a:pt x="76194" y="0"/>
                </a:moveTo>
                <a:lnTo>
                  <a:pt x="6324606" y="0"/>
                </a:lnTo>
                <a:cubicBezTo>
                  <a:pt x="6366687" y="0"/>
                  <a:pt x="6400800" y="34113"/>
                  <a:pt x="6400800" y="76194"/>
                </a:cubicBezTo>
                <a:lnTo>
                  <a:pt x="6400800" y="2133606"/>
                </a:lnTo>
                <a:cubicBezTo>
                  <a:pt x="6400800" y="2175687"/>
                  <a:pt x="6366687" y="2209800"/>
                  <a:pt x="6324606" y="2209800"/>
                </a:cubicBezTo>
                <a:lnTo>
                  <a:pt x="76194" y="2209800"/>
                </a:lnTo>
                <a:cubicBezTo>
                  <a:pt x="34113" y="2209800"/>
                  <a:pt x="0" y="2175687"/>
                  <a:pt x="0" y="213360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723900" y="3219331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Dynamics (2025-2028)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2475" y="356223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63877" y="5179"/>
                </a:moveTo>
                <a:cubicBezTo>
                  <a:pt x="60156" y="1459"/>
                  <a:pt x="54114" y="1459"/>
                  <a:pt x="50393" y="5179"/>
                </a:cubicBezTo>
                <a:lnTo>
                  <a:pt x="2768" y="52804"/>
                </a:lnTo>
                <a:cubicBezTo>
                  <a:pt x="-952" y="56525"/>
                  <a:pt x="-952" y="62567"/>
                  <a:pt x="2768" y="66288"/>
                </a:cubicBezTo>
                <a:cubicBezTo>
                  <a:pt x="6489" y="70009"/>
                  <a:pt x="12531" y="70009"/>
                  <a:pt x="16252" y="66288"/>
                </a:cubicBezTo>
                <a:lnTo>
                  <a:pt x="47625" y="34915"/>
                </a:lnTo>
                <a:lnTo>
                  <a:pt x="47625" y="145256"/>
                </a:lnTo>
                <a:cubicBezTo>
                  <a:pt x="47625" y="150525"/>
                  <a:pt x="51881" y="154781"/>
                  <a:pt x="57150" y="154781"/>
                </a:cubicBezTo>
                <a:cubicBezTo>
                  <a:pt x="62419" y="154781"/>
                  <a:pt x="66675" y="150525"/>
                  <a:pt x="66675" y="145256"/>
                </a:cubicBezTo>
                <a:lnTo>
                  <a:pt x="66675" y="34915"/>
                </a:lnTo>
                <a:lnTo>
                  <a:pt x="98048" y="66288"/>
                </a:lnTo>
                <a:cubicBezTo>
                  <a:pt x="101769" y="70009"/>
                  <a:pt x="107811" y="70009"/>
                  <a:pt x="111532" y="66288"/>
                </a:cubicBezTo>
                <a:cubicBezTo>
                  <a:pt x="115253" y="62567"/>
                  <a:pt x="115253" y="56525"/>
                  <a:pt x="111532" y="52804"/>
                </a:cubicBezTo>
                <a:lnTo>
                  <a:pt x="63907" y="5179"/>
                </a:ln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973693" y="3524131"/>
            <a:ext cx="5924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Rising CAC: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Customer acquisition costs increasing 40% year-over-year due to platform saturation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3900" y="4095631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4057531"/>
            <a:ext cx="555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Competition: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AI-powered platforms offering personalized learning at lower costs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2950" y="44004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1735" y="25926"/>
                </a:moveTo>
                <a:lnTo>
                  <a:pt x="76200" y="32087"/>
                </a:lnTo>
                <a:lnTo>
                  <a:pt x="80665" y="25926"/>
                </a:lnTo>
                <a:cubicBezTo>
                  <a:pt x="88106" y="15627"/>
                  <a:pt x="100072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ubicBezTo>
                  <a:pt x="52328" y="9525"/>
                  <a:pt x="64294" y="15627"/>
                  <a:pt x="71735" y="25926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4362331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 Priority: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Retaining existing customers is 5x cheaper than acquiring new ones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8188" y="47052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19" name="Text 17"/>
          <p:cNvSpPr/>
          <p:nvPr/>
        </p:nvSpPr>
        <p:spPr>
          <a:xfrm>
            <a:off x="984171" y="4667131"/>
            <a:ext cx="5915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Subscription Fatigue: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Average consumer manages 12+ subscriptions; cancellation rates rising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53300" y="1295400"/>
            <a:ext cx="4457700" cy="3200400"/>
          </a:xfrm>
          <a:custGeom>
            <a:avLst/>
            <a:gdLst/>
            <a:ahLst/>
            <a:cxnLst/>
            <a:rect l="l" t="t" r="r" b="b"/>
            <a:pathLst>
              <a:path w="4457700" h="3200400">
                <a:moveTo>
                  <a:pt x="76202" y="0"/>
                </a:moveTo>
                <a:lnTo>
                  <a:pt x="4381498" y="0"/>
                </a:lnTo>
                <a:cubicBezTo>
                  <a:pt x="4423583" y="0"/>
                  <a:pt x="4457700" y="34117"/>
                  <a:pt x="4457700" y="76202"/>
                </a:cubicBezTo>
                <a:lnTo>
                  <a:pt x="4457700" y="3124198"/>
                </a:lnTo>
                <a:cubicBezTo>
                  <a:pt x="4457700" y="3166283"/>
                  <a:pt x="4423583" y="3200400"/>
                  <a:pt x="4381498" y="3200400"/>
                </a:cubicBezTo>
                <a:lnTo>
                  <a:pt x="76202" y="3200400"/>
                </a:lnTo>
                <a:cubicBezTo>
                  <a:pt x="34117" y="3200400"/>
                  <a:pt x="0" y="3166283"/>
                  <a:pt x="0" y="3124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00925" y="1485900"/>
            <a:ext cx="4362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00938" y="2057400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Size by 2028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43800" y="2476500"/>
            <a:ext cx="4076700" cy="533400"/>
          </a:xfrm>
          <a:custGeom>
            <a:avLst/>
            <a:gdLst/>
            <a:ahLst/>
            <a:cxnLst/>
            <a:rect l="l" t="t" r="r" b="b"/>
            <a:pathLst>
              <a:path w="4076700" h="533400">
                <a:moveTo>
                  <a:pt x="76202" y="0"/>
                </a:moveTo>
                <a:lnTo>
                  <a:pt x="4000498" y="0"/>
                </a:lnTo>
                <a:cubicBezTo>
                  <a:pt x="4042583" y="0"/>
                  <a:pt x="4076700" y="34117"/>
                  <a:pt x="4076700" y="76202"/>
                </a:cubicBezTo>
                <a:lnTo>
                  <a:pt x="4076700" y="457198"/>
                </a:lnTo>
                <a:cubicBezTo>
                  <a:pt x="4076700" y="499283"/>
                  <a:pt x="4042583" y="533400"/>
                  <a:pt x="40004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658100" y="2628781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CAGR Growth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54478" y="2590800"/>
            <a:ext cx="56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43800" y="3124081"/>
            <a:ext cx="4076700" cy="533400"/>
          </a:xfrm>
          <a:custGeom>
            <a:avLst/>
            <a:gdLst/>
            <a:ahLst/>
            <a:cxnLst/>
            <a:rect l="l" t="t" r="r" b="b"/>
            <a:pathLst>
              <a:path w="4076700" h="533400">
                <a:moveTo>
                  <a:pt x="76202" y="0"/>
                </a:moveTo>
                <a:lnTo>
                  <a:pt x="4000498" y="0"/>
                </a:lnTo>
                <a:cubicBezTo>
                  <a:pt x="4042583" y="0"/>
                  <a:pt x="4076700" y="34117"/>
                  <a:pt x="4076700" y="76202"/>
                </a:cubicBezTo>
                <a:lnTo>
                  <a:pt x="4076700" y="457198"/>
                </a:lnTo>
                <a:cubicBezTo>
                  <a:pt x="4076700" y="499283"/>
                  <a:pt x="4042583" y="533400"/>
                  <a:pt x="40004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658100" y="3276362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 Platforms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0" y="3238381"/>
            <a:ext cx="64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500+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43800" y="3771662"/>
            <a:ext cx="4076700" cy="533400"/>
          </a:xfrm>
          <a:custGeom>
            <a:avLst/>
            <a:gdLst/>
            <a:ahLst/>
            <a:cxnLst/>
            <a:rect l="l" t="t" r="r" b="b"/>
            <a:pathLst>
              <a:path w="4076700" h="533400">
                <a:moveTo>
                  <a:pt x="76202" y="0"/>
                </a:moveTo>
                <a:lnTo>
                  <a:pt x="4000498" y="0"/>
                </a:lnTo>
                <a:cubicBezTo>
                  <a:pt x="4042583" y="0"/>
                  <a:pt x="4076700" y="34117"/>
                  <a:pt x="4076700" y="76202"/>
                </a:cubicBezTo>
                <a:lnTo>
                  <a:pt x="4076700" y="457198"/>
                </a:lnTo>
                <a:cubicBezTo>
                  <a:pt x="4076700" y="499283"/>
                  <a:pt x="4042583" y="533400"/>
                  <a:pt x="40004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658100" y="3923943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Subscriptions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203663" y="3885962"/>
            <a:ext cx="41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12+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72350" y="4647843"/>
            <a:ext cx="4438650" cy="2000250"/>
          </a:xfrm>
          <a:custGeom>
            <a:avLst/>
            <a:gdLst/>
            <a:ahLst/>
            <a:cxnLst/>
            <a:rect l="l" t="t" r="r" b="b"/>
            <a:pathLst>
              <a:path w="4438650" h="2000250">
                <a:moveTo>
                  <a:pt x="38100" y="0"/>
                </a:moveTo>
                <a:lnTo>
                  <a:pt x="4362440" y="0"/>
                </a:lnTo>
                <a:cubicBezTo>
                  <a:pt x="4404530" y="0"/>
                  <a:pt x="4438650" y="34120"/>
                  <a:pt x="4438650" y="76210"/>
                </a:cubicBezTo>
                <a:lnTo>
                  <a:pt x="4438650" y="1924040"/>
                </a:lnTo>
                <a:cubicBezTo>
                  <a:pt x="4438650" y="1966130"/>
                  <a:pt x="4404530" y="2000250"/>
                  <a:pt x="4362440" y="2000250"/>
                </a:cubicBezTo>
                <a:lnTo>
                  <a:pt x="38100" y="2000250"/>
                </a:lnTo>
                <a:cubicBezTo>
                  <a:pt x="17058" y="2000250"/>
                  <a:pt x="0" y="1983192"/>
                  <a:pt x="0" y="1962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72350" y="4647843"/>
            <a:ext cx="38100" cy="2000250"/>
          </a:xfrm>
          <a:custGeom>
            <a:avLst/>
            <a:gdLst/>
            <a:ahLst/>
            <a:cxnLst/>
            <a:rect l="l" t="t" r="r" b="b"/>
            <a:pathLst>
              <a:path w="38100" h="2000250">
                <a:moveTo>
                  <a:pt x="38100" y="0"/>
                </a:moveTo>
                <a:lnTo>
                  <a:pt x="38100" y="0"/>
                </a:lnTo>
                <a:lnTo>
                  <a:pt x="38100" y="2000250"/>
                </a:lnTo>
                <a:lnTo>
                  <a:pt x="38100" y="2000250"/>
                </a:lnTo>
                <a:cubicBezTo>
                  <a:pt x="17072" y="2000250"/>
                  <a:pt x="0" y="1983178"/>
                  <a:pt x="0" y="1962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34" name="Shape 32"/>
          <p:cNvSpPr/>
          <p:nvPr/>
        </p:nvSpPr>
        <p:spPr>
          <a:xfrm>
            <a:off x="7610475" y="485739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7981950" y="4838344"/>
            <a:ext cx="3000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Data-Driven Decisions Matter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81900" y="5219344"/>
            <a:ext cx="4114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Top-performing SaaS companies leverage analytics for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 of strategic decisions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In this competitive landscape, understanding customer behavior patterns, churn predictors, and LTV drivers is not optional—it's essential for survival and growth.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5672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spc="48" kern="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PROFILE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591760"/>
            <a:ext cx="11704668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9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Company &amp; Business Model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8094" y="1148711"/>
            <a:ext cx="5656531" cy="3620180"/>
          </a:xfrm>
          <a:custGeom>
            <a:avLst/>
            <a:gdLst/>
            <a:ahLst/>
            <a:cxnLst/>
            <a:rect l="l" t="t" r="r" b="b"/>
            <a:pathLst>
              <a:path w="5656531" h="3620180">
                <a:moveTo>
                  <a:pt x="69616" y="0"/>
                </a:moveTo>
                <a:lnTo>
                  <a:pt x="5586915" y="0"/>
                </a:lnTo>
                <a:cubicBezTo>
                  <a:pt x="5625337" y="0"/>
                  <a:pt x="5656531" y="31194"/>
                  <a:pt x="5656531" y="69616"/>
                </a:cubicBezTo>
                <a:lnTo>
                  <a:pt x="5656531" y="3550564"/>
                </a:lnTo>
                <a:cubicBezTo>
                  <a:pt x="5656531" y="3589012"/>
                  <a:pt x="5625363" y="3620180"/>
                  <a:pt x="5586915" y="3620180"/>
                </a:cubicBezTo>
                <a:lnTo>
                  <a:pt x="69616" y="3620180"/>
                </a:lnTo>
                <a:cubicBezTo>
                  <a:pt x="31194" y="3620180"/>
                  <a:pt x="0" y="3588986"/>
                  <a:pt x="0" y="3550564"/>
                </a:cubicBezTo>
                <a:lnTo>
                  <a:pt x="0" y="69616"/>
                </a:lnTo>
                <a:cubicBezTo>
                  <a:pt x="0" y="31168"/>
                  <a:pt x="31168" y="0"/>
                  <a:pt x="6961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214" dist="34809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2141" y="1322758"/>
            <a:ext cx="556951" cy="556951"/>
          </a:xfrm>
          <a:custGeom>
            <a:avLst/>
            <a:gdLst/>
            <a:ahLst/>
            <a:cxnLst/>
            <a:rect l="l" t="t" r="r" b="b"/>
            <a:pathLst>
              <a:path w="556951" h="556951">
                <a:moveTo>
                  <a:pt x="104428" y="0"/>
                </a:moveTo>
                <a:lnTo>
                  <a:pt x="452522" y="0"/>
                </a:lnTo>
                <a:cubicBezTo>
                  <a:pt x="510158" y="0"/>
                  <a:pt x="556951" y="46793"/>
                  <a:pt x="556951" y="104428"/>
                </a:cubicBezTo>
                <a:lnTo>
                  <a:pt x="556951" y="452522"/>
                </a:lnTo>
                <a:cubicBezTo>
                  <a:pt x="556951" y="510158"/>
                  <a:pt x="510158" y="556951"/>
                  <a:pt x="452522" y="556951"/>
                </a:cubicBezTo>
                <a:lnTo>
                  <a:pt x="104428" y="556951"/>
                </a:lnTo>
                <a:cubicBezTo>
                  <a:pt x="46793" y="556951"/>
                  <a:pt x="0" y="510158"/>
                  <a:pt x="0" y="452522"/>
                </a:cubicBezTo>
                <a:lnTo>
                  <a:pt x="0" y="104428"/>
                </a:lnTo>
                <a:cubicBezTo>
                  <a:pt x="0" y="46793"/>
                  <a:pt x="46793" y="0"/>
                  <a:pt x="104428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704891" y="1470698"/>
            <a:ext cx="195803" cy="261071"/>
          </a:xfrm>
          <a:custGeom>
            <a:avLst/>
            <a:gdLst/>
            <a:ahLst/>
            <a:cxnLst/>
            <a:rect l="l" t="t" r="r" b="b"/>
            <a:pathLst>
              <a:path w="195803" h="261071">
                <a:moveTo>
                  <a:pt x="32634" y="0"/>
                </a:moveTo>
                <a:cubicBezTo>
                  <a:pt x="14634" y="0"/>
                  <a:pt x="0" y="14634"/>
                  <a:pt x="0" y="32634"/>
                </a:cubicBezTo>
                <a:lnTo>
                  <a:pt x="0" y="228437"/>
                </a:lnTo>
                <a:cubicBezTo>
                  <a:pt x="0" y="246436"/>
                  <a:pt x="14634" y="261071"/>
                  <a:pt x="32634" y="261071"/>
                </a:cubicBezTo>
                <a:lnTo>
                  <a:pt x="163169" y="261071"/>
                </a:lnTo>
                <a:cubicBezTo>
                  <a:pt x="181169" y="261071"/>
                  <a:pt x="195803" y="246436"/>
                  <a:pt x="195803" y="228437"/>
                </a:cubicBezTo>
                <a:lnTo>
                  <a:pt x="195803" y="32634"/>
                </a:lnTo>
                <a:cubicBezTo>
                  <a:pt x="195803" y="14634"/>
                  <a:pt x="181169" y="0"/>
                  <a:pt x="163169" y="0"/>
                </a:cubicBezTo>
                <a:lnTo>
                  <a:pt x="32634" y="0"/>
                </a:lnTo>
                <a:close/>
                <a:moveTo>
                  <a:pt x="89743" y="179486"/>
                </a:moveTo>
                <a:lnTo>
                  <a:pt x="106060" y="179486"/>
                </a:lnTo>
                <a:cubicBezTo>
                  <a:pt x="115085" y="179486"/>
                  <a:pt x="122377" y="186778"/>
                  <a:pt x="122377" y="195803"/>
                </a:cubicBezTo>
                <a:lnTo>
                  <a:pt x="122377" y="236595"/>
                </a:lnTo>
                <a:lnTo>
                  <a:pt x="73426" y="236595"/>
                </a:lnTo>
                <a:lnTo>
                  <a:pt x="73426" y="195803"/>
                </a:lnTo>
                <a:cubicBezTo>
                  <a:pt x="73426" y="186778"/>
                  <a:pt x="80718" y="179486"/>
                  <a:pt x="89743" y="179486"/>
                </a:cubicBezTo>
                <a:close/>
                <a:moveTo>
                  <a:pt x="48951" y="57109"/>
                </a:moveTo>
                <a:cubicBezTo>
                  <a:pt x="48951" y="52622"/>
                  <a:pt x="52622" y="48951"/>
                  <a:pt x="57109" y="48951"/>
                </a:cubicBezTo>
                <a:lnTo>
                  <a:pt x="73426" y="48951"/>
                </a:lnTo>
                <a:cubicBezTo>
                  <a:pt x="77913" y="48951"/>
                  <a:pt x="81585" y="52622"/>
                  <a:pt x="81585" y="57109"/>
                </a:cubicBezTo>
                <a:lnTo>
                  <a:pt x="81585" y="73426"/>
                </a:lnTo>
                <a:cubicBezTo>
                  <a:pt x="81585" y="77913"/>
                  <a:pt x="77913" y="81585"/>
                  <a:pt x="73426" y="81585"/>
                </a:cubicBezTo>
                <a:lnTo>
                  <a:pt x="57109" y="81585"/>
                </a:lnTo>
                <a:cubicBezTo>
                  <a:pt x="52622" y="81585"/>
                  <a:pt x="48951" y="77913"/>
                  <a:pt x="48951" y="73426"/>
                </a:cubicBezTo>
                <a:lnTo>
                  <a:pt x="48951" y="57109"/>
                </a:lnTo>
                <a:close/>
                <a:moveTo>
                  <a:pt x="122377" y="48951"/>
                </a:moveTo>
                <a:lnTo>
                  <a:pt x="138694" y="48951"/>
                </a:lnTo>
                <a:cubicBezTo>
                  <a:pt x="143181" y="48951"/>
                  <a:pt x="146852" y="52622"/>
                  <a:pt x="146852" y="57109"/>
                </a:cubicBezTo>
                <a:lnTo>
                  <a:pt x="146852" y="73426"/>
                </a:lnTo>
                <a:cubicBezTo>
                  <a:pt x="146852" y="77913"/>
                  <a:pt x="143181" y="81585"/>
                  <a:pt x="138694" y="81585"/>
                </a:cubicBezTo>
                <a:lnTo>
                  <a:pt x="122377" y="81585"/>
                </a:lnTo>
                <a:cubicBezTo>
                  <a:pt x="117890" y="81585"/>
                  <a:pt x="114218" y="77913"/>
                  <a:pt x="114218" y="73426"/>
                </a:cubicBezTo>
                <a:lnTo>
                  <a:pt x="114218" y="57109"/>
                </a:lnTo>
                <a:cubicBezTo>
                  <a:pt x="114218" y="52622"/>
                  <a:pt x="117890" y="48951"/>
                  <a:pt x="122377" y="48951"/>
                </a:cubicBezTo>
                <a:close/>
                <a:moveTo>
                  <a:pt x="48951" y="122377"/>
                </a:moveTo>
                <a:cubicBezTo>
                  <a:pt x="48951" y="117890"/>
                  <a:pt x="52622" y="114218"/>
                  <a:pt x="57109" y="114218"/>
                </a:cubicBezTo>
                <a:lnTo>
                  <a:pt x="73426" y="114218"/>
                </a:lnTo>
                <a:cubicBezTo>
                  <a:pt x="77913" y="114218"/>
                  <a:pt x="81585" y="117890"/>
                  <a:pt x="81585" y="122377"/>
                </a:cubicBezTo>
                <a:lnTo>
                  <a:pt x="81585" y="138694"/>
                </a:lnTo>
                <a:cubicBezTo>
                  <a:pt x="81585" y="143181"/>
                  <a:pt x="77913" y="146852"/>
                  <a:pt x="73426" y="146852"/>
                </a:cubicBezTo>
                <a:lnTo>
                  <a:pt x="57109" y="146852"/>
                </a:lnTo>
                <a:cubicBezTo>
                  <a:pt x="52622" y="146852"/>
                  <a:pt x="48951" y="143181"/>
                  <a:pt x="48951" y="138694"/>
                </a:cubicBezTo>
                <a:lnTo>
                  <a:pt x="48951" y="122377"/>
                </a:lnTo>
                <a:close/>
                <a:moveTo>
                  <a:pt x="122377" y="114218"/>
                </a:moveTo>
                <a:lnTo>
                  <a:pt x="138694" y="114218"/>
                </a:lnTo>
                <a:cubicBezTo>
                  <a:pt x="143181" y="114218"/>
                  <a:pt x="146852" y="117890"/>
                  <a:pt x="146852" y="122377"/>
                </a:cubicBezTo>
                <a:lnTo>
                  <a:pt x="146852" y="138694"/>
                </a:lnTo>
                <a:cubicBezTo>
                  <a:pt x="146852" y="143181"/>
                  <a:pt x="143181" y="146852"/>
                  <a:pt x="138694" y="146852"/>
                </a:cubicBezTo>
                <a:lnTo>
                  <a:pt x="122377" y="146852"/>
                </a:lnTo>
                <a:cubicBezTo>
                  <a:pt x="117890" y="146852"/>
                  <a:pt x="114218" y="143181"/>
                  <a:pt x="114218" y="138694"/>
                </a:cubicBezTo>
                <a:lnTo>
                  <a:pt x="114218" y="122377"/>
                </a:lnTo>
                <a:cubicBezTo>
                  <a:pt x="114218" y="117890"/>
                  <a:pt x="117890" y="114218"/>
                  <a:pt x="122377" y="11421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18330" y="1340163"/>
            <a:ext cx="1888411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6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SkillStream Pro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8330" y="1653448"/>
            <a:ext cx="1827495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B2C Digital Learning Platform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2141" y="2018946"/>
            <a:ext cx="2602004" cy="661379"/>
          </a:xfrm>
          <a:custGeom>
            <a:avLst/>
            <a:gdLst/>
            <a:ahLst/>
            <a:cxnLst/>
            <a:rect l="l" t="t" r="r" b="b"/>
            <a:pathLst>
              <a:path w="2602004" h="661379">
                <a:moveTo>
                  <a:pt x="69617" y="0"/>
                </a:moveTo>
                <a:lnTo>
                  <a:pt x="2532388" y="0"/>
                </a:lnTo>
                <a:cubicBezTo>
                  <a:pt x="2570836" y="0"/>
                  <a:pt x="2602004" y="31168"/>
                  <a:pt x="2602004" y="69617"/>
                </a:cubicBezTo>
                <a:lnTo>
                  <a:pt x="2602004" y="591762"/>
                </a:lnTo>
                <a:cubicBezTo>
                  <a:pt x="2602004" y="630211"/>
                  <a:pt x="2570836" y="661379"/>
                  <a:pt x="2532388" y="661379"/>
                </a:cubicBezTo>
                <a:lnTo>
                  <a:pt x="69617" y="661379"/>
                </a:lnTo>
                <a:cubicBezTo>
                  <a:pt x="31168" y="661379"/>
                  <a:pt x="0" y="630211"/>
                  <a:pt x="0" y="591762"/>
                </a:cubicBezTo>
                <a:lnTo>
                  <a:pt x="0" y="69617"/>
                </a:lnTo>
                <a:cubicBezTo>
                  <a:pt x="0" y="31168"/>
                  <a:pt x="31168" y="0"/>
                  <a:pt x="6961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26570" y="2123375"/>
            <a:ext cx="245406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570" y="2332231"/>
            <a:ext cx="2480171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30423" y="2018946"/>
            <a:ext cx="2602004" cy="661379"/>
          </a:xfrm>
          <a:custGeom>
            <a:avLst/>
            <a:gdLst/>
            <a:ahLst/>
            <a:cxnLst/>
            <a:rect l="l" t="t" r="r" b="b"/>
            <a:pathLst>
              <a:path w="2602004" h="661379">
                <a:moveTo>
                  <a:pt x="69617" y="0"/>
                </a:moveTo>
                <a:lnTo>
                  <a:pt x="2532388" y="0"/>
                </a:lnTo>
                <a:cubicBezTo>
                  <a:pt x="2570836" y="0"/>
                  <a:pt x="2602004" y="31168"/>
                  <a:pt x="2602004" y="69617"/>
                </a:cubicBezTo>
                <a:lnTo>
                  <a:pt x="2602004" y="591762"/>
                </a:lnTo>
                <a:cubicBezTo>
                  <a:pt x="2602004" y="630211"/>
                  <a:pt x="2570836" y="661379"/>
                  <a:pt x="2532388" y="661379"/>
                </a:cubicBezTo>
                <a:lnTo>
                  <a:pt x="69617" y="661379"/>
                </a:lnTo>
                <a:cubicBezTo>
                  <a:pt x="31168" y="661379"/>
                  <a:pt x="0" y="630211"/>
                  <a:pt x="0" y="591762"/>
                </a:cubicBezTo>
                <a:lnTo>
                  <a:pt x="0" y="69617"/>
                </a:lnTo>
                <a:cubicBezTo>
                  <a:pt x="0" y="31168"/>
                  <a:pt x="31168" y="0"/>
                  <a:pt x="6961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4851" y="2123375"/>
            <a:ext cx="245406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Headquarters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4851" y="2332231"/>
            <a:ext cx="2480171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United States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2141" y="2784754"/>
            <a:ext cx="2602004" cy="661379"/>
          </a:xfrm>
          <a:custGeom>
            <a:avLst/>
            <a:gdLst/>
            <a:ahLst/>
            <a:cxnLst/>
            <a:rect l="l" t="t" r="r" b="b"/>
            <a:pathLst>
              <a:path w="2602004" h="661379">
                <a:moveTo>
                  <a:pt x="69617" y="0"/>
                </a:moveTo>
                <a:lnTo>
                  <a:pt x="2532388" y="0"/>
                </a:lnTo>
                <a:cubicBezTo>
                  <a:pt x="2570836" y="0"/>
                  <a:pt x="2602004" y="31168"/>
                  <a:pt x="2602004" y="69617"/>
                </a:cubicBezTo>
                <a:lnTo>
                  <a:pt x="2602004" y="591762"/>
                </a:lnTo>
                <a:cubicBezTo>
                  <a:pt x="2602004" y="630211"/>
                  <a:pt x="2570836" y="661379"/>
                  <a:pt x="2532388" y="661379"/>
                </a:cubicBezTo>
                <a:lnTo>
                  <a:pt x="69617" y="661379"/>
                </a:lnTo>
                <a:cubicBezTo>
                  <a:pt x="31168" y="661379"/>
                  <a:pt x="0" y="630211"/>
                  <a:pt x="0" y="591762"/>
                </a:cubicBezTo>
                <a:lnTo>
                  <a:pt x="0" y="69617"/>
                </a:lnTo>
                <a:cubicBezTo>
                  <a:pt x="0" y="31168"/>
                  <a:pt x="31168" y="0"/>
                  <a:pt x="6961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26570" y="2889182"/>
            <a:ext cx="245406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Subscribers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570" y="3098039"/>
            <a:ext cx="2480171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~50,000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30423" y="2784754"/>
            <a:ext cx="2602004" cy="661379"/>
          </a:xfrm>
          <a:custGeom>
            <a:avLst/>
            <a:gdLst/>
            <a:ahLst/>
            <a:cxnLst/>
            <a:rect l="l" t="t" r="r" b="b"/>
            <a:pathLst>
              <a:path w="2602004" h="661379">
                <a:moveTo>
                  <a:pt x="69617" y="0"/>
                </a:moveTo>
                <a:lnTo>
                  <a:pt x="2532388" y="0"/>
                </a:lnTo>
                <a:cubicBezTo>
                  <a:pt x="2570836" y="0"/>
                  <a:pt x="2602004" y="31168"/>
                  <a:pt x="2602004" y="69617"/>
                </a:cubicBezTo>
                <a:lnTo>
                  <a:pt x="2602004" y="591762"/>
                </a:lnTo>
                <a:cubicBezTo>
                  <a:pt x="2602004" y="630211"/>
                  <a:pt x="2570836" y="661379"/>
                  <a:pt x="2532388" y="661379"/>
                </a:cubicBezTo>
                <a:lnTo>
                  <a:pt x="69617" y="661379"/>
                </a:lnTo>
                <a:cubicBezTo>
                  <a:pt x="31168" y="661379"/>
                  <a:pt x="0" y="630211"/>
                  <a:pt x="0" y="591762"/>
                </a:cubicBezTo>
                <a:lnTo>
                  <a:pt x="0" y="69617"/>
                </a:lnTo>
                <a:cubicBezTo>
                  <a:pt x="0" y="31168"/>
                  <a:pt x="31168" y="0"/>
                  <a:pt x="6961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3334851" y="2889182"/>
            <a:ext cx="245406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Library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34851" y="3098039"/>
            <a:ext cx="2480171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200+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2141" y="3585370"/>
            <a:ext cx="5308437" cy="1009473"/>
          </a:xfrm>
          <a:custGeom>
            <a:avLst/>
            <a:gdLst/>
            <a:ahLst/>
            <a:cxnLst/>
            <a:rect l="l" t="t" r="r" b="b"/>
            <a:pathLst>
              <a:path w="5308437" h="1009473">
                <a:moveTo>
                  <a:pt x="69623" y="0"/>
                </a:moveTo>
                <a:lnTo>
                  <a:pt x="5238813" y="0"/>
                </a:lnTo>
                <a:cubicBezTo>
                  <a:pt x="5277265" y="0"/>
                  <a:pt x="5308437" y="31171"/>
                  <a:pt x="5308437" y="69623"/>
                </a:cubicBezTo>
                <a:lnTo>
                  <a:pt x="5308437" y="939850"/>
                </a:lnTo>
                <a:cubicBezTo>
                  <a:pt x="5308437" y="978302"/>
                  <a:pt x="5277265" y="1009473"/>
                  <a:pt x="5238813" y="1009473"/>
                </a:cubicBezTo>
                <a:lnTo>
                  <a:pt x="69623" y="1009473"/>
                </a:lnTo>
                <a:cubicBezTo>
                  <a:pt x="31171" y="1009473"/>
                  <a:pt x="0" y="978302"/>
                  <a:pt x="0" y="939850"/>
                </a:cubicBezTo>
                <a:lnTo>
                  <a:pt x="0" y="69623"/>
                </a:lnTo>
                <a:cubicBezTo>
                  <a:pt x="0" y="31197"/>
                  <a:pt x="31197" y="0"/>
                  <a:pt x="69623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661379" y="3724608"/>
            <a:ext cx="509958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1379" y="4003084"/>
            <a:ext cx="5099580" cy="45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Career-focused professionals aged 25-45 seeking technical skills and career advancement opportunities through professional certification programs.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499" y="4908128"/>
            <a:ext cx="5639126" cy="1392377"/>
          </a:xfrm>
          <a:custGeom>
            <a:avLst/>
            <a:gdLst/>
            <a:ahLst/>
            <a:cxnLst/>
            <a:rect l="l" t="t" r="r" b="b"/>
            <a:pathLst>
              <a:path w="5639126" h="1392377">
                <a:moveTo>
                  <a:pt x="34809" y="0"/>
                </a:moveTo>
                <a:lnTo>
                  <a:pt x="5569507" y="0"/>
                </a:lnTo>
                <a:cubicBezTo>
                  <a:pt x="5607957" y="0"/>
                  <a:pt x="5639126" y="31169"/>
                  <a:pt x="5639126" y="69619"/>
                </a:cubicBezTo>
                <a:lnTo>
                  <a:pt x="5639126" y="1322758"/>
                </a:lnTo>
                <a:cubicBezTo>
                  <a:pt x="5639126" y="1361207"/>
                  <a:pt x="5607957" y="1392377"/>
                  <a:pt x="5569507" y="1392377"/>
                </a:cubicBezTo>
                <a:lnTo>
                  <a:pt x="34809" y="1392377"/>
                </a:lnTo>
                <a:cubicBezTo>
                  <a:pt x="15585" y="1392377"/>
                  <a:pt x="0" y="1376792"/>
                  <a:pt x="0" y="1357567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214" dist="34809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499" y="4908128"/>
            <a:ext cx="34809" cy="1392377"/>
          </a:xfrm>
          <a:custGeom>
            <a:avLst/>
            <a:gdLst/>
            <a:ahLst/>
            <a:cxnLst/>
            <a:rect l="l" t="t" r="r" b="b"/>
            <a:pathLst>
              <a:path w="34809" h="1392377">
                <a:moveTo>
                  <a:pt x="34809" y="0"/>
                </a:moveTo>
                <a:lnTo>
                  <a:pt x="34809" y="0"/>
                </a:lnTo>
                <a:lnTo>
                  <a:pt x="34809" y="1392377"/>
                </a:lnTo>
                <a:lnTo>
                  <a:pt x="34809" y="1392377"/>
                </a:lnTo>
                <a:cubicBezTo>
                  <a:pt x="15585" y="1392377"/>
                  <a:pt x="0" y="1376792"/>
                  <a:pt x="0" y="1357567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522141" y="5047366"/>
            <a:ext cx="5421567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Advantages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9546" y="5430270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69619" y="139238"/>
                </a:moveTo>
                <a:cubicBezTo>
                  <a:pt x="108043" y="139238"/>
                  <a:pt x="139238" y="108043"/>
                  <a:pt x="139238" y="69619"/>
                </a:cubicBezTo>
                <a:cubicBezTo>
                  <a:pt x="139238" y="31195"/>
                  <a:pt x="108043" y="0"/>
                  <a:pt x="69619" y="0"/>
                </a:cubicBezTo>
                <a:cubicBezTo>
                  <a:pt x="31195" y="0"/>
                  <a:pt x="0" y="31195"/>
                  <a:pt x="0" y="69619"/>
                </a:cubicBezTo>
                <a:cubicBezTo>
                  <a:pt x="0" y="108043"/>
                  <a:pt x="31195" y="139238"/>
                  <a:pt x="69619" y="139238"/>
                </a:cubicBezTo>
                <a:close/>
                <a:moveTo>
                  <a:pt x="92571" y="57843"/>
                </a:moveTo>
                <a:lnTo>
                  <a:pt x="70815" y="92653"/>
                </a:lnTo>
                <a:cubicBezTo>
                  <a:pt x="69673" y="94475"/>
                  <a:pt x="67715" y="95617"/>
                  <a:pt x="65567" y="95726"/>
                </a:cubicBezTo>
                <a:cubicBezTo>
                  <a:pt x="63418" y="95835"/>
                  <a:pt x="61352" y="94856"/>
                  <a:pt x="60073" y="93115"/>
                </a:cubicBezTo>
                <a:lnTo>
                  <a:pt x="47020" y="75710"/>
                </a:lnTo>
                <a:cubicBezTo>
                  <a:pt x="44844" y="72828"/>
                  <a:pt x="45443" y="68749"/>
                  <a:pt x="48325" y="66573"/>
                </a:cubicBezTo>
                <a:cubicBezTo>
                  <a:pt x="51208" y="64397"/>
                  <a:pt x="55287" y="64996"/>
                  <a:pt x="57463" y="67878"/>
                </a:cubicBezTo>
                <a:lnTo>
                  <a:pt x="64805" y="77669"/>
                </a:lnTo>
                <a:lnTo>
                  <a:pt x="81503" y="50936"/>
                </a:lnTo>
                <a:cubicBezTo>
                  <a:pt x="83407" y="47890"/>
                  <a:pt x="87431" y="46938"/>
                  <a:pt x="90504" y="48869"/>
                </a:cubicBezTo>
                <a:cubicBezTo>
                  <a:pt x="93578" y="50800"/>
                  <a:pt x="94502" y="54798"/>
                  <a:pt x="92571" y="57871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765807" y="5395460"/>
            <a:ext cx="147940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Expert-curated content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47828" y="5430270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69619" y="139238"/>
                </a:moveTo>
                <a:cubicBezTo>
                  <a:pt x="108043" y="139238"/>
                  <a:pt x="139238" y="108043"/>
                  <a:pt x="139238" y="69619"/>
                </a:cubicBezTo>
                <a:cubicBezTo>
                  <a:pt x="139238" y="31195"/>
                  <a:pt x="108043" y="0"/>
                  <a:pt x="69619" y="0"/>
                </a:cubicBezTo>
                <a:cubicBezTo>
                  <a:pt x="31195" y="0"/>
                  <a:pt x="0" y="31195"/>
                  <a:pt x="0" y="69619"/>
                </a:cubicBezTo>
                <a:cubicBezTo>
                  <a:pt x="0" y="108043"/>
                  <a:pt x="31195" y="139238"/>
                  <a:pt x="69619" y="139238"/>
                </a:cubicBezTo>
                <a:close/>
                <a:moveTo>
                  <a:pt x="92571" y="57843"/>
                </a:moveTo>
                <a:lnTo>
                  <a:pt x="70815" y="92653"/>
                </a:lnTo>
                <a:cubicBezTo>
                  <a:pt x="69673" y="94475"/>
                  <a:pt x="67715" y="95617"/>
                  <a:pt x="65567" y="95726"/>
                </a:cubicBezTo>
                <a:cubicBezTo>
                  <a:pt x="63418" y="95835"/>
                  <a:pt x="61352" y="94856"/>
                  <a:pt x="60073" y="93115"/>
                </a:cubicBezTo>
                <a:lnTo>
                  <a:pt x="47020" y="75710"/>
                </a:lnTo>
                <a:cubicBezTo>
                  <a:pt x="44844" y="72828"/>
                  <a:pt x="45443" y="68749"/>
                  <a:pt x="48325" y="66573"/>
                </a:cubicBezTo>
                <a:cubicBezTo>
                  <a:pt x="51208" y="64397"/>
                  <a:pt x="55287" y="64996"/>
                  <a:pt x="57463" y="67878"/>
                </a:cubicBezTo>
                <a:lnTo>
                  <a:pt x="64805" y="77669"/>
                </a:lnTo>
                <a:lnTo>
                  <a:pt x="81503" y="50936"/>
                </a:lnTo>
                <a:cubicBezTo>
                  <a:pt x="83407" y="47890"/>
                  <a:pt x="87431" y="46938"/>
                  <a:pt x="90504" y="48869"/>
                </a:cubicBezTo>
                <a:cubicBezTo>
                  <a:pt x="93578" y="50800"/>
                  <a:pt x="94502" y="54798"/>
                  <a:pt x="92571" y="57871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089" y="5395460"/>
            <a:ext cx="1348865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market alignment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9546" y="5708745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69619" y="139238"/>
                </a:moveTo>
                <a:cubicBezTo>
                  <a:pt x="108043" y="139238"/>
                  <a:pt x="139238" y="108043"/>
                  <a:pt x="139238" y="69619"/>
                </a:cubicBezTo>
                <a:cubicBezTo>
                  <a:pt x="139238" y="31195"/>
                  <a:pt x="108043" y="0"/>
                  <a:pt x="69619" y="0"/>
                </a:cubicBezTo>
                <a:cubicBezTo>
                  <a:pt x="31195" y="0"/>
                  <a:pt x="0" y="31195"/>
                  <a:pt x="0" y="69619"/>
                </a:cubicBezTo>
                <a:cubicBezTo>
                  <a:pt x="0" y="108043"/>
                  <a:pt x="31195" y="139238"/>
                  <a:pt x="69619" y="139238"/>
                </a:cubicBezTo>
                <a:close/>
                <a:moveTo>
                  <a:pt x="92571" y="57843"/>
                </a:moveTo>
                <a:lnTo>
                  <a:pt x="70815" y="92653"/>
                </a:lnTo>
                <a:cubicBezTo>
                  <a:pt x="69673" y="94475"/>
                  <a:pt x="67715" y="95617"/>
                  <a:pt x="65567" y="95726"/>
                </a:cubicBezTo>
                <a:cubicBezTo>
                  <a:pt x="63418" y="95835"/>
                  <a:pt x="61352" y="94856"/>
                  <a:pt x="60073" y="93115"/>
                </a:cubicBezTo>
                <a:lnTo>
                  <a:pt x="47020" y="75710"/>
                </a:lnTo>
                <a:cubicBezTo>
                  <a:pt x="44844" y="72828"/>
                  <a:pt x="45443" y="68749"/>
                  <a:pt x="48325" y="66573"/>
                </a:cubicBezTo>
                <a:cubicBezTo>
                  <a:pt x="51208" y="64397"/>
                  <a:pt x="55287" y="64996"/>
                  <a:pt x="57463" y="67878"/>
                </a:cubicBezTo>
                <a:lnTo>
                  <a:pt x="64805" y="77669"/>
                </a:lnTo>
                <a:lnTo>
                  <a:pt x="81503" y="50936"/>
                </a:lnTo>
                <a:cubicBezTo>
                  <a:pt x="83407" y="47890"/>
                  <a:pt x="87431" y="46938"/>
                  <a:pt x="90504" y="48869"/>
                </a:cubicBezTo>
                <a:cubicBezTo>
                  <a:pt x="93578" y="50800"/>
                  <a:pt x="94502" y="54798"/>
                  <a:pt x="92571" y="57871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765807" y="5673936"/>
            <a:ext cx="132275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Mobile-first platform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47828" y="5708745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69619" y="139238"/>
                </a:moveTo>
                <a:cubicBezTo>
                  <a:pt x="108043" y="139238"/>
                  <a:pt x="139238" y="108043"/>
                  <a:pt x="139238" y="69619"/>
                </a:cubicBezTo>
                <a:cubicBezTo>
                  <a:pt x="139238" y="31195"/>
                  <a:pt x="108043" y="0"/>
                  <a:pt x="69619" y="0"/>
                </a:cubicBezTo>
                <a:cubicBezTo>
                  <a:pt x="31195" y="0"/>
                  <a:pt x="0" y="31195"/>
                  <a:pt x="0" y="69619"/>
                </a:cubicBezTo>
                <a:cubicBezTo>
                  <a:pt x="0" y="108043"/>
                  <a:pt x="31195" y="139238"/>
                  <a:pt x="69619" y="139238"/>
                </a:cubicBezTo>
                <a:close/>
                <a:moveTo>
                  <a:pt x="92571" y="57843"/>
                </a:moveTo>
                <a:lnTo>
                  <a:pt x="70815" y="92653"/>
                </a:lnTo>
                <a:cubicBezTo>
                  <a:pt x="69673" y="94475"/>
                  <a:pt x="67715" y="95617"/>
                  <a:pt x="65567" y="95726"/>
                </a:cubicBezTo>
                <a:cubicBezTo>
                  <a:pt x="63418" y="95835"/>
                  <a:pt x="61352" y="94856"/>
                  <a:pt x="60073" y="93115"/>
                </a:cubicBezTo>
                <a:lnTo>
                  <a:pt x="47020" y="75710"/>
                </a:lnTo>
                <a:cubicBezTo>
                  <a:pt x="44844" y="72828"/>
                  <a:pt x="45443" y="68749"/>
                  <a:pt x="48325" y="66573"/>
                </a:cubicBezTo>
                <a:cubicBezTo>
                  <a:pt x="51208" y="64397"/>
                  <a:pt x="55287" y="64996"/>
                  <a:pt x="57463" y="67878"/>
                </a:cubicBezTo>
                <a:lnTo>
                  <a:pt x="64805" y="77669"/>
                </a:lnTo>
                <a:lnTo>
                  <a:pt x="81503" y="50936"/>
                </a:lnTo>
                <a:cubicBezTo>
                  <a:pt x="83407" y="47890"/>
                  <a:pt x="87431" y="46938"/>
                  <a:pt x="90504" y="48869"/>
                </a:cubicBezTo>
                <a:cubicBezTo>
                  <a:pt x="93578" y="50800"/>
                  <a:pt x="94502" y="54798"/>
                  <a:pt x="92571" y="57871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089" y="5673936"/>
            <a:ext cx="136627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certifications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9546" y="5987221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69619" y="139238"/>
                </a:moveTo>
                <a:cubicBezTo>
                  <a:pt x="108043" y="139238"/>
                  <a:pt x="139238" y="108043"/>
                  <a:pt x="139238" y="69619"/>
                </a:cubicBezTo>
                <a:cubicBezTo>
                  <a:pt x="139238" y="31195"/>
                  <a:pt x="108043" y="0"/>
                  <a:pt x="69619" y="0"/>
                </a:cubicBezTo>
                <a:cubicBezTo>
                  <a:pt x="31195" y="0"/>
                  <a:pt x="0" y="31195"/>
                  <a:pt x="0" y="69619"/>
                </a:cubicBezTo>
                <a:cubicBezTo>
                  <a:pt x="0" y="108043"/>
                  <a:pt x="31195" y="139238"/>
                  <a:pt x="69619" y="139238"/>
                </a:cubicBezTo>
                <a:close/>
                <a:moveTo>
                  <a:pt x="92571" y="57843"/>
                </a:moveTo>
                <a:lnTo>
                  <a:pt x="70815" y="92653"/>
                </a:lnTo>
                <a:cubicBezTo>
                  <a:pt x="69673" y="94475"/>
                  <a:pt x="67715" y="95617"/>
                  <a:pt x="65567" y="95726"/>
                </a:cubicBezTo>
                <a:cubicBezTo>
                  <a:pt x="63418" y="95835"/>
                  <a:pt x="61352" y="94856"/>
                  <a:pt x="60073" y="93115"/>
                </a:cubicBezTo>
                <a:lnTo>
                  <a:pt x="47020" y="75710"/>
                </a:lnTo>
                <a:cubicBezTo>
                  <a:pt x="44844" y="72828"/>
                  <a:pt x="45443" y="68749"/>
                  <a:pt x="48325" y="66573"/>
                </a:cubicBezTo>
                <a:cubicBezTo>
                  <a:pt x="51208" y="64397"/>
                  <a:pt x="55287" y="64996"/>
                  <a:pt x="57463" y="67878"/>
                </a:cubicBezTo>
                <a:lnTo>
                  <a:pt x="64805" y="77669"/>
                </a:lnTo>
                <a:lnTo>
                  <a:pt x="81503" y="50936"/>
                </a:lnTo>
                <a:cubicBezTo>
                  <a:pt x="83407" y="47890"/>
                  <a:pt x="87431" y="46938"/>
                  <a:pt x="90504" y="48869"/>
                </a:cubicBezTo>
                <a:cubicBezTo>
                  <a:pt x="93578" y="50800"/>
                  <a:pt x="94502" y="54798"/>
                  <a:pt x="92571" y="57871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765807" y="5952411"/>
            <a:ext cx="109649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1-on-1 mentoring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82480" y="1148711"/>
            <a:ext cx="5656531" cy="4821105"/>
          </a:xfrm>
          <a:custGeom>
            <a:avLst/>
            <a:gdLst/>
            <a:ahLst/>
            <a:cxnLst/>
            <a:rect l="l" t="t" r="r" b="b"/>
            <a:pathLst>
              <a:path w="5656531" h="4821105">
                <a:moveTo>
                  <a:pt x="69617" y="0"/>
                </a:moveTo>
                <a:lnTo>
                  <a:pt x="5586914" y="0"/>
                </a:lnTo>
                <a:cubicBezTo>
                  <a:pt x="5625363" y="0"/>
                  <a:pt x="5656531" y="31168"/>
                  <a:pt x="5656531" y="69617"/>
                </a:cubicBezTo>
                <a:lnTo>
                  <a:pt x="5656531" y="4751488"/>
                </a:lnTo>
                <a:cubicBezTo>
                  <a:pt x="5656531" y="4789936"/>
                  <a:pt x="5625363" y="4821105"/>
                  <a:pt x="5586914" y="4821105"/>
                </a:cubicBezTo>
                <a:lnTo>
                  <a:pt x="69617" y="4821105"/>
                </a:lnTo>
                <a:cubicBezTo>
                  <a:pt x="31168" y="4821105"/>
                  <a:pt x="0" y="4789936"/>
                  <a:pt x="0" y="4751488"/>
                </a:cubicBezTo>
                <a:lnTo>
                  <a:pt x="0" y="69617"/>
                </a:lnTo>
                <a:cubicBezTo>
                  <a:pt x="0" y="31168"/>
                  <a:pt x="31168" y="0"/>
                  <a:pt x="696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214" dist="34809" dir="5400000">
              <a:srgbClr val="000000">
                <a:alpha val="10196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56527" y="1322758"/>
            <a:ext cx="539546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Subscription Pricing Tiers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73931" y="1705662"/>
            <a:ext cx="5291032" cy="870236"/>
          </a:xfrm>
          <a:custGeom>
            <a:avLst/>
            <a:gdLst/>
            <a:ahLst/>
            <a:cxnLst/>
            <a:rect l="l" t="t" r="r" b="b"/>
            <a:pathLst>
              <a:path w="5291032" h="870236">
                <a:moveTo>
                  <a:pt x="34809" y="0"/>
                </a:moveTo>
                <a:lnTo>
                  <a:pt x="5221413" y="0"/>
                </a:lnTo>
                <a:cubicBezTo>
                  <a:pt x="5259863" y="0"/>
                  <a:pt x="5291032" y="31169"/>
                  <a:pt x="5291032" y="69619"/>
                </a:cubicBezTo>
                <a:lnTo>
                  <a:pt x="5291032" y="800617"/>
                </a:lnTo>
                <a:cubicBezTo>
                  <a:pt x="5291032" y="839066"/>
                  <a:pt x="5259863" y="870236"/>
                  <a:pt x="5221413" y="870236"/>
                </a:cubicBezTo>
                <a:lnTo>
                  <a:pt x="34809" y="870236"/>
                </a:lnTo>
                <a:cubicBezTo>
                  <a:pt x="15585" y="870236"/>
                  <a:pt x="0" y="854651"/>
                  <a:pt x="0" y="835426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0" name="Shape 38"/>
          <p:cNvSpPr/>
          <p:nvPr/>
        </p:nvSpPr>
        <p:spPr>
          <a:xfrm>
            <a:off x="6373931" y="1705662"/>
            <a:ext cx="34809" cy="870236"/>
          </a:xfrm>
          <a:custGeom>
            <a:avLst/>
            <a:gdLst/>
            <a:ahLst/>
            <a:cxnLst/>
            <a:rect l="l" t="t" r="r" b="b"/>
            <a:pathLst>
              <a:path w="34809" h="870236">
                <a:moveTo>
                  <a:pt x="34809" y="0"/>
                </a:moveTo>
                <a:lnTo>
                  <a:pt x="34809" y="0"/>
                </a:lnTo>
                <a:lnTo>
                  <a:pt x="34809" y="870236"/>
                </a:lnTo>
                <a:lnTo>
                  <a:pt x="34809" y="870236"/>
                </a:lnTo>
                <a:cubicBezTo>
                  <a:pt x="15585" y="870236"/>
                  <a:pt x="0" y="854651"/>
                  <a:pt x="0" y="835426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5A6A7A"/>
          </a:solidFill>
          <a:ln/>
        </p:spPr>
      </p:sp>
      <p:sp>
        <p:nvSpPr>
          <p:cNvPr id="41" name="Text 39"/>
          <p:cNvSpPr/>
          <p:nvPr/>
        </p:nvSpPr>
        <p:spPr>
          <a:xfrm>
            <a:off x="6495764" y="1897113"/>
            <a:ext cx="42641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47673" y="1810090"/>
            <a:ext cx="617867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7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$15</a:t>
            </a:r>
            <a:pPr algn="r">
              <a:lnSpc>
                <a:spcPct val="120000"/>
              </a:lnSpc>
            </a:pPr>
            <a:r>
              <a:rPr lang="en-US" sz="1096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/mo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973780" y="2053756"/>
            <a:ext cx="59176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$150/year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95764" y="2297422"/>
            <a:ext cx="512568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courses, Mobile app, Email support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73931" y="2680325"/>
            <a:ext cx="5291032" cy="870236"/>
          </a:xfrm>
          <a:custGeom>
            <a:avLst/>
            <a:gdLst/>
            <a:ahLst/>
            <a:cxnLst/>
            <a:rect l="l" t="t" r="r" b="b"/>
            <a:pathLst>
              <a:path w="5291032" h="870236">
                <a:moveTo>
                  <a:pt x="34809" y="0"/>
                </a:moveTo>
                <a:lnTo>
                  <a:pt x="5221413" y="0"/>
                </a:lnTo>
                <a:cubicBezTo>
                  <a:pt x="5259863" y="0"/>
                  <a:pt x="5291032" y="31169"/>
                  <a:pt x="5291032" y="69619"/>
                </a:cubicBezTo>
                <a:lnTo>
                  <a:pt x="5291032" y="800617"/>
                </a:lnTo>
                <a:cubicBezTo>
                  <a:pt x="5291032" y="839066"/>
                  <a:pt x="5259863" y="870236"/>
                  <a:pt x="5221413" y="870236"/>
                </a:cubicBezTo>
                <a:lnTo>
                  <a:pt x="34809" y="870236"/>
                </a:lnTo>
                <a:cubicBezTo>
                  <a:pt x="15585" y="870236"/>
                  <a:pt x="0" y="854651"/>
                  <a:pt x="0" y="835426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6" name="Shape 44"/>
          <p:cNvSpPr/>
          <p:nvPr/>
        </p:nvSpPr>
        <p:spPr>
          <a:xfrm>
            <a:off x="6373931" y="2680325"/>
            <a:ext cx="34809" cy="870236"/>
          </a:xfrm>
          <a:custGeom>
            <a:avLst/>
            <a:gdLst/>
            <a:ahLst/>
            <a:cxnLst/>
            <a:rect l="l" t="t" r="r" b="b"/>
            <a:pathLst>
              <a:path w="34809" h="870236">
                <a:moveTo>
                  <a:pt x="34809" y="0"/>
                </a:moveTo>
                <a:lnTo>
                  <a:pt x="34809" y="0"/>
                </a:lnTo>
                <a:lnTo>
                  <a:pt x="34809" y="870236"/>
                </a:lnTo>
                <a:lnTo>
                  <a:pt x="34809" y="870236"/>
                </a:lnTo>
                <a:cubicBezTo>
                  <a:pt x="15585" y="870236"/>
                  <a:pt x="0" y="854651"/>
                  <a:pt x="0" y="835426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47" name="Text 45"/>
          <p:cNvSpPr/>
          <p:nvPr/>
        </p:nvSpPr>
        <p:spPr>
          <a:xfrm>
            <a:off x="6495764" y="2871777"/>
            <a:ext cx="30458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921130" y="2784754"/>
            <a:ext cx="64397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7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$35</a:t>
            </a:r>
            <a:pPr algn="r">
              <a:lnSpc>
                <a:spcPct val="120000"/>
              </a:lnSpc>
            </a:pPr>
            <a:r>
              <a:rPr lang="en-US" sz="1096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/mo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947237" y="3028420"/>
            <a:ext cx="61786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$350/year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95764" y="3272086"/>
            <a:ext cx="512568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 courses, Certificates, Download videos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73931" y="3654989"/>
            <a:ext cx="5291032" cy="870236"/>
          </a:xfrm>
          <a:custGeom>
            <a:avLst/>
            <a:gdLst/>
            <a:ahLst/>
            <a:cxnLst/>
            <a:rect l="l" t="t" r="r" b="b"/>
            <a:pathLst>
              <a:path w="5291032" h="870236">
                <a:moveTo>
                  <a:pt x="34809" y="0"/>
                </a:moveTo>
                <a:lnTo>
                  <a:pt x="5221413" y="0"/>
                </a:lnTo>
                <a:cubicBezTo>
                  <a:pt x="5259863" y="0"/>
                  <a:pt x="5291032" y="31169"/>
                  <a:pt x="5291032" y="69619"/>
                </a:cubicBezTo>
                <a:lnTo>
                  <a:pt x="5291032" y="800617"/>
                </a:lnTo>
                <a:cubicBezTo>
                  <a:pt x="5291032" y="839066"/>
                  <a:pt x="5259863" y="870236"/>
                  <a:pt x="5221413" y="870236"/>
                </a:cubicBezTo>
                <a:lnTo>
                  <a:pt x="34809" y="870236"/>
                </a:lnTo>
                <a:cubicBezTo>
                  <a:pt x="15585" y="870236"/>
                  <a:pt x="0" y="854651"/>
                  <a:pt x="0" y="835426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2" name="Shape 50"/>
          <p:cNvSpPr/>
          <p:nvPr/>
        </p:nvSpPr>
        <p:spPr>
          <a:xfrm>
            <a:off x="6373931" y="3654989"/>
            <a:ext cx="34809" cy="870236"/>
          </a:xfrm>
          <a:custGeom>
            <a:avLst/>
            <a:gdLst/>
            <a:ahLst/>
            <a:cxnLst/>
            <a:rect l="l" t="t" r="r" b="b"/>
            <a:pathLst>
              <a:path w="34809" h="870236">
                <a:moveTo>
                  <a:pt x="34809" y="0"/>
                </a:moveTo>
                <a:lnTo>
                  <a:pt x="34809" y="0"/>
                </a:lnTo>
                <a:lnTo>
                  <a:pt x="34809" y="870236"/>
                </a:lnTo>
                <a:lnTo>
                  <a:pt x="34809" y="870236"/>
                </a:lnTo>
                <a:cubicBezTo>
                  <a:pt x="15585" y="870236"/>
                  <a:pt x="0" y="854651"/>
                  <a:pt x="0" y="835426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53" name="Text 51"/>
          <p:cNvSpPr/>
          <p:nvPr/>
        </p:nvSpPr>
        <p:spPr>
          <a:xfrm>
            <a:off x="6495764" y="3846441"/>
            <a:ext cx="687486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930594" y="3759418"/>
            <a:ext cx="63527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7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$75</a:t>
            </a:r>
            <a:pPr algn="r">
              <a:lnSpc>
                <a:spcPct val="120000"/>
              </a:lnSpc>
            </a:pPr>
            <a:r>
              <a:rPr lang="en-US" sz="1096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/mo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956701" y="4003084"/>
            <a:ext cx="60916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$750/year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95764" y="4246749"/>
            <a:ext cx="512568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Unlimited courses, 1-on-1 mentoring, 24/7 support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73931" y="4629653"/>
            <a:ext cx="5291032" cy="870236"/>
          </a:xfrm>
          <a:custGeom>
            <a:avLst/>
            <a:gdLst/>
            <a:ahLst/>
            <a:cxnLst/>
            <a:rect l="l" t="t" r="r" b="b"/>
            <a:pathLst>
              <a:path w="5291032" h="870236">
                <a:moveTo>
                  <a:pt x="34809" y="0"/>
                </a:moveTo>
                <a:lnTo>
                  <a:pt x="5221413" y="0"/>
                </a:lnTo>
                <a:cubicBezTo>
                  <a:pt x="5259863" y="0"/>
                  <a:pt x="5291032" y="31169"/>
                  <a:pt x="5291032" y="69619"/>
                </a:cubicBezTo>
                <a:lnTo>
                  <a:pt x="5291032" y="800617"/>
                </a:lnTo>
                <a:cubicBezTo>
                  <a:pt x="5291032" y="839066"/>
                  <a:pt x="5259863" y="870236"/>
                  <a:pt x="5221413" y="870236"/>
                </a:cubicBezTo>
                <a:lnTo>
                  <a:pt x="34809" y="870236"/>
                </a:lnTo>
                <a:cubicBezTo>
                  <a:pt x="15585" y="870236"/>
                  <a:pt x="0" y="854651"/>
                  <a:pt x="0" y="835426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8" name="Shape 56"/>
          <p:cNvSpPr/>
          <p:nvPr/>
        </p:nvSpPr>
        <p:spPr>
          <a:xfrm>
            <a:off x="6373931" y="4629653"/>
            <a:ext cx="34809" cy="870236"/>
          </a:xfrm>
          <a:custGeom>
            <a:avLst/>
            <a:gdLst/>
            <a:ahLst/>
            <a:cxnLst/>
            <a:rect l="l" t="t" r="r" b="b"/>
            <a:pathLst>
              <a:path w="34809" h="870236">
                <a:moveTo>
                  <a:pt x="34809" y="0"/>
                </a:moveTo>
                <a:lnTo>
                  <a:pt x="34809" y="0"/>
                </a:lnTo>
                <a:lnTo>
                  <a:pt x="34809" y="870236"/>
                </a:lnTo>
                <a:lnTo>
                  <a:pt x="34809" y="870236"/>
                </a:lnTo>
                <a:cubicBezTo>
                  <a:pt x="15585" y="870236"/>
                  <a:pt x="0" y="854651"/>
                  <a:pt x="0" y="835426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59" name="Text 57"/>
          <p:cNvSpPr/>
          <p:nvPr/>
        </p:nvSpPr>
        <p:spPr>
          <a:xfrm>
            <a:off x="6495764" y="4821105"/>
            <a:ext cx="45252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847378" y="4734081"/>
            <a:ext cx="71359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7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</a:t>
            </a:r>
            <a:pPr algn="r">
              <a:lnSpc>
                <a:spcPct val="120000"/>
              </a:lnSpc>
            </a:pPr>
            <a:r>
              <a:rPr lang="en-US" sz="1096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/mo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873485" y="4977747"/>
            <a:ext cx="68748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seats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95764" y="5221413"/>
            <a:ext cx="512568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dashboard, Team analytics, Priority support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82480" y="6112644"/>
            <a:ext cx="5656531" cy="1044283"/>
          </a:xfrm>
          <a:custGeom>
            <a:avLst/>
            <a:gdLst/>
            <a:ahLst/>
            <a:cxnLst/>
            <a:rect l="l" t="t" r="r" b="b"/>
            <a:pathLst>
              <a:path w="5656531" h="1044283">
                <a:moveTo>
                  <a:pt x="69622" y="0"/>
                </a:moveTo>
                <a:lnTo>
                  <a:pt x="5586909" y="0"/>
                </a:lnTo>
                <a:cubicBezTo>
                  <a:pt x="5625360" y="0"/>
                  <a:pt x="5656531" y="31171"/>
                  <a:pt x="5656531" y="69622"/>
                </a:cubicBezTo>
                <a:lnTo>
                  <a:pt x="5656531" y="974660"/>
                </a:lnTo>
                <a:cubicBezTo>
                  <a:pt x="5656531" y="1013112"/>
                  <a:pt x="5625360" y="1044283"/>
                  <a:pt x="5586909" y="1044283"/>
                </a:cubicBezTo>
                <a:lnTo>
                  <a:pt x="69622" y="1044283"/>
                </a:lnTo>
                <a:cubicBezTo>
                  <a:pt x="31171" y="1044283"/>
                  <a:pt x="0" y="1013112"/>
                  <a:pt x="0" y="974660"/>
                </a:cubicBezTo>
                <a:lnTo>
                  <a:pt x="0" y="69622"/>
                </a:lnTo>
                <a:cubicBezTo>
                  <a:pt x="0" y="31197"/>
                  <a:pt x="31197" y="0"/>
                  <a:pt x="69622" y="0"/>
                </a:cubicBezTo>
                <a:close/>
              </a:path>
            </a:pathLst>
          </a:custGeom>
          <a:solidFill>
            <a:srgbClr val="2E7D32"/>
          </a:solidFill>
          <a:ln/>
          <a:effectLst>
            <a:outerShdw sx="100000" sy="100000" kx="0" ky="0" algn="bl" rotWithShape="0" blurRad="52214" dist="34809" dir="5400000">
              <a:srgbClr val="000000">
                <a:alpha val="10196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343473" y="6286691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109289" y="23388"/>
                </a:moveTo>
                <a:cubicBezTo>
                  <a:pt x="111873" y="19002"/>
                  <a:pt x="116564" y="16317"/>
                  <a:pt x="121629" y="16317"/>
                </a:cubicBezTo>
                <a:lnTo>
                  <a:pt x="122377" y="16317"/>
                </a:lnTo>
                <a:cubicBezTo>
                  <a:pt x="129889" y="16317"/>
                  <a:pt x="135974" y="22402"/>
                  <a:pt x="135974" y="29914"/>
                </a:cubicBezTo>
                <a:cubicBezTo>
                  <a:pt x="135974" y="37427"/>
                  <a:pt x="129889" y="43512"/>
                  <a:pt x="122377" y="43512"/>
                </a:cubicBezTo>
                <a:lnTo>
                  <a:pt x="97460" y="43512"/>
                </a:lnTo>
                <a:lnTo>
                  <a:pt x="109289" y="23388"/>
                </a:lnTo>
                <a:close/>
                <a:moveTo>
                  <a:pt x="64758" y="23388"/>
                </a:moveTo>
                <a:lnTo>
                  <a:pt x="76588" y="43512"/>
                </a:lnTo>
                <a:lnTo>
                  <a:pt x="51670" y="43512"/>
                </a:lnTo>
                <a:cubicBezTo>
                  <a:pt x="44158" y="43512"/>
                  <a:pt x="38073" y="37427"/>
                  <a:pt x="38073" y="29914"/>
                </a:cubicBezTo>
                <a:cubicBezTo>
                  <a:pt x="38073" y="22402"/>
                  <a:pt x="44158" y="16317"/>
                  <a:pt x="51670" y="16317"/>
                </a:cubicBezTo>
                <a:lnTo>
                  <a:pt x="52418" y="16317"/>
                </a:lnTo>
                <a:cubicBezTo>
                  <a:pt x="57483" y="16317"/>
                  <a:pt x="62208" y="19002"/>
                  <a:pt x="64758" y="23388"/>
                </a:cubicBezTo>
                <a:close/>
                <a:moveTo>
                  <a:pt x="95216" y="15127"/>
                </a:moveTo>
                <a:lnTo>
                  <a:pt x="87024" y="29065"/>
                </a:lnTo>
                <a:lnTo>
                  <a:pt x="78831" y="15127"/>
                </a:lnTo>
                <a:cubicBezTo>
                  <a:pt x="73324" y="5745"/>
                  <a:pt x="63262" y="0"/>
                  <a:pt x="52418" y="0"/>
                </a:cubicBezTo>
                <a:lnTo>
                  <a:pt x="51670" y="0"/>
                </a:lnTo>
                <a:cubicBezTo>
                  <a:pt x="35149" y="0"/>
                  <a:pt x="21756" y="13393"/>
                  <a:pt x="21756" y="29914"/>
                </a:cubicBezTo>
                <a:cubicBezTo>
                  <a:pt x="21756" y="34809"/>
                  <a:pt x="22946" y="39433"/>
                  <a:pt x="25019" y="43512"/>
                </a:cubicBezTo>
                <a:lnTo>
                  <a:pt x="10878" y="43512"/>
                </a:lnTo>
                <a:cubicBezTo>
                  <a:pt x="4861" y="43512"/>
                  <a:pt x="0" y="48373"/>
                  <a:pt x="0" y="54390"/>
                </a:cubicBezTo>
                <a:lnTo>
                  <a:pt x="0" y="65268"/>
                </a:lnTo>
                <a:cubicBezTo>
                  <a:pt x="0" y="71285"/>
                  <a:pt x="4861" y="76146"/>
                  <a:pt x="10878" y="76146"/>
                </a:cubicBezTo>
                <a:lnTo>
                  <a:pt x="163169" y="76146"/>
                </a:lnTo>
                <a:cubicBezTo>
                  <a:pt x="169186" y="76146"/>
                  <a:pt x="174047" y="71285"/>
                  <a:pt x="174047" y="65268"/>
                </a:cubicBezTo>
                <a:lnTo>
                  <a:pt x="174047" y="54390"/>
                </a:lnTo>
                <a:cubicBezTo>
                  <a:pt x="174047" y="48373"/>
                  <a:pt x="169186" y="43512"/>
                  <a:pt x="163169" y="43512"/>
                </a:cubicBezTo>
                <a:lnTo>
                  <a:pt x="149028" y="43512"/>
                </a:lnTo>
                <a:cubicBezTo>
                  <a:pt x="151101" y="39433"/>
                  <a:pt x="152291" y="34809"/>
                  <a:pt x="152291" y="29914"/>
                </a:cubicBezTo>
                <a:cubicBezTo>
                  <a:pt x="152291" y="13393"/>
                  <a:pt x="138898" y="0"/>
                  <a:pt x="122377" y="0"/>
                </a:cubicBezTo>
                <a:lnTo>
                  <a:pt x="121629" y="0"/>
                </a:lnTo>
                <a:cubicBezTo>
                  <a:pt x="110785" y="0"/>
                  <a:pt x="100723" y="5745"/>
                  <a:pt x="95216" y="15093"/>
                </a:cubicBezTo>
                <a:close/>
                <a:moveTo>
                  <a:pt x="163169" y="92463"/>
                </a:moveTo>
                <a:lnTo>
                  <a:pt x="95182" y="92463"/>
                </a:lnTo>
                <a:lnTo>
                  <a:pt x="95182" y="163169"/>
                </a:lnTo>
                <a:lnTo>
                  <a:pt x="141413" y="163169"/>
                </a:lnTo>
                <a:cubicBezTo>
                  <a:pt x="153413" y="163169"/>
                  <a:pt x="163169" y="153413"/>
                  <a:pt x="163169" y="141413"/>
                </a:cubicBezTo>
                <a:lnTo>
                  <a:pt x="163169" y="92463"/>
                </a:lnTo>
                <a:close/>
                <a:moveTo>
                  <a:pt x="78865" y="92463"/>
                </a:moveTo>
                <a:lnTo>
                  <a:pt x="10878" y="92463"/>
                </a:lnTo>
                <a:lnTo>
                  <a:pt x="10878" y="141413"/>
                </a:lnTo>
                <a:cubicBezTo>
                  <a:pt x="10878" y="153413"/>
                  <a:pt x="20634" y="163169"/>
                  <a:pt x="32634" y="163169"/>
                </a:cubicBezTo>
                <a:lnTo>
                  <a:pt x="78865" y="163169"/>
                </a:lnTo>
                <a:lnTo>
                  <a:pt x="78865" y="92463"/>
                </a:ln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65" name="Text 63"/>
          <p:cNvSpPr/>
          <p:nvPr/>
        </p:nvSpPr>
        <p:spPr>
          <a:xfrm>
            <a:off x="6643704" y="6251882"/>
            <a:ext cx="164474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Billing Incentive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21717" y="6565167"/>
            <a:ext cx="5447675" cy="45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subscriptions receive </a:t>
            </a:r>
            <a:pPr>
              <a:lnSpc>
                <a:spcPct val="140000"/>
              </a:lnSpc>
            </a:pPr>
            <a:r>
              <a:rPr lang="en-US" sz="1096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months free</a:t>
            </a:r>
            <a:pPr>
              <a:lnSpc>
                <a:spcPct val="140000"/>
              </a:lnSpc>
            </a:pPr>
            <a:r>
              <a:rPr lang="en-US" sz="109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(16.7% discount), encouraging long-term commitment and improving cash flow predictability while reducing churn.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062" y="358062"/>
            <a:ext cx="1153853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spc="49" kern="0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8062" y="608705"/>
            <a:ext cx="11690714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83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Statement: The Revenue-Growth Paradox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8062" y="1181604"/>
            <a:ext cx="5648423" cy="2631753"/>
          </a:xfrm>
          <a:custGeom>
            <a:avLst/>
            <a:gdLst/>
            <a:ahLst/>
            <a:cxnLst/>
            <a:rect l="l" t="t" r="r" b="b"/>
            <a:pathLst>
              <a:path w="5648423" h="2631753">
                <a:moveTo>
                  <a:pt x="71610" y="0"/>
                </a:moveTo>
                <a:lnTo>
                  <a:pt x="5576813" y="0"/>
                </a:lnTo>
                <a:cubicBezTo>
                  <a:pt x="5616362" y="0"/>
                  <a:pt x="5648423" y="32061"/>
                  <a:pt x="5648423" y="71610"/>
                </a:cubicBezTo>
                <a:lnTo>
                  <a:pt x="5648423" y="2560143"/>
                </a:lnTo>
                <a:cubicBezTo>
                  <a:pt x="5648423" y="2599692"/>
                  <a:pt x="5616362" y="2631753"/>
                  <a:pt x="5576813" y="2631753"/>
                </a:cubicBezTo>
                <a:lnTo>
                  <a:pt x="71610" y="2631753"/>
                </a:lnTo>
                <a:cubicBezTo>
                  <a:pt x="32061" y="2631753"/>
                  <a:pt x="0" y="2599692"/>
                  <a:pt x="0" y="2560143"/>
                </a:cubicBezTo>
                <a:lnTo>
                  <a:pt x="0" y="71610"/>
                </a:lnTo>
                <a:cubicBezTo>
                  <a:pt x="0" y="32061"/>
                  <a:pt x="32061" y="0"/>
                  <a:pt x="71610" y="0"/>
                </a:cubicBezTo>
                <a:close/>
              </a:path>
            </a:pathLst>
          </a:custGeom>
          <a:solidFill>
            <a:srgbClr val="D32F2F"/>
          </a:solidFill>
          <a:ln/>
          <a:effectLst>
            <a:outerShdw sx="100000" sy="100000" kx="0" ky="0" algn="bl" rotWithShape="0" blurRad="134273" dist="89515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7093" y="1396441"/>
            <a:ext cx="529036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Paradox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78795" y="1682890"/>
            <a:ext cx="1503859" cy="537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2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-18%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72786" y="2219982"/>
            <a:ext cx="1315877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Per User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80304" y="1897727"/>
            <a:ext cx="322256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3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01664" y="1682890"/>
            <a:ext cx="1584423" cy="537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2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+12%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95655" y="2219982"/>
            <a:ext cx="139644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Subscriber Growth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2899" y="2613850"/>
            <a:ext cx="5218749" cy="984670"/>
          </a:xfrm>
          <a:custGeom>
            <a:avLst/>
            <a:gdLst/>
            <a:ahLst/>
            <a:cxnLst/>
            <a:rect l="l" t="t" r="r" b="b"/>
            <a:pathLst>
              <a:path w="5218749" h="984670">
                <a:moveTo>
                  <a:pt x="71615" y="0"/>
                </a:moveTo>
                <a:lnTo>
                  <a:pt x="5147134" y="0"/>
                </a:lnTo>
                <a:cubicBezTo>
                  <a:pt x="5186686" y="0"/>
                  <a:pt x="5218749" y="32063"/>
                  <a:pt x="5218749" y="71615"/>
                </a:cubicBezTo>
                <a:lnTo>
                  <a:pt x="5218749" y="913055"/>
                </a:lnTo>
                <a:cubicBezTo>
                  <a:pt x="5218749" y="952606"/>
                  <a:pt x="5186686" y="984670"/>
                  <a:pt x="5147134" y="984670"/>
                </a:cubicBezTo>
                <a:lnTo>
                  <a:pt x="71615" y="984670"/>
                </a:lnTo>
                <a:cubicBezTo>
                  <a:pt x="32063" y="984670"/>
                  <a:pt x="0" y="952606"/>
                  <a:pt x="0" y="913055"/>
                </a:cubicBezTo>
                <a:lnTo>
                  <a:pt x="0" y="71615"/>
                </a:lnTo>
                <a:cubicBezTo>
                  <a:pt x="0" y="32090"/>
                  <a:pt x="32090" y="0"/>
                  <a:pt x="7161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16123" y="2757075"/>
            <a:ext cx="5003912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Issue:</a:t>
            </a:r>
            <a:pPr>
              <a:lnSpc>
                <a:spcPct val="140000"/>
              </a:lnSpc>
            </a:pPr>
            <a:r>
              <a:rPr lang="en-US" sz="112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Revenue per user (RPU) has declined 18% in Q1 2026 despite subscriber count increasing 12%. This indicates systemic problems requiring immediate investigation.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5965" y="3956581"/>
            <a:ext cx="5630520" cy="1414344"/>
          </a:xfrm>
          <a:custGeom>
            <a:avLst/>
            <a:gdLst/>
            <a:ahLst/>
            <a:cxnLst/>
            <a:rect l="l" t="t" r="r" b="b"/>
            <a:pathLst>
              <a:path w="5630520" h="1414344">
                <a:moveTo>
                  <a:pt x="35806" y="0"/>
                </a:moveTo>
                <a:lnTo>
                  <a:pt x="5558912" y="0"/>
                </a:lnTo>
                <a:cubicBezTo>
                  <a:pt x="5598460" y="0"/>
                  <a:pt x="5630520" y="32060"/>
                  <a:pt x="5630520" y="71608"/>
                </a:cubicBezTo>
                <a:lnTo>
                  <a:pt x="5630520" y="1342735"/>
                </a:lnTo>
                <a:cubicBezTo>
                  <a:pt x="5630520" y="1382284"/>
                  <a:pt x="5598460" y="1414344"/>
                  <a:pt x="5558912" y="1414344"/>
                </a:cubicBezTo>
                <a:lnTo>
                  <a:pt x="35806" y="1414344"/>
                </a:lnTo>
                <a:cubicBezTo>
                  <a:pt x="16031" y="1414344"/>
                  <a:pt x="0" y="1398313"/>
                  <a:pt x="0" y="1378537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3709" dist="35806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5965" y="3956581"/>
            <a:ext cx="35806" cy="1414344"/>
          </a:xfrm>
          <a:custGeom>
            <a:avLst/>
            <a:gdLst/>
            <a:ahLst/>
            <a:cxnLst/>
            <a:rect l="l" t="t" r="r" b="b"/>
            <a:pathLst>
              <a:path w="35806" h="1414344">
                <a:moveTo>
                  <a:pt x="35806" y="0"/>
                </a:moveTo>
                <a:lnTo>
                  <a:pt x="35806" y="0"/>
                </a:lnTo>
                <a:lnTo>
                  <a:pt x="35806" y="1414344"/>
                </a:lnTo>
                <a:lnTo>
                  <a:pt x="35806" y="1414344"/>
                </a:lnTo>
                <a:cubicBezTo>
                  <a:pt x="16031" y="1414344"/>
                  <a:pt x="0" y="1398313"/>
                  <a:pt x="0" y="1378537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15" name="Shape 13"/>
          <p:cNvSpPr/>
          <p:nvPr/>
        </p:nvSpPr>
        <p:spPr>
          <a:xfrm>
            <a:off x="599753" y="4153515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107419" y="0"/>
                </a:moveTo>
                <a:cubicBezTo>
                  <a:pt x="166704" y="0"/>
                  <a:pt x="214837" y="48133"/>
                  <a:pt x="214837" y="107419"/>
                </a:cubicBezTo>
                <a:cubicBezTo>
                  <a:pt x="214837" y="166704"/>
                  <a:pt x="166704" y="214837"/>
                  <a:pt x="107419" y="214837"/>
                </a:cubicBezTo>
                <a:cubicBezTo>
                  <a:pt x="48133" y="214837"/>
                  <a:pt x="0" y="166704"/>
                  <a:pt x="0" y="107419"/>
                </a:cubicBezTo>
                <a:cubicBezTo>
                  <a:pt x="0" y="48133"/>
                  <a:pt x="48133" y="0"/>
                  <a:pt x="107419" y="0"/>
                </a:cubicBezTo>
                <a:close/>
                <a:moveTo>
                  <a:pt x="97348" y="50352"/>
                </a:moveTo>
                <a:lnTo>
                  <a:pt x="97348" y="107419"/>
                </a:lnTo>
                <a:cubicBezTo>
                  <a:pt x="97348" y="110775"/>
                  <a:pt x="99026" y="113922"/>
                  <a:pt x="101838" y="115811"/>
                </a:cubicBezTo>
                <a:lnTo>
                  <a:pt x="142120" y="142665"/>
                </a:lnTo>
                <a:cubicBezTo>
                  <a:pt x="146735" y="145770"/>
                  <a:pt x="152987" y="144511"/>
                  <a:pt x="156093" y="139854"/>
                </a:cubicBezTo>
                <a:cubicBezTo>
                  <a:pt x="159198" y="135196"/>
                  <a:pt x="157939" y="128986"/>
                  <a:pt x="153281" y="125881"/>
                </a:cubicBezTo>
                <a:lnTo>
                  <a:pt x="117489" y="102048"/>
                </a:lnTo>
                <a:lnTo>
                  <a:pt x="117489" y="50352"/>
                </a:lnTo>
                <a:cubicBezTo>
                  <a:pt x="117489" y="44772"/>
                  <a:pt x="112999" y="40282"/>
                  <a:pt x="107419" y="40282"/>
                </a:cubicBezTo>
                <a:cubicBezTo>
                  <a:pt x="101838" y="40282"/>
                  <a:pt x="97348" y="44772"/>
                  <a:pt x="97348" y="50352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16" name="Text 14"/>
          <p:cNvSpPr/>
          <p:nvPr/>
        </p:nvSpPr>
        <p:spPr>
          <a:xfrm>
            <a:off x="948863" y="4135612"/>
            <a:ext cx="1960388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Board Meeting Urgency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2899" y="4493674"/>
            <a:ext cx="5326167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CFO needs </a:t>
            </a:r>
            <a:pPr>
              <a:lnSpc>
                <a:spcPct val="140000"/>
              </a:lnSpc>
            </a:pPr>
            <a:r>
              <a:rPr lang="en-US" sz="1128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data-backed answers</a:t>
            </a:r>
            <a:pPr>
              <a:lnSpc>
                <a:spcPct val="140000"/>
              </a:lnSpc>
            </a:pPr>
            <a:r>
              <a:rPr lang="en-US" sz="1128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the Q2 2026 board presentation to explain the revenue decline, demonstrate corrective action plans, and provide revenue forecasts for H2 2026.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84508" y="1181604"/>
            <a:ext cx="5648423" cy="4287789"/>
          </a:xfrm>
          <a:custGeom>
            <a:avLst/>
            <a:gdLst/>
            <a:ahLst/>
            <a:cxnLst/>
            <a:rect l="l" t="t" r="r" b="b"/>
            <a:pathLst>
              <a:path w="5648423" h="4287789">
                <a:moveTo>
                  <a:pt x="71606" y="0"/>
                </a:moveTo>
                <a:lnTo>
                  <a:pt x="5576817" y="0"/>
                </a:lnTo>
                <a:cubicBezTo>
                  <a:pt x="5616364" y="0"/>
                  <a:pt x="5648423" y="32059"/>
                  <a:pt x="5648423" y="71606"/>
                </a:cubicBezTo>
                <a:lnTo>
                  <a:pt x="5648423" y="4216182"/>
                </a:lnTo>
                <a:cubicBezTo>
                  <a:pt x="5648423" y="4255729"/>
                  <a:pt x="5616364" y="4287789"/>
                  <a:pt x="5576817" y="4287789"/>
                </a:cubicBezTo>
                <a:lnTo>
                  <a:pt x="71606" y="4287789"/>
                </a:lnTo>
                <a:cubicBezTo>
                  <a:pt x="32059" y="4287789"/>
                  <a:pt x="0" y="4255729"/>
                  <a:pt x="0" y="4216182"/>
                </a:cubicBezTo>
                <a:lnTo>
                  <a:pt x="0" y="71606"/>
                </a:lnTo>
                <a:cubicBezTo>
                  <a:pt x="0" y="32059"/>
                  <a:pt x="32059" y="0"/>
                  <a:pt x="716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3709" dist="35806" dir="540000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63539" y="1360634"/>
            <a:ext cx="5379877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Cause Hypotheses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63539" y="1754502"/>
            <a:ext cx="5290361" cy="608705"/>
          </a:xfrm>
          <a:custGeom>
            <a:avLst/>
            <a:gdLst/>
            <a:ahLst/>
            <a:cxnLst/>
            <a:rect l="l" t="t" r="r" b="b"/>
            <a:pathLst>
              <a:path w="5290361" h="608705">
                <a:moveTo>
                  <a:pt x="71614" y="0"/>
                </a:moveTo>
                <a:lnTo>
                  <a:pt x="5218747" y="0"/>
                </a:lnTo>
                <a:cubicBezTo>
                  <a:pt x="5258298" y="0"/>
                  <a:pt x="5290361" y="32063"/>
                  <a:pt x="5290361" y="71614"/>
                </a:cubicBezTo>
                <a:lnTo>
                  <a:pt x="5290361" y="537091"/>
                </a:lnTo>
                <a:cubicBezTo>
                  <a:pt x="5290361" y="576642"/>
                  <a:pt x="5258298" y="608705"/>
                  <a:pt x="5218747" y="608705"/>
                </a:cubicBezTo>
                <a:lnTo>
                  <a:pt x="71614" y="608705"/>
                </a:lnTo>
                <a:cubicBezTo>
                  <a:pt x="32063" y="608705"/>
                  <a:pt x="0" y="576642"/>
                  <a:pt x="0" y="537091"/>
                </a:cubicBezTo>
                <a:lnTo>
                  <a:pt x="0" y="71614"/>
                </a:lnTo>
                <a:cubicBezTo>
                  <a:pt x="0" y="32089"/>
                  <a:pt x="32089" y="0"/>
                  <a:pt x="7161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70958" y="1861921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143225" y="0"/>
                </a:moveTo>
                <a:lnTo>
                  <a:pt x="143225" y="0"/>
                </a:lnTo>
                <a:cubicBezTo>
                  <a:pt x="222325" y="0"/>
                  <a:pt x="286449" y="64124"/>
                  <a:pt x="286449" y="143225"/>
                </a:cubicBezTo>
                <a:lnTo>
                  <a:pt x="286449" y="143225"/>
                </a:lnTo>
                <a:cubicBezTo>
                  <a:pt x="286449" y="222325"/>
                  <a:pt x="222325" y="286449"/>
                  <a:pt x="143225" y="286449"/>
                </a:cubicBezTo>
                <a:lnTo>
                  <a:pt x="143225" y="286449"/>
                </a:lnTo>
                <a:cubicBezTo>
                  <a:pt x="64124" y="286449"/>
                  <a:pt x="0" y="222325"/>
                  <a:pt x="0" y="143225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22" name="Text 20"/>
          <p:cNvSpPr/>
          <p:nvPr/>
        </p:nvSpPr>
        <p:spPr>
          <a:xfrm>
            <a:off x="6435152" y="1861921"/>
            <a:ext cx="358062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64826" y="1861921"/>
            <a:ext cx="368803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Adverse Selection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64826" y="2076758"/>
            <a:ext cx="3679084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subscribers choosing lower-tier plans (Basic vs Pro/Premium)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63539" y="2470626"/>
            <a:ext cx="5290361" cy="608705"/>
          </a:xfrm>
          <a:custGeom>
            <a:avLst/>
            <a:gdLst/>
            <a:ahLst/>
            <a:cxnLst/>
            <a:rect l="l" t="t" r="r" b="b"/>
            <a:pathLst>
              <a:path w="5290361" h="608705">
                <a:moveTo>
                  <a:pt x="71614" y="0"/>
                </a:moveTo>
                <a:lnTo>
                  <a:pt x="5218747" y="0"/>
                </a:lnTo>
                <a:cubicBezTo>
                  <a:pt x="5258298" y="0"/>
                  <a:pt x="5290361" y="32063"/>
                  <a:pt x="5290361" y="71614"/>
                </a:cubicBezTo>
                <a:lnTo>
                  <a:pt x="5290361" y="537091"/>
                </a:lnTo>
                <a:cubicBezTo>
                  <a:pt x="5290361" y="576642"/>
                  <a:pt x="5258298" y="608705"/>
                  <a:pt x="5218747" y="608705"/>
                </a:cubicBezTo>
                <a:lnTo>
                  <a:pt x="71614" y="608705"/>
                </a:lnTo>
                <a:cubicBezTo>
                  <a:pt x="32063" y="608705"/>
                  <a:pt x="0" y="576642"/>
                  <a:pt x="0" y="537091"/>
                </a:cubicBezTo>
                <a:lnTo>
                  <a:pt x="0" y="71614"/>
                </a:lnTo>
                <a:cubicBezTo>
                  <a:pt x="0" y="32089"/>
                  <a:pt x="32089" y="0"/>
                  <a:pt x="7161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0958" y="2578044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143225" y="0"/>
                </a:moveTo>
                <a:lnTo>
                  <a:pt x="143225" y="0"/>
                </a:lnTo>
                <a:cubicBezTo>
                  <a:pt x="222325" y="0"/>
                  <a:pt x="286449" y="64124"/>
                  <a:pt x="286449" y="143225"/>
                </a:cubicBezTo>
                <a:lnTo>
                  <a:pt x="286449" y="143225"/>
                </a:lnTo>
                <a:cubicBezTo>
                  <a:pt x="286449" y="222325"/>
                  <a:pt x="222325" y="286449"/>
                  <a:pt x="143225" y="286449"/>
                </a:cubicBezTo>
                <a:lnTo>
                  <a:pt x="143225" y="286449"/>
                </a:lnTo>
                <a:cubicBezTo>
                  <a:pt x="64124" y="286449"/>
                  <a:pt x="0" y="222325"/>
                  <a:pt x="0" y="143225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27" name="Text 25"/>
          <p:cNvSpPr/>
          <p:nvPr/>
        </p:nvSpPr>
        <p:spPr>
          <a:xfrm>
            <a:off x="6435152" y="2578044"/>
            <a:ext cx="358062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4826" y="2578044"/>
            <a:ext cx="353585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Concentration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64826" y="2792881"/>
            <a:ext cx="352690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High-value customers churning while low-value customers stay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63539" y="3186749"/>
            <a:ext cx="5290361" cy="608705"/>
          </a:xfrm>
          <a:custGeom>
            <a:avLst/>
            <a:gdLst/>
            <a:ahLst/>
            <a:cxnLst/>
            <a:rect l="l" t="t" r="r" b="b"/>
            <a:pathLst>
              <a:path w="5290361" h="608705">
                <a:moveTo>
                  <a:pt x="71614" y="0"/>
                </a:moveTo>
                <a:lnTo>
                  <a:pt x="5218747" y="0"/>
                </a:lnTo>
                <a:cubicBezTo>
                  <a:pt x="5258298" y="0"/>
                  <a:pt x="5290361" y="32063"/>
                  <a:pt x="5290361" y="71614"/>
                </a:cubicBezTo>
                <a:lnTo>
                  <a:pt x="5290361" y="537091"/>
                </a:lnTo>
                <a:cubicBezTo>
                  <a:pt x="5290361" y="576642"/>
                  <a:pt x="5258298" y="608705"/>
                  <a:pt x="5218747" y="608705"/>
                </a:cubicBezTo>
                <a:lnTo>
                  <a:pt x="71614" y="608705"/>
                </a:lnTo>
                <a:cubicBezTo>
                  <a:pt x="32063" y="608705"/>
                  <a:pt x="0" y="576642"/>
                  <a:pt x="0" y="537091"/>
                </a:cubicBezTo>
                <a:lnTo>
                  <a:pt x="0" y="71614"/>
                </a:lnTo>
                <a:cubicBezTo>
                  <a:pt x="0" y="32089"/>
                  <a:pt x="32089" y="0"/>
                  <a:pt x="7161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0958" y="3294167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143225" y="0"/>
                </a:moveTo>
                <a:lnTo>
                  <a:pt x="143225" y="0"/>
                </a:lnTo>
                <a:cubicBezTo>
                  <a:pt x="222325" y="0"/>
                  <a:pt x="286449" y="64124"/>
                  <a:pt x="286449" y="143225"/>
                </a:cubicBezTo>
                <a:lnTo>
                  <a:pt x="286449" y="143225"/>
                </a:lnTo>
                <a:cubicBezTo>
                  <a:pt x="286449" y="222325"/>
                  <a:pt x="222325" y="286449"/>
                  <a:pt x="143225" y="286449"/>
                </a:cubicBezTo>
                <a:lnTo>
                  <a:pt x="143225" y="286449"/>
                </a:lnTo>
                <a:cubicBezTo>
                  <a:pt x="64124" y="286449"/>
                  <a:pt x="0" y="222325"/>
                  <a:pt x="0" y="143225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32" name="Text 30"/>
          <p:cNvSpPr/>
          <p:nvPr/>
        </p:nvSpPr>
        <p:spPr>
          <a:xfrm>
            <a:off x="6435152" y="3294167"/>
            <a:ext cx="358062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64826" y="3294167"/>
            <a:ext cx="3088282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Downgrade Trends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64826" y="3509004"/>
            <a:ext cx="3079330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users moving from premium tiers to basic plans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63539" y="3902872"/>
            <a:ext cx="5290361" cy="608705"/>
          </a:xfrm>
          <a:custGeom>
            <a:avLst/>
            <a:gdLst/>
            <a:ahLst/>
            <a:cxnLst/>
            <a:rect l="l" t="t" r="r" b="b"/>
            <a:pathLst>
              <a:path w="5290361" h="608705">
                <a:moveTo>
                  <a:pt x="71614" y="0"/>
                </a:moveTo>
                <a:lnTo>
                  <a:pt x="5218747" y="0"/>
                </a:lnTo>
                <a:cubicBezTo>
                  <a:pt x="5258298" y="0"/>
                  <a:pt x="5290361" y="32063"/>
                  <a:pt x="5290361" y="71614"/>
                </a:cubicBezTo>
                <a:lnTo>
                  <a:pt x="5290361" y="537091"/>
                </a:lnTo>
                <a:cubicBezTo>
                  <a:pt x="5290361" y="576642"/>
                  <a:pt x="5258298" y="608705"/>
                  <a:pt x="5218747" y="608705"/>
                </a:cubicBezTo>
                <a:lnTo>
                  <a:pt x="71614" y="608705"/>
                </a:lnTo>
                <a:cubicBezTo>
                  <a:pt x="32063" y="608705"/>
                  <a:pt x="0" y="576642"/>
                  <a:pt x="0" y="537091"/>
                </a:cubicBezTo>
                <a:lnTo>
                  <a:pt x="0" y="71614"/>
                </a:lnTo>
                <a:cubicBezTo>
                  <a:pt x="0" y="32089"/>
                  <a:pt x="32089" y="0"/>
                  <a:pt x="7161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6" name="Shape 34"/>
          <p:cNvSpPr/>
          <p:nvPr/>
        </p:nvSpPr>
        <p:spPr>
          <a:xfrm>
            <a:off x="6470958" y="4010291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143225" y="0"/>
                </a:moveTo>
                <a:lnTo>
                  <a:pt x="143225" y="0"/>
                </a:lnTo>
                <a:cubicBezTo>
                  <a:pt x="222325" y="0"/>
                  <a:pt x="286449" y="64124"/>
                  <a:pt x="286449" y="143225"/>
                </a:cubicBezTo>
                <a:lnTo>
                  <a:pt x="286449" y="143225"/>
                </a:lnTo>
                <a:cubicBezTo>
                  <a:pt x="286449" y="222325"/>
                  <a:pt x="222325" y="286449"/>
                  <a:pt x="143225" y="286449"/>
                </a:cubicBezTo>
                <a:lnTo>
                  <a:pt x="143225" y="286449"/>
                </a:lnTo>
                <a:cubicBezTo>
                  <a:pt x="64124" y="286449"/>
                  <a:pt x="0" y="222325"/>
                  <a:pt x="0" y="143225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37" name="Text 35"/>
          <p:cNvSpPr/>
          <p:nvPr/>
        </p:nvSpPr>
        <p:spPr>
          <a:xfrm>
            <a:off x="6435152" y="4010291"/>
            <a:ext cx="358062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64826" y="4010291"/>
            <a:ext cx="2846590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Decline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64826" y="4225128"/>
            <a:ext cx="2837639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not seeing value, leading to plan downgrades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63539" y="4618996"/>
            <a:ext cx="5290361" cy="608705"/>
          </a:xfrm>
          <a:custGeom>
            <a:avLst/>
            <a:gdLst/>
            <a:ahLst/>
            <a:cxnLst/>
            <a:rect l="l" t="t" r="r" b="b"/>
            <a:pathLst>
              <a:path w="5290361" h="608705">
                <a:moveTo>
                  <a:pt x="71614" y="0"/>
                </a:moveTo>
                <a:lnTo>
                  <a:pt x="5218747" y="0"/>
                </a:lnTo>
                <a:cubicBezTo>
                  <a:pt x="5258298" y="0"/>
                  <a:pt x="5290361" y="32063"/>
                  <a:pt x="5290361" y="71614"/>
                </a:cubicBezTo>
                <a:lnTo>
                  <a:pt x="5290361" y="537091"/>
                </a:lnTo>
                <a:cubicBezTo>
                  <a:pt x="5290361" y="576642"/>
                  <a:pt x="5258298" y="608705"/>
                  <a:pt x="5218747" y="608705"/>
                </a:cubicBezTo>
                <a:lnTo>
                  <a:pt x="71614" y="608705"/>
                </a:lnTo>
                <a:cubicBezTo>
                  <a:pt x="32063" y="608705"/>
                  <a:pt x="0" y="576642"/>
                  <a:pt x="0" y="537091"/>
                </a:cubicBezTo>
                <a:lnTo>
                  <a:pt x="0" y="71614"/>
                </a:lnTo>
                <a:cubicBezTo>
                  <a:pt x="0" y="32089"/>
                  <a:pt x="32089" y="0"/>
                  <a:pt x="7161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1" name="Shape 39"/>
          <p:cNvSpPr/>
          <p:nvPr/>
        </p:nvSpPr>
        <p:spPr>
          <a:xfrm>
            <a:off x="6470958" y="4726414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143225" y="0"/>
                </a:moveTo>
                <a:lnTo>
                  <a:pt x="143225" y="0"/>
                </a:lnTo>
                <a:cubicBezTo>
                  <a:pt x="222325" y="0"/>
                  <a:pt x="286449" y="64124"/>
                  <a:pt x="286449" y="143225"/>
                </a:cubicBezTo>
                <a:lnTo>
                  <a:pt x="286449" y="143225"/>
                </a:lnTo>
                <a:cubicBezTo>
                  <a:pt x="286449" y="222325"/>
                  <a:pt x="222325" y="286449"/>
                  <a:pt x="143225" y="286449"/>
                </a:cubicBezTo>
                <a:lnTo>
                  <a:pt x="143225" y="286449"/>
                </a:lnTo>
                <a:cubicBezTo>
                  <a:pt x="64124" y="286449"/>
                  <a:pt x="0" y="222325"/>
                  <a:pt x="0" y="143225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42" name="Text 40"/>
          <p:cNvSpPr/>
          <p:nvPr/>
        </p:nvSpPr>
        <p:spPr>
          <a:xfrm>
            <a:off x="6435152" y="4726414"/>
            <a:ext cx="358062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64826" y="4726414"/>
            <a:ext cx="281973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Acquisition Quality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64826" y="4941251"/>
            <a:ext cx="2810784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 channels bringing in low-LTV customers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84508" y="5615078"/>
            <a:ext cx="5648423" cy="1074185"/>
          </a:xfrm>
          <a:custGeom>
            <a:avLst/>
            <a:gdLst/>
            <a:ahLst/>
            <a:cxnLst/>
            <a:rect l="l" t="t" r="r" b="b"/>
            <a:pathLst>
              <a:path w="5648423" h="1074185">
                <a:moveTo>
                  <a:pt x="71616" y="0"/>
                </a:moveTo>
                <a:lnTo>
                  <a:pt x="5576807" y="0"/>
                </a:lnTo>
                <a:cubicBezTo>
                  <a:pt x="5616359" y="0"/>
                  <a:pt x="5648423" y="32064"/>
                  <a:pt x="5648423" y="71616"/>
                </a:cubicBezTo>
                <a:lnTo>
                  <a:pt x="5648423" y="1002569"/>
                </a:lnTo>
                <a:cubicBezTo>
                  <a:pt x="5648423" y="1042121"/>
                  <a:pt x="5616359" y="1074185"/>
                  <a:pt x="5576807" y="1074185"/>
                </a:cubicBezTo>
                <a:lnTo>
                  <a:pt x="71616" y="1074185"/>
                </a:lnTo>
                <a:cubicBezTo>
                  <a:pt x="32064" y="1074185"/>
                  <a:pt x="0" y="1042121"/>
                  <a:pt x="0" y="1002569"/>
                </a:cubicBezTo>
                <a:lnTo>
                  <a:pt x="0" y="71616"/>
                </a:lnTo>
                <a:cubicBezTo>
                  <a:pt x="0" y="32090"/>
                  <a:pt x="32090" y="0"/>
                  <a:pt x="71616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outerShdw sx="100000" sy="100000" kx="0" ky="0" algn="bl" rotWithShape="0" blurRad="53709" dist="35806" dir="540000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50112" y="5794108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89515" y="179031"/>
                </a:moveTo>
                <a:cubicBezTo>
                  <a:pt x="138920" y="179031"/>
                  <a:pt x="179031" y="138920"/>
                  <a:pt x="179031" y="89515"/>
                </a:cubicBezTo>
                <a:cubicBezTo>
                  <a:pt x="179031" y="40111"/>
                  <a:pt x="138920" y="0"/>
                  <a:pt x="89515" y="0"/>
                </a:cubicBezTo>
                <a:cubicBezTo>
                  <a:pt x="40111" y="0"/>
                  <a:pt x="0" y="40111"/>
                  <a:pt x="0" y="89515"/>
                </a:cubicBezTo>
                <a:cubicBezTo>
                  <a:pt x="0" y="138920"/>
                  <a:pt x="40111" y="179031"/>
                  <a:pt x="89515" y="179031"/>
                </a:cubicBezTo>
                <a:close/>
                <a:moveTo>
                  <a:pt x="89515" y="47555"/>
                </a:moveTo>
                <a:cubicBezTo>
                  <a:pt x="94166" y="47555"/>
                  <a:pt x="97907" y="51297"/>
                  <a:pt x="97907" y="55947"/>
                </a:cubicBezTo>
                <a:lnTo>
                  <a:pt x="97907" y="95110"/>
                </a:lnTo>
                <a:cubicBezTo>
                  <a:pt x="97907" y="99761"/>
                  <a:pt x="94166" y="103502"/>
                  <a:pt x="89515" y="103502"/>
                </a:cubicBezTo>
                <a:cubicBezTo>
                  <a:pt x="84865" y="103502"/>
                  <a:pt x="81123" y="99761"/>
                  <a:pt x="81123" y="95110"/>
                </a:cubicBezTo>
                <a:lnTo>
                  <a:pt x="81123" y="55947"/>
                </a:lnTo>
                <a:cubicBezTo>
                  <a:pt x="81123" y="51297"/>
                  <a:pt x="84865" y="47555"/>
                  <a:pt x="89515" y="47555"/>
                </a:cubicBezTo>
                <a:close/>
                <a:moveTo>
                  <a:pt x="80179" y="123084"/>
                </a:moveTo>
                <a:cubicBezTo>
                  <a:pt x="79967" y="119618"/>
                  <a:pt x="81695" y="116321"/>
                  <a:pt x="84666" y="114524"/>
                </a:cubicBezTo>
                <a:cubicBezTo>
                  <a:pt x="87637" y="112727"/>
                  <a:pt x="91359" y="112727"/>
                  <a:pt x="94330" y="114524"/>
                </a:cubicBezTo>
                <a:cubicBezTo>
                  <a:pt x="97301" y="116321"/>
                  <a:pt x="99029" y="119618"/>
                  <a:pt x="98817" y="123084"/>
                </a:cubicBezTo>
                <a:cubicBezTo>
                  <a:pt x="99029" y="126549"/>
                  <a:pt x="97301" y="129846"/>
                  <a:pt x="94330" y="131643"/>
                </a:cubicBezTo>
                <a:cubicBezTo>
                  <a:pt x="91359" y="133440"/>
                  <a:pt x="87637" y="133440"/>
                  <a:pt x="84666" y="131643"/>
                </a:cubicBezTo>
                <a:cubicBezTo>
                  <a:pt x="81695" y="129846"/>
                  <a:pt x="79967" y="126549"/>
                  <a:pt x="80179" y="123084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47" name="Text 45"/>
          <p:cNvSpPr/>
          <p:nvPr/>
        </p:nvSpPr>
        <p:spPr>
          <a:xfrm>
            <a:off x="6658940" y="5758302"/>
            <a:ext cx="1002573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Risk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27733" y="6080558"/>
            <a:ext cx="5433586" cy="465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intervention, continued RPU decline will </a:t>
            </a:r>
            <a:pPr>
              <a:lnSpc>
                <a:spcPct val="140000"/>
              </a:lnSpc>
            </a:pPr>
            <a:r>
              <a:rPr lang="en-US" sz="1128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negate subscriber growth benefits</a:t>
            </a:r>
            <a:pPr>
              <a:lnSpc>
                <a:spcPct val="140000"/>
              </a:lnSpc>
            </a:pPr>
            <a:r>
              <a:rPr lang="en-US" sz="112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leading to flat or declining total revenue and potential cash flow challenges.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5672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spc="48" kern="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GOALS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591760"/>
            <a:ext cx="11704668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9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8094" y="1166116"/>
            <a:ext cx="3350407" cy="1879709"/>
          </a:xfrm>
          <a:custGeom>
            <a:avLst/>
            <a:gdLst/>
            <a:ahLst/>
            <a:cxnLst/>
            <a:rect l="l" t="t" r="r" b="b"/>
            <a:pathLst>
              <a:path w="3350407" h="1879709">
                <a:moveTo>
                  <a:pt x="34809" y="0"/>
                </a:moveTo>
                <a:lnTo>
                  <a:pt x="3315597" y="0"/>
                </a:lnTo>
                <a:cubicBezTo>
                  <a:pt x="3334822" y="0"/>
                  <a:pt x="3350407" y="15585"/>
                  <a:pt x="3350407" y="34809"/>
                </a:cubicBezTo>
                <a:lnTo>
                  <a:pt x="3350407" y="1810084"/>
                </a:lnTo>
                <a:cubicBezTo>
                  <a:pt x="3350407" y="1848511"/>
                  <a:pt x="3319209" y="1879709"/>
                  <a:pt x="3280782" y="1879709"/>
                </a:cubicBezTo>
                <a:lnTo>
                  <a:pt x="69624" y="1879709"/>
                </a:lnTo>
                <a:cubicBezTo>
                  <a:pt x="31172" y="1879709"/>
                  <a:pt x="0" y="1848537"/>
                  <a:pt x="0" y="1810084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214" dist="34809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8094" y="1166116"/>
            <a:ext cx="3350407" cy="34809"/>
          </a:xfrm>
          <a:custGeom>
            <a:avLst/>
            <a:gdLst/>
            <a:ahLst/>
            <a:cxnLst/>
            <a:rect l="l" t="t" r="r" b="b"/>
            <a:pathLst>
              <a:path w="3350407" h="34809">
                <a:moveTo>
                  <a:pt x="34809" y="0"/>
                </a:moveTo>
                <a:lnTo>
                  <a:pt x="3315597" y="0"/>
                </a:lnTo>
                <a:cubicBezTo>
                  <a:pt x="3334822" y="0"/>
                  <a:pt x="3350407" y="15585"/>
                  <a:pt x="3350407" y="34809"/>
                </a:cubicBezTo>
                <a:lnTo>
                  <a:pt x="3350407" y="34809"/>
                </a:lnTo>
                <a:lnTo>
                  <a:pt x="0" y="34809"/>
                </a:ln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522141" y="1357567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78630" y="1357567"/>
            <a:ext cx="504737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4283" y="1444591"/>
            <a:ext cx="2053756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Revenue Patterns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2141" y="1879709"/>
            <a:ext cx="3071931" cy="905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subscription lifecycle stages and revenue distribution across user segments to understand where revenue concentration exists and where it is declining.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38283" y="1166116"/>
            <a:ext cx="3350407" cy="1879709"/>
          </a:xfrm>
          <a:custGeom>
            <a:avLst/>
            <a:gdLst/>
            <a:ahLst/>
            <a:cxnLst/>
            <a:rect l="l" t="t" r="r" b="b"/>
            <a:pathLst>
              <a:path w="3350407" h="1879709">
                <a:moveTo>
                  <a:pt x="34809" y="0"/>
                </a:moveTo>
                <a:lnTo>
                  <a:pt x="3315597" y="0"/>
                </a:lnTo>
                <a:cubicBezTo>
                  <a:pt x="3334822" y="0"/>
                  <a:pt x="3350407" y="15585"/>
                  <a:pt x="3350407" y="34809"/>
                </a:cubicBezTo>
                <a:lnTo>
                  <a:pt x="3350407" y="1810084"/>
                </a:lnTo>
                <a:cubicBezTo>
                  <a:pt x="3350407" y="1848511"/>
                  <a:pt x="3319209" y="1879709"/>
                  <a:pt x="3280782" y="1879709"/>
                </a:cubicBezTo>
                <a:lnTo>
                  <a:pt x="69624" y="1879709"/>
                </a:lnTo>
                <a:cubicBezTo>
                  <a:pt x="31172" y="1879709"/>
                  <a:pt x="0" y="1848537"/>
                  <a:pt x="0" y="1810084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214" dist="34809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38283" y="1166116"/>
            <a:ext cx="3350407" cy="34809"/>
          </a:xfrm>
          <a:custGeom>
            <a:avLst/>
            <a:gdLst/>
            <a:ahLst/>
            <a:cxnLst/>
            <a:rect l="l" t="t" r="r" b="b"/>
            <a:pathLst>
              <a:path w="3350407" h="34809">
                <a:moveTo>
                  <a:pt x="34809" y="0"/>
                </a:moveTo>
                <a:lnTo>
                  <a:pt x="3315597" y="0"/>
                </a:lnTo>
                <a:cubicBezTo>
                  <a:pt x="3334822" y="0"/>
                  <a:pt x="3350407" y="15585"/>
                  <a:pt x="3350407" y="34809"/>
                </a:cubicBezTo>
                <a:lnTo>
                  <a:pt x="3350407" y="34809"/>
                </a:lnTo>
                <a:lnTo>
                  <a:pt x="0" y="34809"/>
                </a:ln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12" name="Shape 10"/>
          <p:cNvSpPr/>
          <p:nvPr/>
        </p:nvSpPr>
        <p:spPr>
          <a:xfrm>
            <a:off x="4012330" y="1357567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3968818" y="1357567"/>
            <a:ext cx="504737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34471" y="1444591"/>
            <a:ext cx="152291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Churn Risk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12330" y="1879709"/>
            <a:ext cx="3071931" cy="905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 early warning signals of subscription cancellations through engagement metrics, payment patterns, and usage behavior to enable proactive intervention.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8094" y="3200946"/>
            <a:ext cx="3350407" cy="1879709"/>
          </a:xfrm>
          <a:custGeom>
            <a:avLst/>
            <a:gdLst/>
            <a:ahLst/>
            <a:cxnLst/>
            <a:rect l="l" t="t" r="r" b="b"/>
            <a:pathLst>
              <a:path w="3350407" h="1879709">
                <a:moveTo>
                  <a:pt x="34809" y="0"/>
                </a:moveTo>
                <a:lnTo>
                  <a:pt x="3315597" y="0"/>
                </a:lnTo>
                <a:cubicBezTo>
                  <a:pt x="3334822" y="0"/>
                  <a:pt x="3350407" y="15585"/>
                  <a:pt x="3350407" y="34809"/>
                </a:cubicBezTo>
                <a:lnTo>
                  <a:pt x="3350407" y="1810084"/>
                </a:lnTo>
                <a:cubicBezTo>
                  <a:pt x="3350407" y="1848511"/>
                  <a:pt x="3319209" y="1879709"/>
                  <a:pt x="3280782" y="1879709"/>
                </a:cubicBezTo>
                <a:lnTo>
                  <a:pt x="69624" y="1879709"/>
                </a:lnTo>
                <a:cubicBezTo>
                  <a:pt x="31172" y="1879709"/>
                  <a:pt x="0" y="1848537"/>
                  <a:pt x="0" y="1810084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214" dist="34809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8094" y="3200946"/>
            <a:ext cx="3350407" cy="34809"/>
          </a:xfrm>
          <a:custGeom>
            <a:avLst/>
            <a:gdLst/>
            <a:ahLst/>
            <a:cxnLst/>
            <a:rect l="l" t="t" r="r" b="b"/>
            <a:pathLst>
              <a:path w="3350407" h="34809">
                <a:moveTo>
                  <a:pt x="34809" y="0"/>
                </a:moveTo>
                <a:lnTo>
                  <a:pt x="3315597" y="0"/>
                </a:lnTo>
                <a:cubicBezTo>
                  <a:pt x="3334822" y="0"/>
                  <a:pt x="3350407" y="15585"/>
                  <a:pt x="3350407" y="34809"/>
                </a:cubicBezTo>
                <a:lnTo>
                  <a:pt x="3350407" y="34809"/>
                </a:lnTo>
                <a:lnTo>
                  <a:pt x="0" y="34809"/>
                </a:ln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18" name="Shape 16"/>
          <p:cNvSpPr/>
          <p:nvPr/>
        </p:nvSpPr>
        <p:spPr>
          <a:xfrm>
            <a:off x="522141" y="3392397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478630" y="3392397"/>
            <a:ext cx="504737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44283" y="3479421"/>
            <a:ext cx="204505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 Pricing Strategy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2141" y="3914539"/>
            <a:ext cx="3071931" cy="905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 tier performance, upgrade/downgrade patterns, and price elasticity to validate current pricing and recommend adjustments for revenue maximization.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38283" y="3200946"/>
            <a:ext cx="3350407" cy="1879709"/>
          </a:xfrm>
          <a:custGeom>
            <a:avLst/>
            <a:gdLst/>
            <a:ahLst/>
            <a:cxnLst/>
            <a:rect l="l" t="t" r="r" b="b"/>
            <a:pathLst>
              <a:path w="3350407" h="1879709">
                <a:moveTo>
                  <a:pt x="34809" y="0"/>
                </a:moveTo>
                <a:lnTo>
                  <a:pt x="3315597" y="0"/>
                </a:lnTo>
                <a:cubicBezTo>
                  <a:pt x="3334822" y="0"/>
                  <a:pt x="3350407" y="15585"/>
                  <a:pt x="3350407" y="34809"/>
                </a:cubicBezTo>
                <a:lnTo>
                  <a:pt x="3350407" y="1810084"/>
                </a:lnTo>
                <a:cubicBezTo>
                  <a:pt x="3350407" y="1848511"/>
                  <a:pt x="3319209" y="1879709"/>
                  <a:pt x="3280782" y="1879709"/>
                </a:cubicBezTo>
                <a:lnTo>
                  <a:pt x="69624" y="1879709"/>
                </a:lnTo>
                <a:cubicBezTo>
                  <a:pt x="31172" y="1879709"/>
                  <a:pt x="0" y="1848537"/>
                  <a:pt x="0" y="1810084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214" dist="34809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38283" y="3200946"/>
            <a:ext cx="3350407" cy="34809"/>
          </a:xfrm>
          <a:custGeom>
            <a:avLst/>
            <a:gdLst/>
            <a:ahLst/>
            <a:cxnLst/>
            <a:rect l="l" t="t" r="r" b="b"/>
            <a:pathLst>
              <a:path w="3350407" h="34809">
                <a:moveTo>
                  <a:pt x="34809" y="0"/>
                </a:moveTo>
                <a:lnTo>
                  <a:pt x="3315597" y="0"/>
                </a:lnTo>
                <a:cubicBezTo>
                  <a:pt x="3334822" y="0"/>
                  <a:pt x="3350407" y="15585"/>
                  <a:pt x="3350407" y="34809"/>
                </a:cubicBezTo>
                <a:lnTo>
                  <a:pt x="3350407" y="34809"/>
                </a:lnTo>
                <a:lnTo>
                  <a:pt x="0" y="34809"/>
                </a:ln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24" name="Shape 22"/>
          <p:cNvSpPr/>
          <p:nvPr/>
        </p:nvSpPr>
        <p:spPr>
          <a:xfrm>
            <a:off x="4012330" y="3392397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3968818" y="3392397"/>
            <a:ext cx="504737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34471" y="3479421"/>
            <a:ext cx="196673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Maximize Customer LTV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12330" y="3914539"/>
            <a:ext cx="3071931" cy="905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 LTV by acquisition channel, identify high-value customer characteristics, and allocate marketing spend to channels producing highest-return customers.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8094" y="5235882"/>
            <a:ext cx="6840051" cy="1427186"/>
          </a:xfrm>
          <a:custGeom>
            <a:avLst/>
            <a:gdLst/>
            <a:ahLst/>
            <a:cxnLst/>
            <a:rect l="l" t="t" r="r" b="b"/>
            <a:pathLst>
              <a:path w="6840051" h="1427186">
                <a:moveTo>
                  <a:pt x="34809" y="0"/>
                </a:moveTo>
                <a:lnTo>
                  <a:pt x="6805242" y="0"/>
                </a:lnTo>
                <a:cubicBezTo>
                  <a:pt x="6824467" y="0"/>
                  <a:pt x="6840051" y="15585"/>
                  <a:pt x="6840051" y="34809"/>
                </a:cubicBezTo>
                <a:lnTo>
                  <a:pt x="6840051" y="1357568"/>
                </a:lnTo>
                <a:cubicBezTo>
                  <a:pt x="6840051" y="1396017"/>
                  <a:pt x="6808882" y="1427186"/>
                  <a:pt x="6770433" y="1427186"/>
                </a:cubicBezTo>
                <a:lnTo>
                  <a:pt x="69618" y="1427186"/>
                </a:lnTo>
                <a:cubicBezTo>
                  <a:pt x="31169" y="1427186"/>
                  <a:pt x="0" y="1396017"/>
                  <a:pt x="0" y="1357568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214" dist="34809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8094" y="5235882"/>
            <a:ext cx="6840051" cy="34809"/>
          </a:xfrm>
          <a:custGeom>
            <a:avLst/>
            <a:gdLst/>
            <a:ahLst/>
            <a:cxnLst/>
            <a:rect l="l" t="t" r="r" b="b"/>
            <a:pathLst>
              <a:path w="6840051" h="34809">
                <a:moveTo>
                  <a:pt x="34809" y="0"/>
                </a:moveTo>
                <a:lnTo>
                  <a:pt x="6805242" y="0"/>
                </a:lnTo>
                <a:cubicBezTo>
                  <a:pt x="6824467" y="0"/>
                  <a:pt x="6840051" y="15585"/>
                  <a:pt x="6840051" y="34809"/>
                </a:cubicBezTo>
                <a:lnTo>
                  <a:pt x="6840051" y="34809"/>
                </a:lnTo>
                <a:lnTo>
                  <a:pt x="0" y="34809"/>
                </a:ln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30" name="Shape 28"/>
          <p:cNvSpPr/>
          <p:nvPr/>
        </p:nvSpPr>
        <p:spPr>
          <a:xfrm>
            <a:off x="522141" y="5427334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31" name="Text 29"/>
          <p:cNvSpPr/>
          <p:nvPr/>
        </p:nvSpPr>
        <p:spPr>
          <a:xfrm>
            <a:off x="478630" y="5427334"/>
            <a:ext cx="504737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44283" y="5514357"/>
            <a:ext cx="318506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Retention Through Engagement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2141" y="5949475"/>
            <a:ext cx="6561576" cy="45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high-value user behaviors that correlate with long-term retention and build engagement benchmarks for onboarding optimization. Focus on activation metrics that predict 12-month retention.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28471" y="1148711"/>
            <a:ext cx="4516522" cy="3637585"/>
          </a:xfrm>
          <a:custGeom>
            <a:avLst/>
            <a:gdLst/>
            <a:ahLst/>
            <a:cxnLst/>
            <a:rect l="l" t="t" r="r" b="b"/>
            <a:pathLst>
              <a:path w="4516522" h="3637585">
                <a:moveTo>
                  <a:pt x="69623" y="0"/>
                </a:moveTo>
                <a:lnTo>
                  <a:pt x="4446899" y="0"/>
                </a:lnTo>
                <a:cubicBezTo>
                  <a:pt x="4485351" y="0"/>
                  <a:pt x="4516522" y="31171"/>
                  <a:pt x="4516522" y="69623"/>
                </a:cubicBezTo>
                <a:lnTo>
                  <a:pt x="4516522" y="3567961"/>
                </a:lnTo>
                <a:cubicBezTo>
                  <a:pt x="4516522" y="3606413"/>
                  <a:pt x="4485351" y="3637585"/>
                  <a:pt x="4446899" y="3637585"/>
                </a:cubicBezTo>
                <a:lnTo>
                  <a:pt x="69623" y="3637585"/>
                </a:lnTo>
                <a:cubicBezTo>
                  <a:pt x="31171" y="3637585"/>
                  <a:pt x="0" y="3606413"/>
                  <a:pt x="0" y="3567961"/>
                </a:cubicBezTo>
                <a:lnTo>
                  <a:pt x="0" y="69623"/>
                </a:lnTo>
                <a:cubicBezTo>
                  <a:pt x="0" y="31171"/>
                  <a:pt x="31171" y="0"/>
                  <a:pt x="69623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outerShdw sx="100000" sy="100000" kx="0" ky="0" algn="bl" rotWithShape="0" blurRad="130535" dist="87024" dir="5400000">
              <a:srgbClr val="000000">
                <a:alpha val="10196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02518" y="1322758"/>
            <a:ext cx="425545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Framework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02518" y="1705662"/>
            <a:ext cx="4168428" cy="661379"/>
          </a:xfrm>
          <a:custGeom>
            <a:avLst/>
            <a:gdLst/>
            <a:ahLst/>
            <a:cxnLst/>
            <a:rect l="l" t="t" r="r" b="b"/>
            <a:pathLst>
              <a:path w="4168428" h="661379">
                <a:moveTo>
                  <a:pt x="69617" y="0"/>
                </a:moveTo>
                <a:lnTo>
                  <a:pt x="4098812" y="0"/>
                </a:lnTo>
                <a:cubicBezTo>
                  <a:pt x="4137260" y="0"/>
                  <a:pt x="4168428" y="31168"/>
                  <a:pt x="4168428" y="69617"/>
                </a:cubicBezTo>
                <a:lnTo>
                  <a:pt x="4168428" y="591762"/>
                </a:lnTo>
                <a:cubicBezTo>
                  <a:pt x="4168428" y="630211"/>
                  <a:pt x="4137260" y="661379"/>
                  <a:pt x="4098812" y="661379"/>
                </a:cubicBezTo>
                <a:lnTo>
                  <a:pt x="69617" y="661379"/>
                </a:lnTo>
                <a:cubicBezTo>
                  <a:pt x="31168" y="661379"/>
                  <a:pt x="0" y="630211"/>
                  <a:pt x="0" y="591762"/>
                </a:cubicBezTo>
                <a:lnTo>
                  <a:pt x="0" y="69617"/>
                </a:lnTo>
                <a:cubicBezTo>
                  <a:pt x="0" y="31168"/>
                  <a:pt x="31168" y="0"/>
                  <a:pt x="6961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624351" y="1844899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63228" y="1414"/>
                </a:moveTo>
                <a:cubicBezTo>
                  <a:pt x="67280" y="-462"/>
                  <a:pt x="71958" y="-462"/>
                  <a:pt x="76010" y="1414"/>
                </a:cubicBezTo>
                <a:lnTo>
                  <a:pt x="135458" y="28881"/>
                </a:lnTo>
                <a:cubicBezTo>
                  <a:pt x="137769" y="29942"/>
                  <a:pt x="139238" y="32253"/>
                  <a:pt x="139238" y="34809"/>
                </a:cubicBezTo>
                <a:cubicBezTo>
                  <a:pt x="139238" y="37366"/>
                  <a:pt x="137769" y="39677"/>
                  <a:pt x="135458" y="40738"/>
                </a:cubicBezTo>
                <a:lnTo>
                  <a:pt x="76010" y="68205"/>
                </a:lnTo>
                <a:cubicBezTo>
                  <a:pt x="71958" y="70081"/>
                  <a:pt x="67280" y="70081"/>
                  <a:pt x="63228" y="68205"/>
                </a:cubicBezTo>
                <a:lnTo>
                  <a:pt x="3780" y="40738"/>
                </a:lnTo>
                <a:cubicBezTo>
                  <a:pt x="1469" y="39650"/>
                  <a:pt x="0" y="37339"/>
                  <a:pt x="0" y="34809"/>
                </a:cubicBezTo>
                <a:cubicBezTo>
                  <a:pt x="0" y="32280"/>
                  <a:pt x="1469" y="29942"/>
                  <a:pt x="3780" y="28881"/>
                </a:cubicBezTo>
                <a:lnTo>
                  <a:pt x="63228" y="1414"/>
                </a:lnTo>
                <a:close/>
                <a:moveTo>
                  <a:pt x="13081" y="59394"/>
                </a:moveTo>
                <a:lnTo>
                  <a:pt x="57762" y="80034"/>
                </a:lnTo>
                <a:cubicBezTo>
                  <a:pt x="65295" y="83515"/>
                  <a:pt x="73970" y="83515"/>
                  <a:pt x="81503" y="80034"/>
                </a:cubicBezTo>
                <a:lnTo>
                  <a:pt x="126184" y="59394"/>
                </a:lnTo>
                <a:lnTo>
                  <a:pt x="135458" y="63690"/>
                </a:lnTo>
                <a:cubicBezTo>
                  <a:pt x="137769" y="64751"/>
                  <a:pt x="139238" y="67063"/>
                  <a:pt x="139238" y="69619"/>
                </a:cubicBezTo>
                <a:cubicBezTo>
                  <a:pt x="139238" y="72175"/>
                  <a:pt x="137769" y="74487"/>
                  <a:pt x="135458" y="75547"/>
                </a:cubicBezTo>
                <a:lnTo>
                  <a:pt x="76010" y="103014"/>
                </a:lnTo>
                <a:cubicBezTo>
                  <a:pt x="71958" y="104891"/>
                  <a:pt x="67280" y="104891"/>
                  <a:pt x="63228" y="103014"/>
                </a:cubicBezTo>
                <a:lnTo>
                  <a:pt x="3780" y="75547"/>
                </a:lnTo>
                <a:cubicBezTo>
                  <a:pt x="1469" y="74460"/>
                  <a:pt x="0" y="72148"/>
                  <a:pt x="0" y="69619"/>
                </a:cubicBezTo>
                <a:cubicBezTo>
                  <a:pt x="0" y="67090"/>
                  <a:pt x="1469" y="64751"/>
                  <a:pt x="3780" y="63690"/>
                </a:cubicBezTo>
                <a:lnTo>
                  <a:pt x="13054" y="59394"/>
                </a:lnTo>
                <a:close/>
                <a:moveTo>
                  <a:pt x="3780" y="98500"/>
                </a:moveTo>
                <a:lnTo>
                  <a:pt x="13054" y="94203"/>
                </a:lnTo>
                <a:lnTo>
                  <a:pt x="57735" y="114844"/>
                </a:lnTo>
                <a:cubicBezTo>
                  <a:pt x="65268" y="118325"/>
                  <a:pt x="73943" y="118325"/>
                  <a:pt x="81476" y="114844"/>
                </a:cubicBezTo>
                <a:lnTo>
                  <a:pt x="126157" y="94203"/>
                </a:lnTo>
                <a:lnTo>
                  <a:pt x="135430" y="98500"/>
                </a:lnTo>
                <a:cubicBezTo>
                  <a:pt x="137742" y="99560"/>
                  <a:pt x="139210" y="101872"/>
                  <a:pt x="139210" y="104428"/>
                </a:cubicBezTo>
                <a:cubicBezTo>
                  <a:pt x="139210" y="106985"/>
                  <a:pt x="137742" y="109296"/>
                  <a:pt x="135430" y="110357"/>
                </a:cubicBezTo>
                <a:lnTo>
                  <a:pt x="75982" y="137824"/>
                </a:lnTo>
                <a:cubicBezTo>
                  <a:pt x="71930" y="139700"/>
                  <a:pt x="67253" y="139700"/>
                  <a:pt x="63201" y="137824"/>
                </a:cubicBezTo>
                <a:lnTo>
                  <a:pt x="3780" y="110357"/>
                </a:lnTo>
                <a:cubicBezTo>
                  <a:pt x="1469" y="109269"/>
                  <a:pt x="0" y="106957"/>
                  <a:pt x="0" y="104428"/>
                </a:cubicBezTo>
                <a:cubicBezTo>
                  <a:pt x="0" y="101899"/>
                  <a:pt x="1469" y="99560"/>
                  <a:pt x="3780" y="98500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38" name="Text 36"/>
          <p:cNvSpPr/>
          <p:nvPr/>
        </p:nvSpPr>
        <p:spPr>
          <a:xfrm>
            <a:off x="7850612" y="1810090"/>
            <a:ext cx="103558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1: Basic SQL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06946" y="2088565"/>
            <a:ext cx="402048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 queries for baseline metrics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02518" y="2471469"/>
            <a:ext cx="4168428" cy="661379"/>
          </a:xfrm>
          <a:custGeom>
            <a:avLst/>
            <a:gdLst/>
            <a:ahLst/>
            <a:cxnLst/>
            <a:rect l="l" t="t" r="r" b="b"/>
            <a:pathLst>
              <a:path w="4168428" h="661379">
                <a:moveTo>
                  <a:pt x="69617" y="0"/>
                </a:moveTo>
                <a:lnTo>
                  <a:pt x="4098812" y="0"/>
                </a:lnTo>
                <a:cubicBezTo>
                  <a:pt x="4137260" y="0"/>
                  <a:pt x="4168428" y="31168"/>
                  <a:pt x="4168428" y="69617"/>
                </a:cubicBezTo>
                <a:lnTo>
                  <a:pt x="4168428" y="591762"/>
                </a:lnTo>
                <a:cubicBezTo>
                  <a:pt x="4168428" y="630211"/>
                  <a:pt x="4137260" y="661379"/>
                  <a:pt x="4098812" y="661379"/>
                </a:cubicBezTo>
                <a:lnTo>
                  <a:pt x="69617" y="661379"/>
                </a:lnTo>
                <a:cubicBezTo>
                  <a:pt x="31168" y="661379"/>
                  <a:pt x="0" y="630211"/>
                  <a:pt x="0" y="591762"/>
                </a:cubicBezTo>
                <a:lnTo>
                  <a:pt x="0" y="69617"/>
                </a:lnTo>
                <a:cubicBezTo>
                  <a:pt x="0" y="31168"/>
                  <a:pt x="31168" y="0"/>
                  <a:pt x="6961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624351" y="2610707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17405" y="17405"/>
                </a:moveTo>
                <a:cubicBezTo>
                  <a:pt x="17405" y="12591"/>
                  <a:pt x="13516" y="8702"/>
                  <a:pt x="8702" y="8702"/>
                </a:cubicBezTo>
                <a:cubicBezTo>
                  <a:pt x="3889" y="8702"/>
                  <a:pt x="0" y="12591"/>
                  <a:pt x="0" y="17405"/>
                </a:cubicBezTo>
                <a:lnTo>
                  <a:pt x="0" y="108779"/>
                </a:lnTo>
                <a:cubicBezTo>
                  <a:pt x="0" y="120800"/>
                  <a:pt x="9736" y="130535"/>
                  <a:pt x="21756" y="130535"/>
                </a:cubicBezTo>
                <a:lnTo>
                  <a:pt x="130535" y="130535"/>
                </a:lnTo>
                <a:cubicBezTo>
                  <a:pt x="135349" y="130535"/>
                  <a:pt x="139238" y="126646"/>
                  <a:pt x="139238" y="121833"/>
                </a:cubicBezTo>
                <a:cubicBezTo>
                  <a:pt x="139238" y="117019"/>
                  <a:pt x="135349" y="113131"/>
                  <a:pt x="130535" y="113131"/>
                </a:cubicBezTo>
                <a:lnTo>
                  <a:pt x="21756" y="113131"/>
                </a:lnTo>
                <a:cubicBezTo>
                  <a:pt x="19363" y="113131"/>
                  <a:pt x="17405" y="111173"/>
                  <a:pt x="17405" y="108779"/>
                </a:cubicBezTo>
                <a:lnTo>
                  <a:pt x="17405" y="17405"/>
                </a:lnTo>
                <a:close/>
                <a:moveTo>
                  <a:pt x="127979" y="40955"/>
                </a:moveTo>
                <a:cubicBezTo>
                  <a:pt x="131378" y="37556"/>
                  <a:pt x="131378" y="32036"/>
                  <a:pt x="127979" y="28636"/>
                </a:cubicBezTo>
                <a:cubicBezTo>
                  <a:pt x="124580" y="25237"/>
                  <a:pt x="119059" y="25237"/>
                  <a:pt x="115660" y="28636"/>
                </a:cubicBezTo>
                <a:lnTo>
                  <a:pt x="87024" y="57300"/>
                </a:lnTo>
                <a:lnTo>
                  <a:pt x="71414" y="41717"/>
                </a:lnTo>
                <a:cubicBezTo>
                  <a:pt x="68014" y="38318"/>
                  <a:pt x="62494" y="38318"/>
                  <a:pt x="59094" y="41717"/>
                </a:cubicBezTo>
                <a:lnTo>
                  <a:pt x="32987" y="67824"/>
                </a:lnTo>
                <a:cubicBezTo>
                  <a:pt x="29588" y="71223"/>
                  <a:pt x="29588" y="76744"/>
                  <a:pt x="32987" y="80143"/>
                </a:cubicBezTo>
                <a:cubicBezTo>
                  <a:pt x="36387" y="83543"/>
                  <a:pt x="41907" y="83543"/>
                  <a:pt x="45307" y="80143"/>
                </a:cubicBezTo>
                <a:lnTo>
                  <a:pt x="65268" y="60182"/>
                </a:lnTo>
                <a:lnTo>
                  <a:pt x="80878" y="75792"/>
                </a:lnTo>
                <a:cubicBezTo>
                  <a:pt x="84277" y="79191"/>
                  <a:pt x="89797" y="79191"/>
                  <a:pt x="93197" y="75792"/>
                </a:cubicBezTo>
                <a:lnTo>
                  <a:pt x="128006" y="40983"/>
                </a:ln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42" name="Text 40"/>
          <p:cNvSpPr/>
          <p:nvPr/>
        </p:nvSpPr>
        <p:spPr>
          <a:xfrm>
            <a:off x="7850612" y="2575897"/>
            <a:ext cx="123573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2: Intermediate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606946" y="2854373"/>
            <a:ext cx="402048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 functions, CTEs, cohort analysis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02518" y="3237276"/>
            <a:ext cx="4168428" cy="661379"/>
          </a:xfrm>
          <a:custGeom>
            <a:avLst/>
            <a:gdLst/>
            <a:ahLst/>
            <a:cxnLst/>
            <a:rect l="l" t="t" r="r" b="b"/>
            <a:pathLst>
              <a:path w="4168428" h="661379">
                <a:moveTo>
                  <a:pt x="69617" y="0"/>
                </a:moveTo>
                <a:lnTo>
                  <a:pt x="4098812" y="0"/>
                </a:lnTo>
                <a:cubicBezTo>
                  <a:pt x="4137260" y="0"/>
                  <a:pt x="4168428" y="31168"/>
                  <a:pt x="4168428" y="69617"/>
                </a:cubicBezTo>
                <a:lnTo>
                  <a:pt x="4168428" y="591762"/>
                </a:lnTo>
                <a:cubicBezTo>
                  <a:pt x="4168428" y="630211"/>
                  <a:pt x="4137260" y="661379"/>
                  <a:pt x="4098812" y="661379"/>
                </a:cubicBezTo>
                <a:lnTo>
                  <a:pt x="69617" y="661379"/>
                </a:lnTo>
                <a:cubicBezTo>
                  <a:pt x="31168" y="661379"/>
                  <a:pt x="0" y="630211"/>
                  <a:pt x="0" y="591762"/>
                </a:cubicBezTo>
                <a:lnTo>
                  <a:pt x="0" y="69617"/>
                </a:lnTo>
                <a:cubicBezTo>
                  <a:pt x="0" y="31168"/>
                  <a:pt x="31168" y="0"/>
                  <a:pt x="6961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624351" y="3376514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32634" y="15229"/>
                </a:moveTo>
                <a:cubicBezTo>
                  <a:pt x="32634" y="6826"/>
                  <a:pt x="39460" y="0"/>
                  <a:pt x="47863" y="0"/>
                </a:cubicBezTo>
                <a:lnTo>
                  <a:pt x="54390" y="0"/>
                </a:lnTo>
                <a:cubicBezTo>
                  <a:pt x="59203" y="0"/>
                  <a:pt x="63092" y="3889"/>
                  <a:pt x="63092" y="8702"/>
                </a:cubicBezTo>
                <a:lnTo>
                  <a:pt x="63092" y="130535"/>
                </a:lnTo>
                <a:cubicBezTo>
                  <a:pt x="63092" y="135349"/>
                  <a:pt x="59203" y="139238"/>
                  <a:pt x="54390" y="139238"/>
                </a:cubicBezTo>
                <a:lnTo>
                  <a:pt x="45687" y="139238"/>
                </a:lnTo>
                <a:cubicBezTo>
                  <a:pt x="37583" y="139238"/>
                  <a:pt x="30757" y="133690"/>
                  <a:pt x="28827" y="126184"/>
                </a:cubicBezTo>
                <a:cubicBezTo>
                  <a:pt x="28636" y="126184"/>
                  <a:pt x="28473" y="126184"/>
                  <a:pt x="28283" y="126184"/>
                </a:cubicBezTo>
                <a:cubicBezTo>
                  <a:pt x="16263" y="126184"/>
                  <a:pt x="6527" y="116448"/>
                  <a:pt x="6527" y="104428"/>
                </a:cubicBezTo>
                <a:cubicBezTo>
                  <a:pt x="6527" y="99533"/>
                  <a:pt x="8158" y="95019"/>
                  <a:pt x="10878" y="91375"/>
                </a:cubicBezTo>
                <a:cubicBezTo>
                  <a:pt x="5602" y="87404"/>
                  <a:pt x="2176" y="81095"/>
                  <a:pt x="2176" y="73970"/>
                </a:cubicBezTo>
                <a:cubicBezTo>
                  <a:pt x="2176" y="65567"/>
                  <a:pt x="6962" y="58251"/>
                  <a:pt x="13924" y="54634"/>
                </a:cubicBezTo>
                <a:cubicBezTo>
                  <a:pt x="11993" y="51371"/>
                  <a:pt x="10878" y="47564"/>
                  <a:pt x="10878" y="43512"/>
                </a:cubicBezTo>
                <a:cubicBezTo>
                  <a:pt x="10878" y="31492"/>
                  <a:pt x="20614" y="21756"/>
                  <a:pt x="32634" y="21756"/>
                </a:cubicBezTo>
                <a:lnTo>
                  <a:pt x="32634" y="15229"/>
                </a:lnTo>
                <a:close/>
                <a:moveTo>
                  <a:pt x="106604" y="15229"/>
                </a:moveTo>
                <a:lnTo>
                  <a:pt x="106604" y="21756"/>
                </a:lnTo>
                <a:cubicBezTo>
                  <a:pt x="118624" y="21756"/>
                  <a:pt x="128360" y="31492"/>
                  <a:pt x="128360" y="43512"/>
                </a:cubicBezTo>
                <a:cubicBezTo>
                  <a:pt x="128360" y="47591"/>
                  <a:pt x="127245" y="51398"/>
                  <a:pt x="125314" y="54634"/>
                </a:cubicBezTo>
                <a:cubicBezTo>
                  <a:pt x="132303" y="58251"/>
                  <a:pt x="137062" y="65540"/>
                  <a:pt x="137062" y="73970"/>
                </a:cubicBezTo>
                <a:cubicBezTo>
                  <a:pt x="137062" y="81095"/>
                  <a:pt x="133636" y="87404"/>
                  <a:pt x="128360" y="91375"/>
                </a:cubicBezTo>
                <a:cubicBezTo>
                  <a:pt x="131079" y="95019"/>
                  <a:pt x="132711" y="99533"/>
                  <a:pt x="132711" y="104428"/>
                </a:cubicBezTo>
                <a:cubicBezTo>
                  <a:pt x="132711" y="116448"/>
                  <a:pt x="122975" y="126184"/>
                  <a:pt x="110955" y="126184"/>
                </a:cubicBezTo>
                <a:cubicBezTo>
                  <a:pt x="110765" y="126184"/>
                  <a:pt x="110601" y="126184"/>
                  <a:pt x="110411" y="126184"/>
                </a:cubicBezTo>
                <a:cubicBezTo>
                  <a:pt x="108480" y="133690"/>
                  <a:pt x="101654" y="139238"/>
                  <a:pt x="93550" y="139238"/>
                </a:cubicBezTo>
                <a:lnTo>
                  <a:pt x="84848" y="139238"/>
                </a:lnTo>
                <a:cubicBezTo>
                  <a:pt x="80034" y="139238"/>
                  <a:pt x="76146" y="135349"/>
                  <a:pt x="76146" y="130535"/>
                </a:cubicBezTo>
                <a:lnTo>
                  <a:pt x="76146" y="8702"/>
                </a:lnTo>
                <a:cubicBezTo>
                  <a:pt x="76146" y="3889"/>
                  <a:pt x="80034" y="0"/>
                  <a:pt x="84848" y="0"/>
                </a:cubicBezTo>
                <a:lnTo>
                  <a:pt x="91375" y="0"/>
                </a:lnTo>
                <a:cubicBezTo>
                  <a:pt x="99778" y="0"/>
                  <a:pt x="106604" y="6826"/>
                  <a:pt x="106604" y="15229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46" name="Text 44"/>
          <p:cNvSpPr/>
          <p:nvPr/>
        </p:nvSpPr>
        <p:spPr>
          <a:xfrm>
            <a:off x="7850612" y="3341704"/>
            <a:ext cx="107909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3: Advanced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606946" y="3620180"/>
            <a:ext cx="402048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modeling, risk scoring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345876" y="4921182"/>
            <a:ext cx="4499118" cy="1740471"/>
          </a:xfrm>
          <a:custGeom>
            <a:avLst/>
            <a:gdLst/>
            <a:ahLst/>
            <a:cxnLst/>
            <a:rect l="l" t="t" r="r" b="b"/>
            <a:pathLst>
              <a:path w="4499118" h="1740471">
                <a:moveTo>
                  <a:pt x="34809" y="0"/>
                </a:moveTo>
                <a:lnTo>
                  <a:pt x="4429499" y="0"/>
                </a:lnTo>
                <a:cubicBezTo>
                  <a:pt x="4467948" y="0"/>
                  <a:pt x="4499118" y="31169"/>
                  <a:pt x="4499118" y="69619"/>
                </a:cubicBezTo>
                <a:lnTo>
                  <a:pt x="4499118" y="1670852"/>
                </a:lnTo>
                <a:cubicBezTo>
                  <a:pt x="4499118" y="1709302"/>
                  <a:pt x="4467948" y="1740471"/>
                  <a:pt x="4429499" y="1740471"/>
                </a:cubicBezTo>
                <a:lnTo>
                  <a:pt x="34809" y="1740471"/>
                </a:lnTo>
                <a:cubicBezTo>
                  <a:pt x="15585" y="1740471"/>
                  <a:pt x="0" y="1724886"/>
                  <a:pt x="0" y="1705662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214" dist="34809" dir="540000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345876" y="4921182"/>
            <a:ext cx="34809" cy="1740471"/>
          </a:xfrm>
          <a:custGeom>
            <a:avLst/>
            <a:gdLst/>
            <a:ahLst/>
            <a:cxnLst/>
            <a:rect l="l" t="t" r="r" b="b"/>
            <a:pathLst>
              <a:path w="34809" h="1740471">
                <a:moveTo>
                  <a:pt x="34809" y="0"/>
                </a:moveTo>
                <a:lnTo>
                  <a:pt x="34809" y="0"/>
                </a:lnTo>
                <a:lnTo>
                  <a:pt x="34809" y="1740471"/>
                </a:lnTo>
                <a:lnTo>
                  <a:pt x="34809" y="1740471"/>
                </a:lnTo>
                <a:cubicBezTo>
                  <a:pt x="15585" y="1740471"/>
                  <a:pt x="0" y="1724886"/>
                  <a:pt x="0" y="1705662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50" name="Text 48"/>
          <p:cNvSpPr/>
          <p:nvPr/>
        </p:nvSpPr>
        <p:spPr>
          <a:xfrm>
            <a:off x="7537328" y="5095229"/>
            <a:ext cx="421194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63435" y="5478133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52" name="Text 50"/>
          <p:cNvSpPr/>
          <p:nvPr/>
        </p:nvSpPr>
        <p:spPr>
          <a:xfrm>
            <a:off x="7780994" y="5443323"/>
            <a:ext cx="250627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Data-backed answers for board meeting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563435" y="5756608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54" name="Text 52"/>
          <p:cNvSpPr/>
          <p:nvPr/>
        </p:nvSpPr>
        <p:spPr>
          <a:xfrm>
            <a:off x="7780994" y="5721799"/>
            <a:ext cx="189711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retention strategies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63435" y="6035084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56" name="Text 54"/>
          <p:cNvSpPr/>
          <p:nvPr/>
        </p:nvSpPr>
        <p:spPr>
          <a:xfrm>
            <a:off x="7780994" y="6000274"/>
            <a:ext cx="174047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recovery roadmap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563435" y="6313559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58" name="Text 56"/>
          <p:cNvSpPr/>
          <p:nvPr/>
        </p:nvSpPr>
        <p:spPr>
          <a:xfrm>
            <a:off x="7780994" y="6278749"/>
            <a:ext cx="1609936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alerting system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183" y="328183"/>
            <a:ext cx="1159306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spc="45" kern="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8183" y="557911"/>
            <a:ext cx="11732544" cy="39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01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&amp; Analytical Approach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8183" y="1083004"/>
            <a:ext cx="5685771" cy="3232603"/>
          </a:xfrm>
          <a:custGeom>
            <a:avLst/>
            <a:gdLst/>
            <a:ahLst/>
            <a:cxnLst/>
            <a:rect l="l" t="t" r="r" b="b"/>
            <a:pathLst>
              <a:path w="5685771" h="3232603">
                <a:moveTo>
                  <a:pt x="65622" y="0"/>
                </a:moveTo>
                <a:lnTo>
                  <a:pt x="5620149" y="0"/>
                </a:lnTo>
                <a:cubicBezTo>
                  <a:pt x="5656391" y="0"/>
                  <a:pt x="5685771" y="29380"/>
                  <a:pt x="5685771" y="65622"/>
                </a:cubicBezTo>
                <a:lnTo>
                  <a:pt x="5685771" y="3166981"/>
                </a:lnTo>
                <a:cubicBezTo>
                  <a:pt x="5685771" y="3203223"/>
                  <a:pt x="5656391" y="3232603"/>
                  <a:pt x="5620149" y="3232603"/>
                </a:cubicBezTo>
                <a:lnTo>
                  <a:pt x="65622" y="3232603"/>
                </a:lnTo>
                <a:cubicBezTo>
                  <a:pt x="29380" y="3232603"/>
                  <a:pt x="0" y="3203223"/>
                  <a:pt x="0" y="3166981"/>
                </a:cubicBezTo>
                <a:lnTo>
                  <a:pt x="0" y="65622"/>
                </a:lnTo>
                <a:cubicBezTo>
                  <a:pt x="0" y="29380"/>
                  <a:pt x="29380" y="0"/>
                  <a:pt x="6562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9227" dist="32818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2275" y="1247096"/>
            <a:ext cx="5439634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838" y="1614661"/>
            <a:ext cx="2613978" cy="800767"/>
          </a:xfrm>
          <a:custGeom>
            <a:avLst/>
            <a:gdLst/>
            <a:ahLst/>
            <a:cxnLst/>
            <a:rect l="l" t="t" r="r" b="b"/>
            <a:pathLst>
              <a:path w="2613978" h="800767">
                <a:moveTo>
                  <a:pt x="65639" y="0"/>
                </a:moveTo>
                <a:lnTo>
                  <a:pt x="2548339" y="0"/>
                </a:lnTo>
                <a:cubicBezTo>
                  <a:pt x="2584590" y="0"/>
                  <a:pt x="2613978" y="29388"/>
                  <a:pt x="2613978" y="65639"/>
                </a:cubicBezTo>
                <a:lnTo>
                  <a:pt x="2613978" y="735128"/>
                </a:lnTo>
                <a:cubicBezTo>
                  <a:pt x="2613978" y="771379"/>
                  <a:pt x="2584590" y="800767"/>
                  <a:pt x="2548339" y="800767"/>
                </a:cubicBezTo>
                <a:lnTo>
                  <a:pt x="65639" y="800767"/>
                </a:lnTo>
                <a:cubicBezTo>
                  <a:pt x="29388" y="800767"/>
                  <a:pt x="0" y="771379"/>
                  <a:pt x="0" y="735128"/>
                </a:cubicBezTo>
                <a:lnTo>
                  <a:pt x="0" y="65639"/>
                </a:lnTo>
                <a:cubicBezTo>
                  <a:pt x="0" y="29412"/>
                  <a:pt x="29412" y="0"/>
                  <a:pt x="65639" y="0"/>
                </a:cubicBezTo>
                <a:close/>
              </a:path>
            </a:pathLst>
          </a:custGeom>
          <a:solidFill>
            <a:srgbClr val="F8F9FA"/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834" y="1752498"/>
            <a:ext cx="2485987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26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7959" y="2113500"/>
            <a:ext cx="239573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27270" y="1614661"/>
            <a:ext cx="2613978" cy="800767"/>
          </a:xfrm>
          <a:custGeom>
            <a:avLst/>
            <a:gdLst/>
            <a:ahLst/>
            <a:cxnLst/>
            <a:rect l="l" t="t" r="r" b="b"/>
            <a:pathLst>
              <a:path w="2613978" h="800767">
                <a:moveTo>
                  <a:pt x="65639" y="0"/>
                </a:moveTo>
                <a:lnTo>
                  <a:pt x="2548339" y="0"/>
                </a:lnTo>
                <a:cubicBezTo>
                  <a:pt x="2584590" y="0"/>
                  <a:pt x="2613978" y="29388"/>
                  <a:pt x="2613978" y="65639"/>
                </a:cubicBezTo>
                <a:lnTo>
                  <a:pt x="2613978" y="735128"/>
                </a:lnTo>
                <a:cubicBezTo>
                  <a:pt x="2613978" y="771379"/>
                  <a:pt x="2584590" y="800767"/>
                  <a:pt x="2548339" y="800767"/>
                </a:cubicBezTo>
                <a:lnTo>
                  <a:pt x="65639" y="800767"/>
                </a:lnTo>
                <a:cubicBezTo>
                  <a:pt x="29388" y="800767"/>
                  <a:pt x="0" y="771379"/>
                  <a:pt x="0" y="735128"/>
                </a:cubicBezTo>
                <a:lnTo>
                  <a:pt x="0" y="65639"/>
                </a:lnTo>
                <a:cubicBezTo>
                  <a:pt x="0" y="29412"/>
                  <a:pt x="29412" y="0"/>
                  <a:pt x="65639" y="0"/>
                </a:cubicBezTo>
                <a:close/>
              </a:path>
            </a:pathLst>
          </a:custGeom>
          <a:solidFill>
            <a:srgbClr val="F8F9FA"/>
          </a:solidFill>
          <a:ln w="2032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266" y="1752498"/>
            <a:ext cx="2485987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26" b="1" dirty="0">
                <a:solidFill>
                  <a:srgbClr val="1565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6391" y="2113500"/>
            <a:ext cx="239573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Subscriptions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8838" y="2527011"/>
            <a:ext cx="2613978" cy="800767"/>
          </a:xfrm>
          <a:custGeom>
            <a:avLst/>
            <a:gdLst/>
            <a:ahLst/>
            <a:cxnLst/>
            <a:rect l="l" t="t" r="r" b="b"/>
            <a:pathLst>
              <a:path w="2613978" h="800767">
                <a:moveTo>
                  <a:pt x="65639" y="0"/>
                </a:moveTo>
                <a:lnTo>
                  <a:pt x="2548339" y="0"/>
                </a:lnTo>
                <a:cubicBezTo>
                  <a:pt x="2584590" y="0"/>
                  <a:pt x="2613978" y="29388"/>
                  <a:pt x="2613978" y="65639"/>
                </a:cubicBezTo>
                <a:lnTo>
                  <a:pt x="2613978" y="735128"/>
                </a:lnTo>
                <a:cubicBezTo>
                  <a:pt x="2613978" y="771379"/>
                  <a:pt x="2584590" y="800767"/>
                  <a:pt x="2548339" y="800767"/>
                </a:cubicBezTo>
                <a:lnTo>
                  <a:pt x="65639" y="800767"/>
                </a:lnTo>
                <a:cubicBezTo>
                  <a:pt x="29388" y="800767"/>
                  <a:pt x="0" y="771379"/>
                  <a:pt x="0" y="735128"/>
                </a:cubicBezTo>
                <a:lnTo>
                  <a:pt x="0" y="65639"/>
                </a:lnTo>
                <a:cubicBezTo>
                  <a:pt x="0" y="29412"/>
                  <a:pt x="29412" y="0"/>
                  <a:pt x="65639" y="0"/>
                </a:cubicBezTo>
                <a:close/>
              </a:path>
            </a:pathLst>
          </a:custGeom>
          <a:solidFill>
            <a:srgbClr val="F8F9FA"/>
          </a:solidFill>
          <a:ln w="2032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834" y="2664849"/>
            <a:ext cx="2485987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26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7959" y="3025850"/>
            <a:ext cx="239573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27270" y="2527011"/>
            <a:ext cx="2613978" cy="800767"/>
          </a:xfrm>
          <a:custGeom>
            <a:avLst/>
            <a:gdLst/>
            <a:ahLst/>
            <a:cxnLst/>
            <a:rect l="l" t="t" r="r" b="b"/>
            <a:pathLst>
              <a:path w="2613978" h="800767">
                <a:moveTo>
                  <a:pt x="65639" y="0"/>
                </a:moveTo>
                <a:lnTo>
                  <a:pt x="2548339" y="0"/>
                </a:lnTo>
                <a:cubicBezTo>
                  <a:pt x="2584590" y="0"/>
                  <a:pt x="2613978" y="29388"/>
                  <a:pt x="2613978" y="65639"/>
                </a:cubicBezTo>
                <a:lnTo>
                  <a:pt x="2613978" y="735128"/>
                </a:lnTo>
                <a:cubicBezTo>
                  <a:pt x="2613978" y="771379"/>
                  <a:pt x="2584590" y="800767"/>
                  <a:pt x="2548339" y="800767"/>
                </a:cubicBezTo>
                <a:lnTo>
                  <a:pt x="65639" y="800767"/>
                </a:lnTo>
                <a:cubicBezTo>
                  <a:pt x="29388" y="800767"/>
                  <a:pt x="0" y="771379"/>
                  <a:pt x="0" y="735128"/>
                </a:cubicBezTo>
                <a:lnTo>
                  <a:pt x="0" y="65639"/>
                </a:lnTo>
                <a:cubicBezTo>
                  <a:pt x="0" y="29412"/>
                  <a:pt x="29412" y="0"/>
                  <a:pt x="65639" y="0"/>
                </a:cubicBezTo>
                <a:close/>
              </a:path>
            </a:pathLst>
          </a:custGeom>
          <a:solidFill>
            <a:srgbClr val="F8F9FA"/>
          </a:solidFill>
          <a:ln w="20320">
            <a:solidFill>
              <a:srgbClr val="FFA7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266" y="2664849"/>
            <a:ext cx="2485987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26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6391" y="3025850"/>
            <a:ext cx="239573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Activity Records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2275" y="3465612"/>
            <a:ext cx="5357588" cy="689184"/>
          </a:xfrm>
          <a:custGeom>
            <a:avLst/>
            <a:gdLst/>
            <a:ahLst/>
            <a:cxnLst/>
            <a:rect l="l" t="t" r="r" b="b"/>
            <a:pathLst>
              <a:path w="5357588" h="689184">
                <a:moveTo>
                  <a:pt x="65638" y="0"/>
                </a:moveTo>
                <a:lnTo>
                  <a:pt x="5291950" y="0"/>
                </a:lnTo>
                <a:cubicBezTo>
                  <a:pt x="5328201" y="0"/>
                  <a:pt x="5357588" y="29387"/>
                  <a:pt x="5357588" y="65638"/>
                </a:cubicBezTo>
                <a:lnTo>
                  <a:pt x="5357588" y="623546"/>
                </a:lnTo>
                <a:cubicBezTo>
                  <a:pt x="5357588" y="659797"/>
                  <a:pt x="5328201" y="689184"/>
                  <a:pt x="5291950" y="689184"/>
                </a:cubicBezTo>
                <a:lnTo>
                  <a:pt x="65638" y="689184"/>
                </a:lnTo>
                <a:cubicBezTo>
                  <a:pt x="29411" y="689184"/>
                  <a:pt x="0" y="659773"/>
                  <a:pt x="0" y="623546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23548" y="3596885"/>
            <a:ext cx="910708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Period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3548" y="3760977"/>
            <a:ext cx="951731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Months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70270" y="3613194"/>
            <a:ext cx="1345550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Range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53861" y="3777286"/>
            <a:ext cx="1361960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6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 2024 - Feb 2026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4592" y="4450061"/>
            <a:ext cx="5669362" cy="1378369"/>
          </a:xfrm>
          <a:custGeom>
            <a:avLst/>
            <a:gdLst/>
            <a:ahLst/>
            <a:cxnLst/>
            <a:rect l="l" t="t" r="r" b="b"/>
            <a:pathLst>
              <a:path w="5669362" h="1378369">
                <a:moveTo>
                  <a:pt x="32818" y="0"/>
                </a:moveTo>
                <a:lnTo>
                  <a:pt x="5603724" y="0"/>
                </a:lnTo>
                <a:cubicBezTo>
                  <a:pt x="5639975" y="0"/>
                  <a:pt x="5669362" y="29387"/>
                  <a:pt x="5669362" y="65638"/>
                </a:cubicBezTo>
                <a:lnTo>
                  <a:pt x="5669362" y="1312731"/>
                </a:lnTo>
                <a:cubicBezTo>
                  <a:pt x="5669362" y="1348982"/>
                  <a:pt x="5639975" y="1378369"/>
                  <a:pt x="5603724" y="1378369"/>
                </a:cubicBezTo>
                <a:lnTo>
                  <a:pt x="32818" y="1378369"/>
                </a:lnTo>
                <a:cubicBezTo>
                  <a:pt x="14693" y="1378369"/>
                  <a:pt x="0" y="1363676"/>
                  <a:pt x="0" y="1345550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9227" dist="32818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4592" y="4450061"/>
            <a:ext cx="32818" cy="1378369"/>
          </a:xfrm>
          <a:custGeom>
            <a:avLst/>
            <a:gdLst/>
            <a:ahLst/>
            <a:cxnLst/>
            <a:rect l="l" t="t" r="r" b="b"/>
            <a:pathLst>
              <a:path w="32818" h="1378369">
                <a:moveTo>
                  <a:pt x="32818" y="0"/>
                </a:moveTo>
                <a:lnTo>
                  <a:pt x="32818" y="0"/>
                </a:lnTo>
                <a:lnTo>
                  <a:pt x="32818" y="1378369"/>
                </a:lnTo>
                <a:lnTo>
                  <a:pt x="32818" y="1378369"/>
                </a:lnTo>
                <a:cubicBezTo>
                  <a:pt x="14693" y="1378369"/>
                  <a:pt x="0" y="1363676"/>
                  <a:pt x="0" y="1345550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525093" y="4614153"/>
            <a:ext cx="5398611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 Considerations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1502" y="4975154"/>
            <a:ext cx="131273" cy="131273"/>
          </a:xfrm>
          <a:custGeom>
            <a:avLst/>
            <a:gdLst/>
            <a:ahLst/>
            <a:cxnLst/>
            <a:rect l="l" t="t" r="r" b="b"/>
            <a:pathLst>
              <a:path w="131273" h="131273">
                <a:moveTo>
                  <a:pt x="65637" y="131273"/>
                </a:moveTo>
                <a:cubicBezTo>
                  <a:pt x="101862" y="131273"/>
                  <a:pt x="131273" y="101862"/>
                  <a:pt x="131273" y="65637"/>
                </a:cubicBezTo>
                <a:cubicBezTo>
                  <a:pt x="131273" y="29411"/>
                  <a:pt x="101862" y="0"/>
                  <a:pt x="65637" y="0"/>
                </a:cubicBezTo>
                <a:cubicBezTo>
                  <a:pt x="29411" y="0"/>
                  <a:pt x="0" y="29411"/>
                  <a:pt x="0" y="65637"/>
                </a:cubicBezTo>
                <a:cubicBezTo>
                  <a:pt x="0" y="101862"/>
                  <a:pt x="29411" y="131273"/>
                  <a:pt x="65637" y="131273"/>
                </a:cubicBezTo>
                <a:close/>
                <a:moveTo>
                  <a:pt x="57432" y="41023"/>
                </a:moveTo>
                <a:cubicBezTo>
                  <a:pt x="57432" y="36495"/>
                  <a:pt x="61108" y="32818"/>
                  <a:pt x="65637" y="32818"/>
                </a:cubicBezTo>
                <a:cubicBezTo>
                  <a:pt x="70165" y="32818"/>
                  <a:pt x="73841" y="36495"/>
                  <a:pt x="73841" y="41023"/>
                </a:cubicBezTo>
                <a:cubicBezTo>
                  <a:pt x="73841" y="45551"/>
                  <a:pt x="70165" y="49227"/>
                  <a:pt x="65637" y="49227"/>
                </a:cubicBezTo>
                <a:cubicBezTo>
                  <a:pt x="61108" y="49227"/>
                  <a:pt x="57432" y="45551"/>
                  <a:pt x="57432" y="41023"/>
                </a:cubicBezTo>
                <a:close/>
                <a:moveTo>
                  <a:pt x="55381" y="57432"/>
                </a:moveTo>
                <a:lnTo>
                  <a:pt x="67688" y="57432"/>
                </a:lnTo>
                <a:cubicBezTo>
                  <a:pt x="71098" y="57432"/>
                  <a:pt x="73841" y="60175"/>
                  <a:pt x="73841" y="63585"/>
                </a:cubicBezTo>
                <a:lnTo>
                  <a:pt x="73841" y="86148"/>
                </a:lnTo>
                <a:lnTo>
                  <a:pt x="75892" y="86148"/>
                </a:lnTo>
                <a:cubicBezTo>
                  <a:pt x="79302" y="86148"/>
                  <a:pt x="82046" y="88891"/>
                  <a:pt x="82046" y="92301"/>
                </a:cubicBezTo>
                <a:cubicBezTo>
                  <a:pt x="82046" y="95712"/>
                  <a:pt x="79302" y="98455"/>
                  <a:pt x="75892" y="98455"/>
                </a:cubicBezTo>
                <a:lnTo>
                  <a:pt x="55381" y="98455"/>
                </a:lnTo>
                <a:cubicBezTo>
                  <a:pt x="51971" y="98455"/>
                  <a:pt x="49227" y="95712"/>
                  <a:pt x="49227" y="92301"/>
                </a:cubicBezTo>
                <a:cubicBezTo>
                  <a:pt x="49227" y="88891"/>
                  <a:pt x="51971" y="86148"/>
                  <a:pt x="55381" y="86148"/>
                </a:cubicBezTo>
                <a:lnTo>
                  <a:pt x="61534" y="86148"/>
                </a:lnTo>
                <a:lnTo>
                  <a:pt x="61534" y="69739"/>
                </a:lnTo>
                <a:lnTo>
                  <a:pt x="55381" y="69739"/>
                </a:lnTo>
                <a:cubicBezTo>
                  <a:pt x="51971" y="69739"/>
                  <a:pt x="49227" y="66995"/>
                  <a:pt x="49227" y="63585"/>
                </a:cubicBezTo>
                <a:cubicBezTo>
                  <a:pt x="49227" y="60175"/>
                  <a:pt x="51971" y="57432"/>
                  <a:pt x="55381" y="57432"/>
                </a:cubicBez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754821" y="4942336"/>
            <a:ext cx="4028447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Values:</a:t>
            </a:r>
            <a:pPr>
              <a:lnSpc>
                <a:spcPct val="130000"/>
              </a:lnSpc>
            </a:pPr>
            <a:r>
              <a:rPr lang="en-US" sz="103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5% NULL in acquisition_channel (coded as 'Unknown')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1502" y="5237700"/>
            <a:ext cx="131273" cy="131273"/>
          </a:xfrm>
          <a:custGeom>
            <a:avLst/>
            <a:gdLst/>
            <a:ahLst/>
            <a:cxnLst/>
            <a:rect l="l" t="t" r="r" b="b"/>
            <a:pathLst>
              <a:path w="131273" h="131273">
                <a:moveTo>
                  <a:pt x="65637" y="131273"/>
                </a:moveTo>
                <a:cubicBezTo>
                  <a:pt x="101862" y="131273"/>
                  <a:pt x="131273" y="101862"/>
                  <a:pt x="131273" y="65637"/>
                </a:cubicBezTo>
                <a:cubicBezTo>
                  <a:pt x="131273" y="29411"/>
                  <a:pt x="101862" y="0"/>
                  <a:pt x="65637" y="0"/>
                </a:cubicBezTo>
                <a:cubicBezTo>
                  <a:pt x="29411" y="0"/>
                  <a:pt x="0" y="29411"/>
                  <a:pt x="0" y="65637"/>
                </a:cubicBezTo>
                <a:cubicBezTo>
                  <a:pt x="0" y="101862"/>
                  <a:pt x="29411" y="131273"/>
                  <a:pt x="65637" y="131273"/>
                </a:cubicBezTo>
                <a:close/>
                <a:moveTo>
                  <a:pt x="57432" y="41023"/>
                </a:moveTo>
                <a:cubicBezTo>
                  <a:pt x="57432" y="36495"/>
                  <a:pt x="61108" y="32818"/>
                  <a:pt x="65637" y="32818"/>
                </a:cubicBezTo>
                <a:cubicBezTo>
                  <a:pt x="70165" y="32818"/>
                  <a:pt x="73841" y="36495"/>
                  <a:pt x="73841" y="41023"/>
                </a:cubicBezTo>
                <a:cubicBezTo>
                  <a:pt x="73841" y="45551"/>
                  <a:pt x="70165" y="49227"/>
                  <a:pt x="65637" y="49227"/>
                </a:cubicBezTo>
                <a:cubicBezTo>
                  <a:pt x="61108" y="49227"/>
                  <a:pt x="57432" y="45551"/>
                  <a:pt x="57432" y="41023"/>
                </a:cubicBezTo>
                <a:close/>
                <a:moveTo>
                  <a:pt x="55381" y="57432"/>
                </a:moveTo>
                <a:lnTo>
                  <a:pt x="67688" y="57432"/>
                </a:lnTo>
                <a:cubicBezTo>
                  <a:pt x="71098" y="57432"/>
                  <a:pt x="73841" y="60175"/>
                  <a:pt x="73841" y="63585"/>
                </a:cubicBezTo>
                <a:lnTo>
                  <a:pt x="73841" y="86148"/>
                </a:lnTo>
                <a:lnTo>
                  <a:pt x="75892" y="86148"/>
                </a:lnTo>
                <a:cubicBezTo>
                  <a:pt x="79302" y="86148"/>
                  <a:pt x="82046" y="88891"/>
                  <a:pt x="82046" y="92301"/>
                </a:cubicBezTo>
                <a:cubicBezTo>
                  <a:pt x="82046" y="95712"/>
                  <a:pt x="79302" y="98455"/>
                  <a:pt x="75892" y="98455"/>
                </a:cubicBezTo>
                <a:lnTo>
                  <a:pt x="55381" y="98455"/>
                </a:lnTo>
                <a:cubicBezTo>
                  <a:pt x="51971" y="98455"/>
                  <a:pt x="49227" y="95712"/>
                  <a:pt x="49227" y="92301"/>
                </a:cubicBezTo>
                <a:cubicBezTo>
                  <a:pt x="49227" y="88891"/>
                  <a:pt x="51971" y="86148"/>
                  <a:pt x="55381" y="86148"/>
                </a:cubicBezTo>
                <a:lnTo>
                  <a:pt x="61534" y="86148"/>
                </a:lnTo>
                <a:lnTo>
                  <a:pt x="61534" y="69739"/>
                </a:lnTo>
                <a:lnTo>
                  <a:pt x="55381" y="69739"/>
                </a:lnTo>
                <a:cubicBezTo>
                  <a:pt x="51971" y="69739"/>
                  <a:pt x="49227" y="66995"/>
                  <a:pt x="49227" y="63585"/>
                </a:cubicBezTo>
                <a:cubicBezTo>
                  <a:pt x="49227" y="60175"/>
                  <a:pt x="51971" y="57432"/>
                  <a:pt x="55381" y="57432"/>
                </a:cubicBez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754821" y="5204882"/>
            <a:ext cx="3413104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Standardization:</a:t>
            </a:r>
            <a:pPr>
              <a:lnSpc>
                <a:spcPct val="130000"/>
              </a:lnSpc>
            </a:pPr>
            <a:r>
              <a:rPr lang="en-US" sz="103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Country names normalized in queries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1502" y="5500247"/>
            <a:ext cx="131273" cy="131273"/>
          </a:xfrm>
          <a:custGeom>
            <a:avLst/>
            <a:gdLst/>
            <a:ahLst/>
            <a:cxnLst/>
            <a:rect l="l" t="t" r="r" b="b"/>
            <a:pathLst>
              <a:path w="131273" h="131273">
                <a:moveTo>
                  <a:pt x="65637" y="131273"/>
                </a:moveTo>
                <a:cubicBezTo>
                  <a:pt x="101862" y="131273"/>
                  <a:pt x="131273" y="101862"/>
                  <a:pt x="131273" y="65637"/>
                </a:cubicBezTo>
                <a:cubicBezTo>
                  <a:pt x="131273" y="29411"/>
                  <a:pt x="101862" y="0"/>
                  <a:pt x="65637" y="0"/>
                </a:cubicBezTo>
                <a:cubicBezTo>
                  <a:pt x="29411" y="0"/>
                  <a:pt x="0" y="29411"/>
                  <a:pt x="0" y="65637"/>
                </a:cubicBezTo>
                <a:cubicBezTo>
                  <a:pt x="0" y="101862"/>
                  <a:pt x="29411" y="131273"/>
                  <a:pt x="65637" y="131273"/>
                </a:cubicBezTo>
                <a:close/>
                <a:moveTo>
                  <a:pt x="57432" y="41023"/>
                </a:moveTo>
                <a:cubicBezTo>
                  <a:pt x="57432" y="36495"/>
                  <a:pt x="61108" y="32818"/>
                  <a:pt x="65637" y="32818"/>
                </a:cubicBezTo>
                <a:cubicBezTo>
                  <a:pt x="70165" y="32818"/>
                  <a:pt x="73841" y="36495"/>
                  <a:pt x="73841" y="41023"/>
                </a:cubicBezTo>
                <a:cubicBezTo>
                  <a:pt x="73841" y="45551"/>
                  <a:pt x="70165" y="49227"/>
                  <a:pt x="65637" y="49227"/>
                </a:cubicBezTo>
                <a:cubicBezTo>
                  <a:pt x="61108" y="49227"/>
                  <a:pt x="57432" y="45551"/>
                  <a:pt x="57432" y="41023"/>
                </a:cubicBezTo>
                <a:close/>
                <a:moveTo>
                  <a:pt x="55381" y="57432"/>
                </a:moveTo>
                <a:lnTo>
                  <a:pt x="67688" y="57432"/>
                </a:lnTo>
                <a:cubicBezTo>
                  <a:pt x="71098" y="57432"/>
                  <a:pt x="73841" y="60175"/>
                  <a:pt x="73841" y="63585"/>
                </a:cubicBezTo>
                <a:lnTo>
                  <a:pt x="73841" y="86148"/>
                </a:lnTo>
                <a:lnTo>
                  <a:pt x="75892" y="86148"/>
                </a:lnTo>
                <a:cubicBezTo>
                  <a:pt x="79302" y="86148"/>
                  <a:pt x="82046" y="88891"/>
                  <a:pt x="82046" y="92301"/>
                </a:cubicBezTo>
                <a:cubicBezTo>
                  <a:pt x="82046" y="95712"/>
                  <a:pt x="79302" y="98455"/>
                  <a:pt x="75892" y="98455"/>
                </a:cubicBezTo>
                <a:lnTo>
                  <a:pt x="55381" y="98455"/>
                </a:lnTo>
                <a:cubicBezTo>
                  <a:pt x="51971" y="98455"/>
                  <a:pt x="49227" y="95712"/>
                  <a:pt x="49227" y="92301"/>
                </a:cubicBezTo>
                <a:cubicBezTo>
                  <a:pt x="49227" y="88891"/>
                  <a:pt x="51971" y="86148"/>
                  <a:pt x="55381" y="86148"/>
                </a:cubicBezTo>
                <a:lnTo>
                  <a:pt x="61534" y="86148"/>
                </a:lnTo>
                <a:lnTo>
                  <a:pt x="61534" y="69739"/>
                </a:lnTo>
                <a:lnTo>
                  <a:pt x="55381" y="69739"/>
                </a:lnTo>
                <a:cubicBezTo>
                  <a:pt x="51971" y="69739"/>
                  <a:pt x="49227" y="66995"/>
                  <a:pt x="49227" y="63585"/>
                </a:cubicBezTo>
                <a:cubicBezTo>
                  <a:pt x="49227" y="60175"/>
                  <a:pt x="51971" y="57432"/>
                  <a:pt x="55381" y="57432"/>
                </a:cubicBez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754821" y="5467429"/>
            <a:ext cx="3429513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Cases:</a:t>
            </a:r>
            <a:pPr>
              <a:lnSpc>
                <a:spcPct val="130000"/>
              </a:lnSpc>
            </a:pPr>
            <a:r>
              <a:rPr lang="en-US" sz="103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Payment failures, suspended accounts handled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8867" y="1083004"/>
            <a:ext cx="5685771" cy="5439634"/>
          </a:xfrm>
          <a:custGeom>
            <a:avLst/>
            <a:gdLst/>
            <a:ahLst/>
            <a:cxnLst/>
            <a:rect l="l" t="t" r="r" b="b"/>
            <a:pathLst>
              <a:path w="5685771" h="5439634">
                <a:moveTo>
                  <a:pt x="65656" y="0"/>
                </a:moveTo>
                <a:lnTo>
                  <a:pt x="5620115" y="0"/>
                </a:lnTo>
                <a:cubicBezTo>
                  <a:pt x="5656376" y="0"/>
                  <a:pt x="5685771" y="29395"/>
                  <a:pt x="5685771" y="65656"/>
                </a:cubicBezTo>
                <a:lnTo>
                  <a:pt x="5685771" y="5373978"/>
                </a:lnTo>
                <a:cubicBezTo>
                  <a:pt x="5685771" y="5410239"/>
                  <a:pt x="5656376" y="5439634"/>
                  <a:pt x="5620115" y="5439634"/>
                </a:cubicBezTo>
                <a:lnTo>
                  <a:pt x="65656" y="5439634"/>
                </a:lnTo>
                <a:cubicBezTo>
                  <a:pt x="29395" y="5439634"/>
                  <a:pt x="0" y="5410239"/>
                  <a:pt x="0" y="5373978"/>
                </a:cubicBezTo>
                <a:lnTo>
                  <a:pt x="0" y="65656"/>
                </a:lnTo>
                <a:cubicBezTo>
                  <a:pt x="0" y="29420"/>
                  <a:pt x="29420" y="0"/>
                  <a:pt x="6565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9227" dist="32818" dir="5400000">
              <a:srgbClr val="000000">
                <a:alpha val="10196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42958" y="1247096"/>
            <a:ext cx="5439634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Analytical Methods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2958" y="1608097"/>
            <a:ext cx="5357588" cy="918913"/>
          </a:xfrm>
          <a:custGeom>
            <a:avLst/>
            <a:gdLst/>
            <a:ahLst/>
            <a:cxnLst/>
            <a:rect l="l" t="t" r="r" b="b"/>
            <a:pathLst>
              <a:path w="5357588" h="918913">
                <a:moveTo>
                  <a:pt x="65638" y="0"/>
                </a:moveTo>
                <a:lnTo>
                  <a:pt x="5291950" y="0"/>
                </a:lnTo>
                <a:cubicBezTo>
                  <a:pt x="5328201" y="0"/>
                  <a:pt x="5357588" y="29387"/>
                  <a:pt x="5357588" y="65638"/>
                </a:cubicBezTo>
                <a:lnTo>
                  <a:pt x="5357588" y="853275"/>
                </a:lnTo>
                <a:cubicBezTo>
                  <a:pt x="5357588" y="889525"/>
                  <a:pt x="5328201" y="918913"/>
                  <a:pt x="5291950" y="918913"/>
                </a:cubicBezTo>
                <a:lnTo>
                  <a:pt x="65638" y="918913"/>
                </a:lnTo>
                <a:cubicBezTo>
                  <a:pt x="29387" y="918913"/>
                  <a:pt x="0" y="889525"/>
                  <a:pt x="0" y="853275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474231" y="1755779"/>
            <a:ext cx="205114" cy="164092"/>
          </a:xfrm>
          <a:custGeom>
            <a:avLst/>
            <a:gdLst/>
            <a:ahLst/>
            <a:cxnLst/>
            <a:rect l="l" t="t" r="r" b="b"/>
            <a:pathLst>
              <a:path w="205114" h="164092">
                <a:moveTo>
                  <a:pt x="102557" y="5128"/>
                </a:moveTo>
                <a:cubicBezTo>
                  <a:pt x="120953" y="5128"/>
                  <a:pt x="135888" y="20063"/>
                  <a:pt x="135888" y="38459"/>
                </a:cubicBezTo>
                <a:cubicBezTo>
                  <a:pt x="135888" y="56855"/>
                  <a:pt x="120953" y="71790"/>
                  <a:pt x="102557" y="71790"/>
                </a:cubicBezTo>
                <a:cubicBezTo>
                  <a:pt x="84161" y="71790"/>
                  <a:pt x="69226" y="56855"/>
                  <a:pt x="69226" y="38459"/>
                </a:cubicBezTo>
                <a:cubicBezTo>
                  <a:pt x="69226" y="20063"/>
                  <a:pt x="84161" y="5128"/>
                  <a:pt x="102557" y="5128"/>
                </a:cubicBezTo>
                <a:close/>
                <a:moveTo>
                  <a:pt x="30767" y="28203"/>
                </a:moveTo>
                <a:cubicBezTo>
                  <a:pt x="43503" y="28203"/>
                  <a:pt x="53843" y="38543"/>
                  <a:pt x="53843" y="51279"/>
                </a:cubicBezTo>
                <a:cubicBezTo>
                  <a:pt x="53843" y="64014"/>
                  <a:pt x="43503" y="74354"/>
                  <a:pt x="30767" y="74354"/>
                </a:cubicBezTo>
                <a:cubicBezTo>
                  <a:pt x="18032" y="74354"/>
                  <a:pt x="7692" y="64014"/>
                  <a:pt x="7692" y="51279"/>
                </a:cubicBezTo>
                <a:cubicBezTo>
                  <a:pt x="7692" y="38543"/>
                  <a:pt x="18032" y="28203"/>
                  <a:pt x="30767" y="28203"/>
                </a:cubicBezTo>
                <a:close/>
                <a:moveTo>
                  <a:pt x="0" y="133324"/>
                </a:moveTo>
                <a:cubicBezTo>
                  <a:pt x="0" y="110666"/>
                  <a:pt x="18364" y="92301"/>
                  <a:pt x="41023" y="92301"/>
                </a:cubicBezTo>
                <a:cubicBezTo>
                  <a:pt x="45125" y="92301"/>
                  <a:pt x="49099" y="92910"/>
                  <a:pt x="52849" y="94032"/>
                </a:cubicBezTo>
                <a:cubicBezTo>
                  <a:pt x="42305" y="105826"/>
                  <a:pt x="35895" y="121402"/>
                  <a:pt x="35895" y="138452"/>
                </a:cubicBezTo>
                <a:lnTo>
                  <a:pt x="35895" y="143580"/>
                </a:lnTo>
                <a:cubicBezTo>
                  <a:pt x="35895" y="147234"/>
                  <a:pt x="36664" y="150695"/>
                  <a:pt x="38042" y="153836"/>
                </a:cubicBezTo>
                <a:lnTo>
                  <a:pt x="10256" y="153836"/>
                </a:lnTo>
                <a:cubicBezTo>
                  <a:pt x="4583" y="153836"/>
                  <a:pt x="0" y="149253"/>
                  <a:pt x="0" y="143580"/>
                </a:cubicBezTo>
                <a:lnTo>
                  <a:pt x="0" y="133324"/>
                </a:lnTo>
                <a:close/>
                <a:moveTo>
                  <a:pt x="167072" y="153836"/>
                </a:moveTo>
                <a:cubicBezTo>
                  <a:pt x="168450" y="150695"/>
                  <a:pt x="169219" y="147234"/>
                  <a:pt x="169219" y="143580"/>
                </a:cubicBezTo>
                <a:lnTo>
                  <a:pt x="169219" y="138452"/>
                </a:lnTo>
                <a:cubicBezTo>
                  <a:pt x="169219" y="121402"/>
                  <a:pt x="162810" y="105826"/>
                  <a:pt x="152265" y="94032"/>
                </a:cubicBezTo>
                <a:cubicBezTo>
                  <a:pt x="156015" y="92910"/>
                  <a:pt x="159989" y="92301"/>
                  <a:pt x="164092" y="92301"/>
                </a:cubicBezTo>
                <a:cubicBezTo>
                  <a:pt x="186750" y="92301"/>
                  <a:pt x="205114" y="110666"/>
                  <a:pt x="205114" y="133324"/>
                </a:cubicBezTo>
                <a:lnTo>
                  <a:pt x="205114" y="143580"/>
                </a:lnTo>
                <a:cubicBezTo>
                  <a:pt x="205114" y="149253"/>
                  <a:pt x="200531" y="153836"/>
                  <a:pt x="194859" y="153836"/>
                </a:cubicBezTo>
                <a:lnTo>
                  <a:pt x="167072" y="153836"/>
                </a:lnTo>
                <a:close/>
                <a:moveTo>
                  <a:pt x="151272" y="51279"/>
                </a:moveTo>
                <a:cubicBezTo>
                  <a:pt x="151272" y="38543"/>
                  <a:pt x="161612" y="28203"/>
                  <a:pt x="174347" y="28203"/>
                </a:cubicBezTo>
                <a:cubicBezTo>
                  <a:pt x="187083" y="28203"/>
                  <a:pt x="197423" y="38543"/>
                  <a:pt x="197423" y="51279"/>
                </a:cubicBezTo>
                <a:cubicBezTo>
                  <a:pt x="197423" y="64014"/>
                  <a:pt x="187083" y="74354"/>
                  <a:pt x="174347" y="74354"/>
                </a:cubicBezTo>
                <a:cubicBezTo>
                  <a:pt x="161612" y="74354"/>
                  <a:pt x="151272" y="64014"/>
                  <a:pt x="151272" y="51279"/>
                </a:cubicBezTo>
                <a:close/>
                <a:moveTo>
                  <a:pt x="51279" y="138452"/>
                </a:moveTo>
                <a:cubicBezTo>
                  <a:pt x="51279" y="110121"/>
                  <a:pt x="74226" y="87174"/>
                  <a:pt x="102557" y="87174"/>
                </a:cubicBezTo>
                <a:cubicBezTo>
                  <a:pt x="130889" y="87174"/>
                  <a:pt x="153836" y="110121"/>
                  <a:pt x="153836" y="138452"/>
                </a:cubicBezTo>
                <a:lnTo>
                  <a:pt x="153836" y="143580"/>
                </a:lnTo>
                <a:cubicBezTo>
                  <a:pt x="153836" y="149253"/>
                  <a:pt x="149253" y="153836"/>
                  <a:pt x="143580" y="153836"/>
                </a:cubicBezTo>
                <a:lnTo>
                  <a:pt x="61534" y="153836"/>
                </a:lnTo>
                <a:cubicBezTo>
                  <a:pt x="55862" y="153836"/>
                  <a:pt x="51279" y="149253"/>
                  <a:pt x="51279" y="143580"/>
                </a:cubicBezTo>
                <a:lnTo>
                  <a:pt x="51279" y="138452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6777801" y="1739370"/>
            <a:ext cx="951731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Cohort Analysis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74231" y="2001917"/>
            <a:ext cx="5160678" cy="39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users by signup period to track retention patterns over time and identify at-risk cohorts.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42958" y="2625464"/>
            <a:ext cx="5357588" cy="918913"/>
          </a:xfrm>
          <a:custGeom>
            <a:avLst/>
            <a:gdLst/>
            <a:ahLst/>
            <a:cxnLst/>
            <a:rect l="l" t="t" r="r" b="b"/>
            <a:pathLst>
              <a:path w="5357588" h="918913">
                <a:moveTo>
                  <a:pt x="65638" y="0"/>
                </a:moveTo>
                <a:lnTo>
                  <a:pt x="5291950" y="0"/>
                </a:lnTo>
                <a:cubicBezTo>
                  <a:pt x="5328201" y="0"/>
                  <a:pt x="5357588" y="29387"/>
                  <a:pt x="5357588" y="65638"/>
                </a:cubicBezTo>
                <a:lnTo>
                  <a:pt x="5357588" y="853275"/>
                </a:lnTo>
                <a:cubicBezTo>
                  <a:pt x="5357588" y="889525"/>
                  <a:pt x="5328201" y="918913"/>
                  <a:pt x="5291950" y="918913"/>
                </a:cubicBezTo>
                <a:lnTo>
                  <a:pt x="65638" y="918913"/>
                </a:lnTo>
                <a:cubicBezTo>
                  <a:pt x="29387" y="918913"/>
                  <a:pt x="0" y="889525"/>
                  <a:pt x="0" y="853275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9" name="Shape 37"/>
          <p:cNvSpPr/>
          <p:nvPr/>
        </p:nvSpPr>
        <p:spPr>
          <a:xfrm>
            <a:off x="6494743" y="2773147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>
                <a:moveTo>
                  <a:pt x="71790" y="0"/>
                </a:moveTo>
                <a:cubicBezTo>
                  <a:pt x="83103" y="0"/>
                  <a:pt x="92301" y="6891"/>
                  <a:pt x="92301" y="15384"/>
                </a:cubicBezTo>
                <a:cubicBezTo>
                  <a:pt x="92301" y="18717"/>
                  <a:pt x="90891" y="21793"/>
                  <a:pt x="88456" y="24325"/>
                </a:cubicBezTo>
                <a:cubicBezTo>
                  <a:pt x="86340" y="26537"/>
                  <a:pt x="84610" y="29229"/>
                  <a:pt x="84610" y="32306"/>
                </a:cubicBezTo>
                <a:cubicBezTo>
                  <a:pt x="84610" y="37113"/>
                  <a:pt x="88520" y="41023"/>
                  <a:pt x="93327" y="41023"/>
                </a:cubicBezTo>
                <a:lnTo>
                  <a:pt x="107685" y="41023"/>
                </a:lnTo>
                <a:cubicBezTo>
                  <a:pt x="116178" y="41023"/>
                  <a:pt x="123069" y="47913"/>
                  <a:pt x="123069" y="56406"/>
                </a:cubicBezTo>
                <a:lnTo>
                  <a:pt x="123069" y="70764"/>
                </a:lnTo>
                <a:cubicBezTo>
                  <a:pt x="123069" y="75572"/>
                  <a:pt x="126979" y="79482"/>
                  <a:pt x="131786" y="79482"/>
                </a:cubicBezTo>
                <a:cubicBezTo>
                  <a:pt x="134831" y="79482"/>
                  <a:pt x="137555" y="77751"/>
                  <a:pt x="139766" y="75636"/>
                </a:cubicBezTo>
                <a:cubicBezTo>
                  <a:pt x="142298" y="73232"/>
                  <a:pt x="145375" y="71790"/>
                  <a:pt x="148708" y="71790"/>
                </a:cubicBezTo>
                <a:cubicBezTo>
                  <a:pt x="157201" y="71790"/>
                  <a:pt x="164092" y="80988"/>
                  <a:pt x="164092" y="92301"/>
                </a:cubicBezTo>
                <a:cubicBezTo>
                  <a:pt x="164092" y="103615"/>
                  <a:pt x="157201" y="112813"/>
                  <a:pt x="148708" y="112813"/>
                </a:cubicBezTo>
                <a:cubicBezTo>
                  <a:pt x="145375" y="112813"/>
                  <a:pt x="142266" y="111403"/>
                  <a:pt x="139766" y="108967"/>
                </a:cubicBezTo>
                <a:cubicBezTo>
                  <a:pt x="137555" y="106852"/>
                  <a:pt x="134863" y="105121"/>
                  <a:pt x="131786" y="105121"/>
                </a:cubicBezTo>
                <a:cubicBezTo>
                  <a:pt x="126979" y="105121"/>
                  <a:pt x="123069" y="109031"/>
                  <a:pt x="123069" y="113838"/>
                </a:cubicBezTo>
                <a:lnTo>
                  <a:pt x="123069" y="148708"/>
                </a:lnTo>
                <a:cubicBezTo>
                  <a:pt x="123069" y="157201"/>
                  <a:pt x="116178" y="164092"/>
                  <a:pt x="107685" y="164092"/>
                </a:cubicBezTo>
                <a:lnTo>
                  <a:pt x="89481" y="164092"/>
                </a:lnTo>
                <a:cubicBezTo>
                  <a:pt x="85379" y="164092"/>
                  <a:pt x="82046" y="160758"/>
                  <a:pt x="82046" y="156656"/>
                </a:cubicBezTo>
                <a:cubicBezTo>
                  <a:pt x="82046" y="153708"/>
                  <a:pt x="83905" y="151112"/>
                  <a:pt x="86276" y="149349"/>
                </a:cubicBezTo>
                <a:cubicBezTo>
                  <a:pt x="89994" y="146561"/>
                  <a:pt x="92301" y="142715"/>
                  <a:pt x="92301" y="138452"/>
                </a:cubicBezTo>
                <a:cubicBezTo>
                  <a:pt x="92301" y="129959"/>
                  <a:pt x="83103" y="123069"/>
                  <a:pt x="71790" y="123069"/>
                </a:cubicBezTo>
                <a:cubicBezTo>
                  <a:pt x="60477" y="123069"/>
                  <a:pt x="51279" y="129959"/>
                  <a:pt x="51279" y="138452"/>
                </a:cubicBezTo>
                <a:cubicBezTo>
                  <a:pt x="51279" y="142715"/>
                  <a:pt x="53586" y="146561"/>
                  <a:pt x="57304" y="149349"/>
                </a:cubicBezTo>
                <a:cubicBezTo>
                  <a:pt x="59675" y="151112"/>
                  <a:pt x="61534" y="153676"/>
                  <a:pt x="61534" y="156656"/>
                </a:cubicBezTo>
                <a:cubicBezTo>
                  <a:pt x="61534" y="160758"/>
                  <a:pt x="58201" y="164092"/>
                  <a:pt x="54099" y="164092"/>
                </a:cubicBezTo>
                <a:lnTo>
                  <a:pt x="15384" y="164092"/>
                </a:lnTo>
                <a:cubicBezTo>
                  <a:pt x="6891" y="164092"/>
                  <a:pt x="0" y="157201"/>
                  <a:pt x="0" y="148708"/>
                </a:cubicBezTo>
                <a:lnTo>
                  <a:pt x="0" y="109993"/>
                </a:lnTo>
                <a:cubicBezTo>
                  <a:pt x="0" y="105890"/>
                  <a:pt x="3333" y="102557"/>
                  <a:pt x="7435" y="102557"/>
                </a:cubicBezTo>
                <a:cubicBezTo>
                  <a:pt x="10384" y="102557"/>
                  <a:pt x="12980" y="104416"/>
                  <a:pt x="14743" y="106788"/>
                </a:cubicBezTo>
                <a:cubicBezTo>
                  <a:pt x="17531" y="110505"/>
                  <a:pt x="21377" y="112813"/>
                  <a:pt x="25639" y="112813"/>
                </a:cubicBezTo>
                <a:cubicBezTo>
                  <a:pt x="34132" y="112813"/>
                  <a:pt x="41023" y="103615"/>
                  <a:pt x="41023" y="92301"/>
                </a:cubicBezTo>
                <a:cubicBezTo>
                  <a:pt x="41023" y="80988"/>
                  <a:pt x="34132" y="71790"/>
                  <a:pt x="25639" y="71790"/>
                </a:cubicBezTo>
                <a:cubicBezTo>
                  <a:pt x="21377" y="71790"/>
                  <a:pt x="17531" y="74098"/>
                  <a:pt x="14743" y="77815"/>
                </a:cubicBezTo>
                <a:cubicBezTo>
                  <a:pt x="12980" y="80187"/>
                  <a:pt x="10416" y="82046"/>
                  <a:pt x="7435" y="82046"/>
                </a:cubicBezTo>
                <a:cubicBezTo>
                  <a:pt x="3333" y="82046"/>
                  <a:pt x="0" y="78713"/>
                  <a:pt x="0" y="74610"/>
                </a:cubicBezTo>
                <a:lnTo>
                  <a:pt x="0" y="56406"/>
                </a:lnTo>
                <a:cubicBezTo>
                  <a:pt x="0" y="47913"/>
                  <a:pt x="6891" y="41023"/>
                  <a:pt x="15384" y="41023"/>
                </a:cubicBezTo>
                <a:lnTo>
                  <a:pt x="50253" y="41023"/>
                </a:lnTo>
                <a:cubicBezTo>
                  <a:pt x="55060" y="41023"/>
                  <a:pt x="58970" y="37113"/>
                  <a:pt x="58970" y="32306"/>
                </a:cubicBezTo>
                <a:cubicBezTo>
                  <a:pt x="58970" y="29261"/>
                  <a:pt x="57240" y="26537"/>
                  <a:pt x="55124" y="24325"/>
                </a:cubicBezTo>
                <a:cubicBezTo>
                  <a:pt x="52721" y="21793"/>
                  <a:pt x="51279" y="18717"/>
                  <a:pt x="51279" y="15384"/>
                </a:cubicBezTo>
                <a:cubicBezTo>
                  <a:pt x="51279" y="6891"/>
                  <a:pt x="60477" y="0"/>
                  <a:pt x="71790" y="0"/>
                </a:cubicBez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40" name="Text 38"/>
          <p:cNvSpPr/>
          <p:nvPr/>
        </p:nvSpPr>
        <p:spPr>
          <a:xfrm>
            <a:off x="6777801" y="2756738"/>
            <a:ext cx="845071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74231" y="3019284"/>
            <a:ext cx="5160678" cy="39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Divide customers by behavior, value, and channel to understand different user groups and their needs.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2958" y="3642832"/>
            <a:ext cx="5357588" cy="918913"/>
          </a:xfrm>
          <a:custGeom>
            <a:avLst/>
            <a:gdLst/>
            <a:ahLst/>
            <a:cxnLst/>
            <a:rect l="l" t="t" r="r" b="b"/>
            <a:pathLst>
              <a:path w="5357588" h="918913">
                <a:moveTo>
                  <a:pt x="65638" y="0"/>
                </a:moveTo>
                <a:lnTo>
                  <a:pt x="5291950" y="0"/>
                </a:lnTo>
                <a:cubicBezTo>
                  <a:pt x="5328201" y="0"/>
                  <a:pt x="5357588" y="29387"/>
                  <a:pt x="5357588" y="65638"/>
                </a:cubicBezTo>
                <a:lnTo>
                  <a:pt x="5357588" y="853275"/>
                </a:lnTo>
                <a:cubicBezTo>
                  <a:pt x="5357588" y="889525"/>
                  <a:pt x="5328201" y="918913"/>
                  <a:pt x="5291950" y="918913"/>
                </a:cubicBezTo>
                <a:lnTo>
                  <a:pt x="65638" y="918913"/>
                </a:lnTo>
                <a:cubicBezTo>
                  <a:pt x="29387" y="918913"/>
                  <a:pt x="0" y="889525"/>
                  <a:pt x="0" y="853275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3" name="Shape 41"/>
          <p:cNvSpPr/>
          <p:nvPr/>
        </p:nvSpPr>
        <p:spPr>
          <a:xfrm>
            <a:off x="6494743" y="3790514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>
                <a:moveTo>
                  <a:pt x="20511" y="20511"/>
                </a:moveTo>
                <a:cubicBezTo>
                  <a:pt x="20511" y="14839"/>
                  <a:pt x="15928" y="10256"/>
                  <a:pt x="10256" y="10256"/>
                </a:cubicBezTo>
                <a:cubicBezTo>
                  <a:pt x="4583" y="10256"/>
                  <a:pt x="0" y="14839"/>
                  <a:pt x="0" y="20511"/>
                </a:cubicBezTo>
                <a:lnTo>
                  <a:pt x="0" y="128197"/>
                </a:lnTo>
                <a:cubicBezTo>
                  <a:pt x="0" y="142362"/>
                  <a:pt x="11474" y="153836"/>
                  <a:pt x="25639" y="153836"/>
                </a:cubicBezTo>
                <a:lnTo>
                  <a:pt x="153836" y="153836"/>
                </a:lnTo>
                <a:cubicBezTo>
                  <a:pt x="159508" y="153836"/>
                  <a:pt x="164092" y="149253"/>
                  <a:pt x="164092" y="143580"/>
                </a:cubicBezTo>
                <a:cubicBezTo>
                  <a:pt x="164092" y="137907"/>
                  <a:pt x="159508" y="133324"/>
                  <a:pt x="153836" y="133324"/>
                </a:cubicBezTo>
                <a:lnTo>
                  <a:pt x="25639" y="133324"/>
                </a:lnTo>
                <a:cubicBezTo>
                  <a:pt x="22819" y="133324"/>
                  <a:pt x="20511" y="131017"/>
                  <a:pt x="20511" y="128197"/>
                </a:cubicBezTo>
                <a:lnTo>
                  <a:pt x="20511" y="20511"/>
                </a:lnTo>
                <a:close/>
                <a:moveTo>
                  <a:pt x="150823" y="48266"/>
                </a:moveTo>
                <a:cubicBezTo>
                  <a:pt x="154829" y="44260"/>
                  <a:pt x="154829" y="37754"/>
                  <a:pt x="150823" y="33748"/>
                </a:cubicBezTo>
                <a:cubicBezTo>
                  <a:pt x="146817" y="29742"/>
                  <a:pt x="140311" y="29742"/>
                  <a:pt x="136305" y="33748"/>
                </a:cubicBezTo>
                <a:lnTo>
                  <a:pt x="102557" y="67528"/>
                </a:lnTo>
                <a:lnTo>
                  <a:pt x="84161" y="49163"/>
                </a:lnTo>
                <a:cubicBezTo>
                  <a:pt x="80155" y="45157"/>
                  <a:pt x="73649" y="45157"/>
                  <a:pt x="69643" y="49163"/>
                </a:cubicBezTo>
                <a:lnTo>
                  <a:pt x="38876" y="79931"/>
                </a:lnTo>
                <a:cubicBezTo>
                  <a:pt x="34869" y="83937"/>
                  <a:pt x="34869" y="90443"/>
                  <a:pt x="38876" y="94449"/>
                </a:cubicBezTo>
                <a:cubicBezTo>
                  <a:pt x="42882" y="98455"/>
                  <a:pt x="49388" y="98455"/>
                  <a:pt x="53394" y="94449"/>
                </a:cubicBezTo>
                <a:lnTo>
                  <a:pt x="76918" y="70925"/>
                </a:lnTo>
                <a:lnTo>
                  <a:pt x="95314" y="89321"/>
                </a:lnTo>
                <a:cubicBezTo>
                  <a:pt x="99320" y="93327"/>
                  <a:pt x="105826" y="93327"/>
                  <a:pt x="109832" y="89321"/>
                </a:cubicBezTo>
                <a:lnTo>
                  <a:pt x="150855" y="48298"/>
                </a:ln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44" name="Text 42"/>
          <p:cNvSpPr/>
          <p:nvPr/>
        </p:nvSpPr>
        <p:spPr>
          <a:xfrm>
            <a:off x="6777801" y="3774105"/>
            <a:ext cx="894299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74231" y="4036651"/>
            <a:ext cx="5160678" cy="39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revenue, engagement, and churn metrics over time to identify patterns and anomalies.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42958" y="4660199"/>
            <a:ext cx="5357588" cy="918913"/>
          </a:xfrm>
          <a:custGeom>
            <a:avLst/>
            <a:gdLst/>
            <a:ahLst/>
            <a:cxnLst/>
            <a:rect l="l" t="t" r="r" b="b"/>
            <a:pathLst>
              <a:path w="5357588" h="918913">
                <a:moveTo>
                  <a:pt x="65638" y="0"/>
                </a:moveTo>
                <a:lnTo>
                  <a:pt x="5291950" y="0"/>
                </a:lnTo>
                <a:cubicBezTo>
                  <a:pt x="5328201" y="0"/>
                  <a:pt x="5357588" y="29387"/>
                  <a:pt x="5357588" y="65638"/>
                </a:cubicBezTo>
                <a:lnTo>
                  <a:pt x="5357588" y="853275"/>
                </a:lnTo>
                <a:cubicBezTo>
                  <a:pt x="5357588" y="889525"/>
                  <a:pt x="5328201" y="918913"/>
                  <a:pt x="5291950" y="918913"/>
                </a:cubicBezTo>
                <a:lnTo>
                  <a:pt x="65638" y="918913"/>
                </a:lnTo>
                <a:cubicBezTo>
                  <a:pt x="29387" y="918913"/>
                  <a:pt x="0" y="889525"/>
                  <a:pt x="0" y="853275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7" name="Shape 45"/>
          <p:cNvSpPr/>
          <p:nvPr/>
        </p:nvSpPr>
        <p:spPr>
          <a:xfrm>
            <a:off x="6494743" y="4807882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>
                <a:moveTo>
                  <a:pt x="38459" y="17948"/>
                </a:moveTo>
                <a:cubicBezTo>
                  <a:pt x="38459" y="8044"/>
                  <a:pt x="46503" y="0"/>
                  <a:pt x="56406" y="0"/>
                </a:cubicBezTo>
                <a:lnTo>
                  <a:pt x="64098" y="0"/>
                </a:lnTo>
                <a:cubicBezTo>
                  <a:pt x="69771" y="0"/>
                  <a:pt x="74354" y="4583"/>
                  <a:pt x="74354" y="10256"/>
                </a:cubicBezTo>
                <a:lnTo>
                  <a:pt x="74354" y="153836"/>
                </a:lnTo>
                <a:cubicBezTo>
                  <a:pt x="74354" y="159508"/>
                  <a:pt x="69771" y="164092"/>
                  <a:pt x="64098" y="164092"/>
                </a:cubicBezTo>
                <a:lnTo>
                  <a:pt x="53843" y="164092"/>
                </a:lnTo>
                <a:cubicBezTo>
                  <a:pt x="44292" y="164092"/>
                  <a:pt x="36248" y="157553"/>
                  <a:pt x="33972" y="148708"/>
                </a:cubicBezTo>
                <a:cubicBezTo>
                  <a:pt x="33748" y="148708"/>
                  <a:pt x="33555" y="148708"/>
                  <a:pt x="33331" y="148708"/>
                </a:cubicBezTo>
                <a:cubicBezTo>
                  <a:pt x="19165" y="148708"/>
                  <a:pt x="7692" y="137234"/>
                  <a:pt x="7692" y="123069"/>
                </a:cubicBezTo>
                <a:cubicBezTo>
                  <a:pt x="7692" y="117300"/>
                  <a:pt x="9615" y="111980"/>
                  <a:pt x="12820" y="107685"/>
                </a:cubicBezTo>
                <a:cubicBezTo>
                  <a:pt x="6602" y="103006"/>
                  <a:pt x="2564" y="95570"/>
                  <a:pt x="2564" y="87174"/>
                </a:cubicBezTo>
                <a:cubicBezTo>
                  <a:pt x="2564" y="77270"/>
                  <a:pt x="8205" y="68649"/>
                  <a:pt x="16409" y="64387"/>
                </a:cubicBezTo>
                <a:cubicBezTo>
                  <a:pt x="14134" y="60541"/>
                  <a:pt x="12820" y="56054"/>
                  <a:pt x="12820" y="51279"/>
                </a:cubicBezTo>
                <a:cubicBezTo>
                  <a:pt x="12820" y="37113"/>
                  <a:pt x="24293" y="25639"/>
                  <a:pt x="38459" y="25639"/>
                </a:cubicBezTo>
                <a:lnTo>
                  <a:pt x="38459" y="17948"/>
                </a:lnTo>
                <a:close/>
                <a:moveTo>
                  <a:pt x="125633" y="17948"/>
                </a:moveTo>
                <a:lnTo>
                  <a:pt x="125633" y="25639"/>
                </a:lnTo>
                <a:cubicBezTo>
                  <a:pt x="139798" y="25639"/>
                  <a:pt x="151272" y="37113"/>
                  <a:pt x="151272" y="51279"/>
                </a:cubicBezTo>
                <a:cubicBezTo>
                  <a:pt x="151272" y="56086"/>
                  <a:pt x="149958" y="60573"/>
                  <a:pt x="147682" y="64387"/>
                </a:cubicBezTo>
                <a:cubicBezTo>
                  <a:pt x="155919" y="68649"/>
                  <a:pt x="161528" y="77238"/>
                  <a:pt x="161528" y="87174"/>
                </a:cubicBezTo>
                <a:cubicBezTo>
                  <a:pt x="161528" y="95570"/>
                  <a:pt x="157489" y="103006"/>
                  <a:pt x="151272" y="107685"/>
                </a:cubicBezTo>
                <a:cubicBezTo>
                  <a:pt x="154477" y="111980"/>
                  <a:pt x="156400" y="117300"/>
                  <a:pt x="156400" y="123069"/>
                </a:cubicBezTo>
                <a:cubicBezTo>
                  <a:pt x="156400" y="137234"/>
                  <a:pt x="144926" y="148708"/>
                  <a:pt x="130760" y="148708"/>
                </a:cubicBezTo>
                <a:cubicBezTo>
                  <a:pt x="130536" y="148708"/>
                  <a:pt x="130344" y="148708"/>
                  <a:pt x="130119" y="148708"/>
                </a:cubicBezTo>
                <a:cubicBezTo>
                  <a:pt x="127844" y="157553"/>
                  <a:pt x="119800" y="164092"/>
                  <a:pt x="110249" y="164092"/>
                </a:cubicBezTo>
                <a:lnTo>
                  <a:pt x="99993" y="164092"/>
                </a:lnTo>
                <a:cubicBezTo>
                  <a:pt x="94321" y="164092"/>
                  <a:pt x="89738" y="159508"/>
                  <a:pt x="89738" y="153836"/>
                </a:cubicBezTo>
                <a:lnTo>
                  <a:pt x="89738" y="10256"/>
                </a:lnTo>
                <a:cubicBezTo>
                  <a:pt x="89738" y="4583"/>
                  <a:pt x="94321" y="0"/>
                  <a:pt x="99993" y="0"/>
                </a:cubicBezTo>
                <a:lnTo>
                  <a:pt x="107685" y="0"/>
                </a:lnTo>
                <a:cubicBezTo>
                  <a:pt x="117588" y="0"/>
                  <a:pt x="125633" y="8044"/>
                  <a:pt x="125633" y="17948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48" name="Text 46"/>
          <p:cNvSpPr/>
          <p:nvPr/>
        </p:nvSpPr>
        <p:spPr>
          <a:xfrm>
            <a:off x="6777801" y="4791472"/>
            <a:ext cx="1189664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Modeling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74231" y="5054019"/>
            <a:ext cx="5160678" cy="39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churn risk scores using engagement, payment, and subscription data for early intervention.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8867" y="6651347"/>
            <a:ext cx="5685771" cy="984549"/>
          </a:xfrm>
          <a:custGeom>
            <a:avLst/>
            <a:gdLst/>
            <a:ahLst/>
            <a:cxnLst/>
            <a:rect l="l" t="t" r="r" b="b"/>
            <a:pathLst>
              <a:path w="5685771" h="984549">
                <a:moveTo>
                  <a:pt x="65640" y="0"/>
                </a:moveTo>
                <a:lnTo>
                  <a:pt x="5620131" y="0"/>
                </a:lnTo>
                <a:cubicBezTo>
                  <a:pt x="5656383" y="0"/>
                  <a:pt x="5685771" y="29388"/>
                  <a:pt x="5685771" y="65640"/>
                </a:cubicBezTo>
                <a:lnTo>
                  <a:pt x="5685771" y="918909"/>
                </a:lnTo>
                <a:cubicBezTo>
                  <a:pt x="5685771" y="955161"/>
                  <a:pt x="5656383" y="984549"/>
                  <a:pt x="5620131" y="984549"/>
                </a:cubicBezTo>
                <a:lnTo>
                  <a:pt x="65640" y="984549"/>
                </a:lnTo>
                <a:cubicBezTo>
                  <a:pt x="29412" y="984549"/>
                  <a:pt x="0" y="955137"/>
                  <a:pt x="0" y="918909"/>
                </a:cubicBezTo>
                <a:lnTo>
                  <a:pt x="0" y="65640"/>
                </a:lnTo>
                <a:cubicBezTo>
                  <a:pt x="0" y="29412"/>
                  <a:pt x="29412" y="0"/>
                  <a:pt x="65640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outerShdw sx="100000" sy="100000" kx="0" ky="0" algn="bl" rotWithShape="0" blurRad="49227" dist="32818" dir="5400000">
              <a:srgbClr val="000000">
                <a:alpha val="10196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310140" y="6782620"/>
            <a:ext cx="5497066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Techniques Demonstrated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33728" y="7135417"/>
            <a:ext cx="100506" cy="114864"/>
          </a:xfrm>
          <a:custGeom>
            <a:avLst/>
            <a:gdLst/>
            <a:ahLst/>
            <a:cxnLst/>
            <a:rect l="l" t="t" r="r" b="b"/>
            <a:pathLst>
              <a:path w="100506" h="114864">
                <a:moveTo>
                  <a:pt x="97545" y="15727"/>
                </a:moveTo>
                <a:cubicBezTo>
                  <a:pt x="100753" y="18060"/>
                  <a:pt x="101471" y="22547"/>
                  <a:pt x="99138" y="25755"/>
                </a:cubicBezTo>
                <a:lnTo>
                  <a:pt x="41706" y="104724"/>
                </a:lnTo>
                <a:cubicBezTo>
                  <a:pt x="40472" y="106429"/>
                  <a:pt x="38565" y="107483"/>
                  <a:pt x="36456" y="107663"/>
                </a:cubicBezTo>
                <a:cubicBezTo>
                  <a:pt x="34347" y="107842"/>
                  <a:pt x="32306" y="107057"/>
                  <a:pt x="30825" y="105576"/>
                </a:cubicBezTo>
                <a:lnTo>
                  <a:pt x="2109" y="76860"/>
                </a:lnTo>
                <a:cubicBezTo>
                  <a:pt x="-695" y="74056"/>
                  <a:pt x="-695" y="69502"/>
                  <a:pt x="2109" y="66697"/>
                </a:cubicBezTo>
                <a:cubicBezTo>
                  <a:pt x="4913" y="63893"/>
                  <a:pt x="9467" y="63893"/>
                  <a:pt x="12272" y="66697"/>
                </a:cubicBezTo>
                <a:lnTo>
                  <a:pt x="35043" y="89468"/>
                </a:lnTo>
                <a:lnTo>
                  <a:pt x="87539" y="17297"/>
                </a:lnTo>
                <a:cubicBezTo>
                  <a:pt x="89872" y="14089"/>
                  <a:pt x="94359" y="13371"/>
                  <a:pt x="97567" y="15704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53" name="Text 51"/>
          <p:cNvSpPr/>
          <p:nvPr/>
        </p:nvSpPr>
        <p:spPr>
          <a:xfrm>
            <a:off x="6519356" y="7110803"/>
            <a:ext cx="1000958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 Functions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078569" y="7135417"/>
            <a:ext cx="100506" cy="114864"/>
          </a:xfrm>
          <a:custGeom>
            <a:avLst/>
            <a:gdLst/>
            <a:ahLst/>
            <a:cxnLst/>
            <a:rect l="l" t="t" r="r" b="b"/>
            <a:pathLst>
              <a:path w="100506" h="114864">
                <a:moveTo>
                  <a:pt x="97545" y="15727"/>
                </a:moveTo>
                <a:cubicBezTo>
                  <a:pt x="100753" y="18060"/>
                  <a:pt x="101471" y="22547"/>
                  <a:pt x="99138" y="25755"/>
                </a:cubicBezTo>
                <a:lnTo>
                  <a:pt x="41706" y="104724"/>
                </a:lnTo>
                <a:cubicBezTo>
                  <a:pt x="40472" y="106429"/>
                  <a:pt x="38565" y="107483"/>
                  <a:pt x="36456" y="107663"/>
                </a:cubicBezTo>
                <a:cubicBezTo>
                  <a:pt x="34347" y="107842"/>
                  <a:pt x="32306" y="107057"/>
                  <a:pt x="30825" y="105576"/>
                </a:cubicBezTo>
                <a:lnTo>
                  <a:pt x="2109" y="76860"/>
                </a:lnTo>
                <a:cubicBezTo>
                  <a:pt x="-695" y="74056"/>
                  <a:pt x="-695" y="69502"/>
                  <a:pt x="2109" y="66697"/>
                </a:cubicBezTo>
                <a:cubicBezTo>
                  <a:pt x="4913" y="63893"/>
                  <a:pt x="9467" y="63893"/>
                  <a:pt x="12272" y="66697"/>
                </a:cubicBezTo>
                <a:lnTo>
                  <a:pt x="35043" y="89468"/>
                </a:lnTo>
                <a:lnTo>
                  <a:pt x="87539" y="17297"/>
                </a:lnTo>
                <a:cubicBezTo>
                  <a:pt x="89872" y="14089"/>
                  <a:pt x="94359" y="13371"/>
                  <a:pt x="97567" y="15704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55" name="Text 53"/>
          <p:cNvSpPr/>
          <p:nvPr/>
        </p:nvSpPr>
        <p:spPr>
          <a:xfrm>
            <a:off x="9264197" y="7110803"/>
            <a:ext cx="303569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33728" y="7365145"/>
            <a:ext cx="100506" cy="114864"/>
          </a:xfrm>
          <a:custGeom>
            <a:avLst/>
            <a:gdLst/>
            <a:ahLst/>
            <a:cxnLst/>
            <a:rect l="l" t="t" r="r" b="b"/>
            <a:pathLst>
              <a:path w="100506" h="114864">
                <a:moveTo>
                  <a:pt x="97545" y="15727"/>
                </a:moveTo>
                <a:cubicBezTo>
                  <a:pt x="100753" y="18060"/>
                  <a:pt x="101471" y="22547"/>
                  <a:pt x="99138" y="25755"/>
                </a:cubicBezTo>
                <a:lnTo>
                  <a:pt x="41706" y="104724"/>
                </a:lnTo>
                <a:cubicBezTo>
                  <a:pt x="40472" y="106429"/>
                  <a:pt x="38565" y="107483"/>
                  <a:pt x="36456" y="107663"/>
                </a:cubicBezTo>
                <a:cubicBezTo>
                  <a:pt x="34347" y="107842"/>
                  <a:pt x="32306" y="107057"/>
                  <a:pt x="30825" y="105576"/>
                </a:cubicBezTo>
                <a:lnTo>
                  <a:pt x="2109" y="76860"/>
                </a:lnTo>
                <a:cubicBezTo>
                  <a:pt x="-695" y="74056"/>
                  <a:pt x="-695" y="69502"/>
                  <a:pt x="2109" y="66697"/>
                </a:cubicBezTo>
                <a:cubicBezTo>
                  <a:pt x="4913" y="63893"/>
                  <a:pt x="9467" y="63893"/>
                  <a:pt x="12272" y="66697"/>
                </a:cubicBezTo>
                <a:lnTo>
                  <a:pt x="35043" y="89468"/>
                </a:lnTo>
                <a:lnTo>
                  <a:pt x="87539" y="17297"/>
                </a:lnTo>
                <a:cubicBezTo>
                  <a:pt x="89872" y="14089"/>
                  <a:pt x="94359" y="13371"/>
                  <a:pt x="97567" y="15704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57" name="Text 55"/>
          <p:cNvSpPr/>
          <p:nvPr/>
        </p:nvSpPr>
        <p:spPr>
          <a:xfrm>
            <a:off x="6519356" y="7340532"/>
            <a:ext cx="869685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JOINs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078569" y="7365145"/>
            <a:ext cx="100506" cy="114864"/>
          </a:xfrm>
          <a:custGeom>
            <a:avLst/>
            <a:gdLst/>
            <a:ahLst/>
            <a:cxnLst/>
            <a:rect l="l" t="t" r="r" b="b"/>
            <a:pathLst>
              <a:path w="100506" h="114864">
                <a:moveTo>
                  <a:pt x="97545" y="15727"/>
                </a:moveTo>
                <a:cubicBezTo>
                  <a:pt x="100753" y="18060"/>
                  <a:pt x="101471" y="22547"/>
                  <a:pt x="99138" y="25755"/>
                </a:cubicBezTo>
                <a:lnTo>
                  <a:pt x="41706" y="104724"/>
                </a:lnTo>
                <a:cubicBezTo>
                  <a:pt x="40472" y="106429"/>
                  <a:pt x="38565" y="107483"/>
                  <a:pt x="36456" y="107663"/>
                </a:cubicBezTo>
                <a:cubicBezTo>
                  <a:pt x="34347" y="107842"/>
                  <a:pt x="32306" y="107057"/>
                  <a:pt x="30825" y="105576"/>
                </a:cubicBezTo>
                <a:lnTo>
                  <a:pt x="2109" y="76860"/>
                </a:lnTo>
                <a:cubicBezTo>
                  <a:pt x="-695" y="74056"/>
                  <a:pt x="-695" y="69502"/>
                  <a:pt x="2109" y="66697"/>
                </a:cubicBezTo>
                <a:cubicBezTo>
                  <a:pt x="4913" y="63893"/>
                  <a:pt x="9467" y="63893"/>
                  <a:pt x="12272" y="66697"/>
                </a:cubicBezTo>
                <a:lnTo>
                  <a:pt x="35043" y="89468"/>
                </a:lnTo>
                <a:lnTo>
                  <a:pt x="87539" y="17297"/>
                </a:lnTo>
                <a:cubicBezTo>
                  <a:pt x="89872" y="14089"/>
                  <a:pt x="94359" y="13371"/>
                  <a:pt x="97567" y="15704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59" name="Text 57"/>
          <p:cNvSpPr/>
          <p:nvPr/>
        </p:nvSpPr>
        <p:spPr>
          <a:xfrm>
            <a:off x="9264197" y="7340532"/>
            <a:ext cx="1033777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Functions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275" y="357275"/>
            <a:ext cx="11539974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spc="49" kern="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 #1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7275" y="607367"/>
            <a:ext cx="11691815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6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Prediction Breakthrough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5138" y="1179007"/>
            <a:ext cx="6797152" cy="1268325"/>
          </a:xfrm>
          <a:custGeom>
            <a:avLst/>
            <a:gdLst/>
            <a:ahLst/>
            <a:cxnLst/>
            <a:rect l="l" t="t" r="r" b="b"/>
            <a:pathLst>
              <a:path w="6797152" h="1268325">
                <a:moveTo>
                  <a:pt x="35727" y="0"/>
                </a:moveTo>
                <a:lnTo>
                  <a:pt x="6725694" y="0"/>
                </a:lnTo>
                <a:cubicBezTo>
                  <a:pt x="6765133" y="0"/>
                  <a:pt x="6797152" y="32019"/>
                  <a:pt x="6797152" y="71457"/>
                </a:cubicBezTo>
                <a:lnTo>
                  <a:pt x="6797152" y="1196868"/>
                </a:lnTo>
                <a:cubicBezTo>
                  <a:pt x="6797152" y="1236306"/>
                  <a:pt x="6765133" y="1268325"/>
                  <a:pt x="6725694" y="1268325"/>
                </a:cubicBezTo>
                <a:lnTo>
                  <a:pt x="35727" y="1268325"/>
                </a:lnTo>
                <a:cubicBezTo>
                  <a:pt x="15996" y="1268325"/>
                  <a:pt x="0" y="1252330"/>
                  <a:pt x="0" y="1232598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3591" dist="35727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5138" y="1179007"/>
            <a:ext cx="35727" cy="1268325"/>
          </a:xfrm>
          <a:custGeom>
            <a:avLst/>
            <a:gdLst/>
            <a:ahLst/>
            <a:cxnLst/>
            <a:rect l="l" t="t" r="r" b="b"/>
            <a:pathLst>
              <a:path w="35727" h="1268325">
                <a:moveTo>
                  <a:pt x="35727" y="0"/>
                </a:moveTo>
                <a:lnTo>
                  <a:pt x="35727" y="0"/>
                </a:lnTo>
                <a:lnTo>
                  <a:pt x="35727" y="1268325"/>
                </a:lnTo>
                <a:lnTo>
                  <a:pt x="35727" y="1268325"/>
                </a:lnTo>
                <a:cubicBezTo>
                  <a:pt x="15996" y="1268325"/>
                  <a:pt x="0" y="1252330"/>
                  <a:pt x="0" y="1232598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6" name="Shape 4"/>
          <p:cNvSpPr/>
          <p:nvPr/>
        </p:nvSpPr>
        <p:spPr>
          <a:xfrm>
            <a:off x="598435" y="1393262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107182" y="0"/>
                </a:moveTo>
                <a:cubicBezTo>
                  <a:pt x="113337" y="0"/>
                  <a:pt x="118989" y="3391"/>
                  <a:pt x="121920" y="8792"/>
                </a:cubicBezTo>
                <a:lnTo>
                  <a:pt x="212355" y="176265"/>
                </a:lnTo>
                <a:cubicBezTo>
                  <a:pt x="215160" y="181456"/>
                  <a:pt x="215035" y="187737"/>
                  <a:pt x="212020" y="192803"/>
                </a:cubicBezTo>
                <a:cubicBezTo>
                  <a:pt x="209006" y="197869"/>
                  <a:pt x="203521" y="200967"/>
                  <a:pt x="197618" y="200967"/>
                </a:cubicBezTo>
                <a:lnTo>
                  <a:pt x="16747" y="200967"/>
                </a:lnTo>
                <a:cubicBezTo>
                  <a:pt x="10844" y="200967"/>
                  <a:pt x="5401" y="197869"/>
                  <a:pt x="2345" y="192803"/>
                </a:cubicBezTo>
                <a:cubicBezTo>
                  <a:pt x="-712" y="187737"/>
                  <a:pt x="-795" y="181456"/>
                  <a:pt x="2010" y="176265"/>
                </a:cubicBezTo>
                <a:lnTo>
                  <a:pt x="92445" y="8792"/>
                </a:lnTo>
                <a:cubicBezTo>
                  <a:pt x="95376" y="3391"/>
                  <a:pt x="101028" y="0"/>
                  <a:pt x="107182" y="0"/>
                </a:cubicBezTo>
                <a:close/>
                <a:moveTo>
                  <a:pt x="107182" y="70338"/>
                </a:moveTo>
                <a:cubicBezTo>
                  <a:pt x="101614" y="70338"/>
                  <a:pt x="97134" y="74818"/>
                  <a:pt x="97134" y="80387"/>
                </a:cubicBezTo>
                <a:lnTo>
                  <a:pt x="97134" y="127279"/>
                </a:lnTo>
                <a:cubicBezTo>
                  <a:pt x="97134" y="132848"/>
                  <a:pt x="101614" y="137327"/>
                  <a:pt x="107182" y="137327"/>
                </a:cubicBezTo>
                <a:cubicBezTo>
                  <a:pt x="112751" y="137327"/>
                  <a:pt x="117231" y="132848"/>
                  <a:pt x="117231" y="127279"/>
                </a:cubicBezTo>
                <a:lnTo>
                  <a:pt x="117231" y="80387"/>
                </a:lnTo>
                <a:cubicBezTo>
                  <a:pt x="117231" y="74818"/>
                  <a:pt x="112751" y="70338"/>
                  <a:pt x="107182" y="70338"/>
                </a:cubicBezTo>
                <a:close/>
                <a:moveTo>
                  <a:pt x="118361" y="160774"/>
                </a:moveTo>
                <a:cubicBezTo>
                  <a:pt x="118616" y="156624"/>
                  <a:pt x="116546" y="152676"/>
                  <a:pt x="112989" y="150525"/>
                </a:cubicBezTo>
                <a:cubicBezTo>
                  <a:pt x="109432" y="148373"/>
                  <a:pt x="104975" y="148373"/>
                  <a:pt x="101418" y="150525"/>
                </a:cubicBezTo>
                <a:cubicBezTo>
                  <a:pt x="97861" y="152676"/>
                  <a:pt x="95791" y="156624"/>
                  <a:pt x="96045" y="160774"/>
                </a:cubicBezTo>
                <a:cubicBezTo>
                  <a:pt x="95791" y="164923"/>
                  <a:pt x="97861" y="168871"/>
                  <a:pt x="101418" y="171023"/>
                </a:cubicBezTo>
                <a:cubicBezTo>
                  <a:pt x="104975" y="173174"/>
                  <a:pt x="109432" y="173174"/>
                  <a:pt x="112989" y="171023"/>
                </a:cubicBezTo>
                <a:cubicBezTo>
                  <a:pt x="116546" y="168871"/>
                  <a:pt x="118616" y="164923"/>
                  <a:pt x="118361" y="160774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946778" y="1357644"/>
            <a:ext cx="1902488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Happening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640" y="1750537"/>
            <a:ext cx="6502400" cy="526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with </a:t>
            </a:r>
            <a:pPr>
              <a:lnSpc>
                <a:spcPct val="140000"/>
              </a:lnSpc>
            </a:pPr>
            <a:r>
              <a:rPr lang="en-US" sz="1266" b="1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30+ days of inactivity</a:t>
            </a:r>
            <a:pPr>
              <a:lnSpc>
                <a:spcPct val="140000"/>
              </a:lnSpc>
            </a:pPr>
            <a:r>
              <a:rPr lang="en-US" sz="1266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have an 80% probability of churning. This critical threshold provides a clear early warning signal for proactive intervention.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7275" y="2594599"/>
            <a:ext cx="6815015" cy="1991807"/>
          </a:xfrm>
          <a:custGeom>
            <a:avLst/>
            <a:gdLst/>
            <a:ahLst/>
            <a:cxnLst/>
            <a:rect l="l" t="t" r="r" b="b"/>
            <a:pathLst>
              <a:path w="6815015" h="1991807">
                <a:moveTo>
                  <a:pt x="71446" y="0"/>
                </a:moveTo>
                <a:lnTo>
                  <a:pt x="6743569" y="0"/>
                </a:lnTo>
                <a:cubicBezTo>
                  <a:pt x="6783001" y="0"/>
                  <a:pt x="6815015" y="32014"/>
                  <a:pt x="6815015" y="71446"/>
                </a:cubicBezTo>
                <a:lnTo>
                  <a:pt x="6815015" y="1920360"/>
                </a:lnTo>
                <a:cubicBezTo>
                  <a:pt x="6815015" y="1959819"/>
                  <a:pt x="6783028" y="1991807"/>
                  <a:pt x="6743569" y="1991807"/>
                </a:cubicBezTo>
                <a:lnTo>
                  <a:pt x="71446" y="1991807"/>
                </a:lnTo>
                <a:cubicBezTo>
                  <a:pt x="32014" y="1991807"/>
                  <a:pt x="0" y="1959793"/>
                  <a:pt x="0" y="1920360"/>
                </a:cubicBezTo>
                <a:lnTo>
                  <a:pt x="0" y="71446"/>
                </a:lnTo>
                <a:cubicBezTo>
                  <a:pt x="0" y="32014"/>
                  <a:pt x="32014" y="0"/>
                  <a:pt x="714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3591" dist="35727" dir="5400000">
              <a:srgbClr val="000000">
                <a:alpha val="1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5912" y="2773236"/>
            <a:ext cx="654705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 &amp; Metrics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3058" y="3173384"/>
            <a:ext cx="3140445" cy="1229025"/>
          </a:xfrm>
          <a:custGeom>
            <a:avLst/>
            <a:gdLst/>
            <a:ahLst/>
            <a:cxnLst/>
            <a:rect l="l" t="t" r="r" b="b"/>
            <a:pathLst>
              <a:path w="3140445" h="1229025">
                <a:moveTo>
                  <a:pt x="71456" y="0"/>
                </a:moveTo>
                <a:lnTo>
                  <a:pt x="3068989" y="0"/>
                </a:lnTo>
                <a:cubicBezTo>
                  <a:pt x="3108453" y="0"/>
                  <a:pt x="3140445" y="31992"/>
                  <a:pt x="3140445" y="71456"/>
                </a:cubicBezTo>
                <a:lnTo>
                  <a:pt x="3140445" y="1157570"/>
                </a:lnTo>
                <a:cubicBezTo>
                  <a:pt x="3140445" y="1197033"/>
                  <a:pt x="3108453" y="1229025"/>
                  <a:pt x="3068989" y="1229025"/>
                </a:cubicBezTo>
                <a:lnTo>
                  <a:pt x="71456" y="1229025"/>
                </a:lnTo>
                <a:cubicBezTo>
                  <a:pt x="31992" y="1229025"/>
                  <a:pt x="0" y="1197033"/>
                  <a:pt x="0" y="1157570"/>
                </a:cubicBezTo>
                <a:lnTo>
                  <a:pt x="0" y="71456"/>
                </a:lnTo>
                <a:cubicBezTo>
                  <a:pt x="0" y="32018"/>
                  <a:pt x="32018" y="0"/>
                  <a:pt x="71456" y="0"/>
                </a:cubicBezTo>
                <a:close/>
              </a:path>
            </a:pathLst>
          </a:custGeom>
          <a:solidFill>
            <a:srgbClr val="F8F9FA"/>
          </a:solidFill>
          <a:ln w="20320">
            <a:solidFill>
              <a:srgbClr val="D32F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931" y="3323436"/>
            <a:ext cx="3054699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76" b="1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385" y="3823620"/>
            <a:ext cx="291178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Churn Rate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1851" y="4073713"/>
            <a:ext cx="2902857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 &lt;5% benchmark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4164" y="3173384"/>
            <a:ext cx="3140445" cy="1229025"/>
          </a:xfrm>
          <a:custGeom>
            <a:avLst/>
            <a:gdLst/>
            <a:ahLst/>
            <a:cxnLst/>
            <a:rect l="l" t="t" r="r" b="b"/>
            <a:pathLst>
              <a:path w="3140445" h="1229025">
                <a:moveTo>
                  <a:pt x="71456" y="0"/>
                </a:moveTo>
                <a:lnTo>
                  <a:pt x="3068989" y="0"/>
                </a:lnTo>
                <a:cubicBezTo>
                  <a:pt x="3108453" y="0"/>
                  <a:pt x="3140445" y="31992"/>
                  <a:pt x="3140445" y="71456"/>
                </a:cubicBezTo>
                <a:lnTo>
                  <a:pt x="3140445" y="1157570"/>
                </a:lnTo>
                <a:cubicBezTo>
                  <a:pt x="3140445" y="1197033"/>
                  <a:pt x="3108453" y="1229025"/>
                  <a:pt x="3068989" y="1229025"/>
                </a:cubicBezTo>
                <a:lnTo>
                  <a:pt x="71456" y="1229025"/>
                </a:lnTo>
                <a:cubicBezTo>
                  <a:pt x="31992" y="1229025"/>
                  <a:pt x="0" y="1197033"/>
                  <a:pt x="0" y="1157570"/>
                </a:cubicBezTo>
                <a:lnTo>
                  <a:pt x="0" y="71456"/>
                </a:lnTo>
                <a:cubicBezTo>
                  <a:pt x="0" y="32018"/>
                  <a:pt x="32018" y="0"/>
                  <a:pt x="71456" y="0"/>
                </a:cubicBezTo>
                <a:close/>
              </a:path>
            </a:pathLst>
          </a:custGeom>
          <a:solidFill>
            <a:srgbClr val="F8F9FA"/>
          </a:solidFill>
          <a:ln w="20320">
            <a:solidFill>
              <a:srgbClr val="FFA7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7037" y="3323436"/>
            <a:ext cx="3054699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76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58492" y="3823620"/>
            <a:ext cx="291178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Probability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62958" y="4073713"/>
            <a:ext cx="2902857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30 days inactive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7275" y="4731099"/>
            <a:ext cx="6815015" cy="1179007"/>
          </a:xfrm>
          <a:custGeom>
            <a:avLst/>
            <a:gdLst/>
            <a:ahLst/>
            <a:cxnLst/>
            <a:rect l="l" t="t" r="r" b="b"/>
            <a:pathLst>
              <a:path w="6815015" h="1179007">
                <a:moveTo>
                  <a:pt x="71460" y="0"/>
                </a:moveTo>
                <a:lnTo>
                  <a:pt x="6743556" y="0"/>
                </a:lnTo>
                <a:cubicBezTo>
                  <a:pt x="6783022" y="0"/>
                  <a:pt x="6815015" y="31994"/>
                  <a:pt x="6815015" y="71460"/>
                </a:cubicBezTo>
                <a:lnTo>
                  <a:pt x="6815015" y="1107547"/>
                </a:lnTo>
                <a:cubicBezTo>
                  <a:pt x="6815015" y="1147013"/>
                  <a:pt x="6783022" y="1179007"/>
                  <a:pt x="6743556" y="1179007"/>
                </a:cubicBezTo>
                <a:lnTo>
                  <a:pt x="71460" y="1179007"/>
                </a:lnTo>
                <a:cubicBezTo>
                  <a:pt x="31994" y="1179007"/>
                  <a:pt x="0" y="1147013"/>
                  <a:pt x="0" y="1107547"/>
                </a:cubicBezTo>
                <a:lnTo>
                  <a:pt x="0" y="71460"/>
                </a:lnTo>
                <a:cubicBezTo>
                  <a:pt x="0" y="32020"/>
                  <a:pt x="32020" y="0"/>
                  <a:pt x="71460" y="0"/>
                </a:cubicBezTo>
                <a:close/>
              </a:path>
            </a:pathLst>
          </a:custGeom>
          <a:solidFill>
            <a:srgbClr val="2E7D32"/>
          </a:solidFill>
          <a:ln/>
          <a:effectLst>
            <a:outerShdw sx="100000" sy="100000" kx="0" ky="0" algn="bl" rotWithShape="0" blurRad="53591" dist="35727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503" y="4927600"/>
            <a:ext cx="160774" cy="214365"/>
          </a:xfrm>
          <a:custGeom>
            <a:avLst/>
            <a:gdLst/>
            <a:ahLst/>
            <a:cxnLst/>
            <a:rect l="l" t="t" r="r" b="b"/>
            <a:pathLst>
              <a:path w="160774" h="214365">
                <a:moveTo>
                  <a:pt x="122632" y="160774"/>
                </a:moveTo>
                <a:cubicBezTo>
                  <a:pt x="125688" y="151437"/>
                  <a:pt x="131801" y="142980"/>
                  <a:pt x="138709" y="135695"/>
                </a:cubicBezTo>
                <a:cubicBezTo>
                  <a:pt x="152400" y="121292"/>
                  <a:pt x="160774" y="101823"/>
                  <a:pt x="160774" y="80387"/>
                </a:cubicBezTo>
                <a:cubicBezTo>
                  <a:pt x="160774" y="36007"/>
                  <a:pt x="124767" y="0"/>
                  <a:pt x="80387" y="0"/>
                </a:cubicBezTo>
                <a:cubicBezTo>
                  <a:pt x="36007" y="0"/>
                  <a:pt x="0" y="36007"/>
                  <a:pt x="0" y="80387"/>
                </a:cubicBezTo>
                <a:cubicBezTo>
                  <a:pt x="0" y="101823"/>
                  <a:pt x="8374" y="121292"/>
                  <a:pt x="22065" y="135695"/>
                </a:cubicBezTo>
                <a:cubicBezTo>
                  <a:pt x="28973" y="142980"/>
                  <a:pt x="35127" y="151437"/>
                  <a:pt x="38142" y="160774"/>
                </a:cubicBezTo>
                <a:lnTo>
                  <a:pt x="122590" y="160774"/>
                </a:lnTo>
                <a:close/>
                <a:moveTo>
                  <a:pt x="120580" y="180870"/>
                </a:moveTo>
                <a:lnTo>
                  <a:pt x="40193" y="180870"/>
                </a:lnTo>
                <a:lnTo>
                  <a:pt x="40193" y="187569"/>
                </a:lnTo>
                <a:cubicBezTo>
                  <a:pt x="40193" y="206075"/>
                  <a:pt x="55182" y="221064"/>
                  <a:pt x="73688" y="221064"/>
                </a:cubicBezTo>
                <a:lnTo>
                  <a:pt x="87086" y="221064"/>
                </a:lnTo>
                <a:cubicBezTo>
                  <a:pt x="105591" y="221064"/>
                  <a:pt x="120580" y="206075"/>
                  <a:pt x="120580" y="187569"/>
                </a:cubicBezTo>
                <a:lnTo>
                  <a:pt x="120580" y="180870"/>
                </a:lnTo>
                <a:close/>
                <a:moveTo>
                  <a:pt x="77037" y="46892"/>
                </a:moveTo>
                <a:cubicBezTo>
                  <a:pt x="60374" y="46892"/>
                  <a:pt x="46892" y="60374"/>
                  <a:pt x="46892" y="77037"/>
                </a:cubicBezTo>
                <a:cubicBezTo>
                  <a:pt x="46892" y="82606"/>
                  <a:pt x="42412" y="87086"/>
                  <a:pt x="36844" y="87086"/>
                </a:cubicBezTo>
                <a:cubicBezTo>
                  <a:pt x="31275" y="87086"/>
                  <a:pt x="26796" y="82606"/>
                  <a:pt x="26796" y="77037"/>
                </a:cubicBezTo>
                <a:cubicBezTo>
                  <a:pt x="26796" y="49279"/>
                  <a:pt x="49279" y="26796"/>
                  <a:pt x="77037" y="26796"/>
                </a:cubicBezTo>
                <a:cubicBezTo>
                  <a:pt x="82606" y="26796"/>
                  <a:pt x="87086" y="31275"/>
                  <a:pt x="87086" y="36844"/>
                </a:cubicBezTo>
                <a:cubicBezTo>
                  <a:pt x="87086" y="42412"/>
                  <a:pt x="82606" y="46892"/>
                  <a:pt x="77037" y="46892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21" name="Text 19"/>
          <p:cNvSpPr/>
          <p:nvPr/>
        </p:nvSpPr>
        <p:spPr>
          <a:xfrm>
            <a:off x="911051" y="4909736"/>
            <a:ext cx="1902488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Interpretation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5912" y="5267011"/>
            <a:ext cx="6529196" cy="46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intervention window exists. By triggering alerts at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14-day inactivity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we can engage users before they reach the critical 30-day threshold, significantly improving retention rates.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52602" y="1179007"/>
            <a:ext cx="4483798" cy="3885363"/>
          </a:xfrm>
          <a:custGeom>
            <a:avLst/>
            <a:gdLst/>
            <a:ahLst/>
            <a:cxnLst/>
            <a:rect l="l" t="t" r="r" b="b"/>
            <a:pathLst>
              <a:path w="4483798" h="3885363">
                <a:moveTo>
                  <a:pt x="71452" y="0"/>
                </a:moveTo>
                <a:lnTo>
                  <a:pt x="4412346" y="0"/>
                </a:lnTo>
                <a:cubicBezTo>
                  <a:pt x="4451808" y="0"/>
                  <a:pt x="4483798" y="31990"/>
                  <a:pt x="4483798" y="71452"/>
                </a:cubicBezTo>
                <a:lnTo>
                  <a:pt x="4483798" y="3813911"/>
                </a:lnTo>
                <a:cubicBezTo>
                  <a:pt x="4483798" y="3853373"/>
                  <a:pt x="4451808" y="3885363"/>
                  <a:pt x="4412346" y="3885363"/>
                </a:cubicBezTo>
                <a:lnTo>
                  <a:pt x="71452" y="3885363"/>
                </a:lnTo>
                <a:cubicBezTo>
                  <a:pt x="31990" y="3885363"/>
                  <a:pt x="0" y="3853373"/>
                  <a:pt x="0" y="3813911"/>
                </a:cubicBezTo>
                <a:lnTo>
                  <a:pt x="0" y="71452"/>
                </a:lnTo>
                <a:cubicBezTo>
                  <a:pt x="0" y="32016"/>
                  <a:pt x="32016" y="0"/>
                  <a:pt x="7145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3591" dist="35727" dir="540000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31240" y="1357644"/>
            <a:ext cx="421584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Risk Score Model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31240" y="1750646"/>
            <a:ext cx="4126523" cy="678822"/>
          </a:xfrm>
          <a:custGeom>
            <a:avLst/>
            <a:gdLst/>
            <a:ahLst/>
            <a:cxnLst/>
            <a:rect l="l" t="t" r="r" b="b"/>
            <a:pathLst>
              <a:path w="4126523" h="678822">
                <a:moveTo>
                  <a:pt x="71453" y="0"/>
                </a:moveTo>
                <a:lnTo>
                  <a:pt x="4055070" y="0"/>
                </a:lnTo>
                <a:cubicBezTo>
                  <a:pt x="4094533" y="0"/>
                  <a:pt x="4126523" y="31991"/>
                  <a:pt x="4126523" y="71453"/>
                </a:cubicBezTo>
                <a:lnTo>
                  <a:pt x="4126523" y="607369"/>
                </a:lnTo>
                <a:cubicBezTo>
                  <a:pt x="4126523" y="646831"/>
                  <a:pt x="4094533" y="678822"/>
                  <a:pt x="4055070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6" name="Text 24"/>
          <p:cNvSpPr/>
          <p:nvPr/>
        </p:nvSpPr>
        <p:spPr>
          <a:xfrm>
            <a:off x="7638422" y="1857829"/>
            <a:ext cx="105396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Inactivity Factor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858584" y="1857829"/>
            <a:ext cx="768141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 pts max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38422" y="2143648"/>
            <a:ext cx="397468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since last activity × 0.67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31240" y="2536651"/>
            <a:ext cx="4126523" cy="678822"/>
          </a:xfrm>
          <a:custGeom>
            <a:avLst/>
            <a:gdLst/>
            <a:ahLst/>
            <a:cxnLst/>
            <a:rect l="l" t="t" r="r" b="b"/>
            <a:pathLst>
              <a:path w="4126523" h="678822">
                <a:moveTo>
                  <a:pt x="71453" y="0"/>
                </a:moveTo>
                <a:lnTo>
                  <a:pt x="4055070" y="0"/>
                </a:lnTo>
                <a:cubicBezTo>
                  <a:pt x="4094533" y="0"/>
                  <a:pt x="4126523" y="31991"/>
                  <a:pt x="4126523" y="71453"/>
                </a:cubicBezTo>
                <a:lnTo>
                  <a:pt x="4126523" y="607369"/>
                </a:lnTo>
                <a:cubicBezTo>
                  <a:pt x="4126523" y="646831"/>
                  <a:pt x="4094533" y="678822"/>
                  <a:pt x="4055070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0" name="Text 28"/>
          <p:cNvSpPr/>
          <p:nvPr/>
        </p:nvSpPr>
        <p:spPr>
          <a:xfrm>
            <a:off x="7638422" y="2643833"/>
            <a:ext cx="125939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Factor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854676" y="2643833"/>
            <a:ext cx="768141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pts max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38422" y="2929653"/>
            <a:ext cx="397468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Based on courses completed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31240" y="3322655"/>
            <a:ext cx="4126523" cy="678822"/>
          </a:xfrm>
          <a:custGeom>
            <a:avLst/>
            <a:gdLst/>
            <a:ahLst/>
            <a:cxnLst/>
            <a:rect l="l" t="t" r="r" b="b"/>
            <a:pathLst>
              <a:path w="4126523" h="678822">
                <a:moveTo>
                  <a:pt x="71453" y="0"/>
                </a:moveTo>
                <a:lnTo>
                  <a:pt x="4055070" y="0"/>
                </a:lnTo>
                <a:cubicBezTo>
                  <a:pt x="4094533" y="0"/>
                  <a:pt x="4126523" y="31991"/>
                  <a:pt x="4126523" y="71453"/>
                </a:cubicBezTo>
                <a:lnTo>
                  <a:pt x="4126523" y="607369"/>
                </a:lnTo>
                <a:cubicBezTo>
                  <a:pt x="4126523" y="646831"/>
                  <a:pt x="4094533" y="678822"/>
                  <a:pt x="4055070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4" name="Text 32"/>
          <p:cNvSpPr/>
          <p:nvPr/>
        </p:nvSpPr>
        <p:spPr>
          <a:xfrm>
            <a:off x="7638422" y="3429837"/>
            <a:ext cx="1036097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Factor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858360" y="3429837"/>
            <a:ext cx="768141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1565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pts max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38422" y="3715657"/>
            <a:ext cx="397468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Failed transactions × 10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31240" y="4108659"/>
            <a:ext cx="4126523" cy="678822"/>
          </a:xfrm>
          <a:custGeom>
            <a:avLst/>
            <a:gdLst/>
            <a:ahLst/>
            <a:cxnLst/>
            <a:rect l="l" t="t" r="r" b="b"/>
            <a:pathLst>
              <a:path w="4126523" h="678822">
                <a:moveTo>
                  <a:pt x="71453" y="0"/>
                </a:moveTo>
                <a:lnTo>
                  <a:pt x="4055070" y="0"/>
                </a:lnTo>
                <a:cubicBezTo>
                  <a:pt x="4094533" y="0"/>
                  <a:pt x="4126523" y="31991"/>
                  <a:pt x="4126523" y="71453"/>
                </a:cubicBezTo>
                <a:lnTo>
                  <a:pt x="4126523" y="607369"/>
                </a:lnTo>
                <a:cubicBezTo>
                  <a:pt x="4126523" y="646831"/>
                  <a:pt x="4094533" y="678822"/>
                  <a:pt x="4055070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8" name="Text 36"/>
          <p:cNvSpPr/>
          <p:nvPr/>
        </p:nvSpPr>
        <p:spPr>
          <a:xfrm>
            <a:off x="7638422" y="4215842"/>
            <a:ext cx="73241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 Factor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885827" y="4215842"/>
            <a:ext cx="741345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pts max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38422" y="4501662"/>
            <a:ext cx="397468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Newer subscriptions = higher risk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52602" y="5209067"/>
            <a:ext cx="4483798" cy="1750646"/>
          </a:xfrm>
          <a:custGeom>
            <a:avLst/>
            <a:gdLst/>
            <a:ahLst/>
            <a:cxnLst/>
            <a:rect l="l" t="t" r="r" b="b"/>
            <a:pathLst>
              <a:path w="4483798" h="1750646">
                <a:moveTo>
                  <a:pt x="71461" y="0"/>
                </a:moveTo>
                <a:lnTo>
                  <a:pt x="4412336" y="0"/>
                </a:lnTo>
                <a:cubicBezTo>
                  <a:pt x="4451803" y="0"/>
                  <a:pt x="4483798" y="31994"/>
                  <a:pt x="4483798" y="71461"/>
                </a:cubicBezTo>
                <a:lnTo>
                  <a:pt x="4483798" y="1679185"/>
                </a:lnTo>
                <a:cubicBezTo>
                  <a:pt x="4483798" y="1718652"/>
                  <a:pt x="4451803" y="1750646"/>
                  <a:pt x="4412336" y="1750646"/>
                </a:cubicBezTo>
                <a:lnTo>
                  <a:pt x="71461" y="1750646"/>
                </a:lnTo>
                <a:cubicBezTo>
                  <a:pt x="32021" y="1750646"/>
                  <a:pt x="0" y="1718625"/>
                  <a:pt x="0" y="1679185"/>
                </a:cubicBezTo>
                <a:lnTo>
                  <a:pt x="0" y="71461"/>
                </a:lnTo>
                <a:cubicBezTo>
                  <a:pt x="0" y="32021"/>
                  <a:pt x="32021" y="0"/>
                  <a:pt x="71461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outerShdw sx="100000" sy="100000" kx="0" ky="0" algn="bl" rotWithShape="0" blurRad="133978" dist="89319" dir="5400000">
              <a:srgbClr val="000000">
                <a:alpha val="10196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495512" y="5387705"/>
            <a:ext cx="4197978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24057" y="5602069"/>
            <a:ext cx="4340888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76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$90K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91046" y="6030799"/>
            <a:ext cx="4206910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Revenue Saved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31240" y="6388074"/>
            <a:ext cx="4126523" cy="393002"/>
          </a:xfrm>
          <a:custGeom>
            <a:avLst/>
            <a:gdLst/>
            <a:ahLst/>
            <a:cxnLst/>
            <a:rect l="l" t="t" r="r" b="b"/>
            <a:pathLst>
              <a:path w="4126523" h="393002">
                <a:moveTo>
                  <a:pt x="71456" y="0"/>
                </a:moveTo>
                <a:lnTo>
                  <a:pt x="4055067" y="0"/>
                </a:lnTo>
                <a:cubicBezTo>
                  <a:pt x="4094531" y="0"/>
                  <a:pt x="4126523" y="31992"/>
                  <a:pt x="4126523" y="71456"/>
                </a:cubicBezTo>
                <a:lnTo>
                  <a:pt x="4126523" y="321547"/>
                </a:lnTo>
                <a:cubicBezTo>
                  <a:pt x="4126523" y="361010"/>
                  <a:pt x="4094531" y="393002"/>
                  <a:pt x="4055067" y="393002"/>
                </a:cubicBezTo>
                <a:lnTo>
                  <a:pt x="71456" y="393002"/>
                </a:lnTo>
                <a:cubicBezTo>
                  <a:pt x="32018" y="393002"/>
                  <a:pt x="0" y="360984"/>
                  <a:pt x="0" y="321547"/>
                </a:cubicBezTo>
                <a:lnTo>
                  <a:pt x="0" y="71456"/>
                </a:lnTo>
                <a:cubicBezTo>
                  <a:pt x="0" y="32018"/>
                  <a:pt x="32018" y="0"/>
                  <a:pt x="7145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638422" y="6495256"/>
            <a:ext cx="397468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 automated retention campaigns with 300% ROI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47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spc="49" kern="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 #2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00765"/>
            <a:ext cx="11697252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9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2-Course Activation Rule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061" y="1166191"/>
            <a:ext cx="5636591" cy="1519583"/>
          </a:xfrm>
          <a:custGeom>
            <a:avLst/>
            <a:gdLst/>
            <a:ahLst/>
            <a:cxnLst/>
            <a:rect l="l" t="t" r="r" b="b"/>
            <a:pathLst>
              <a:path w="5636591" h="1519583">
                <a:moveTo>
                  <a:pt x="35339" y="0"/>
                </a:moveTo>
                <a:lnTo>
                  <a:pt x="5565916" y="0"/>
                </a:lnTo>
                <a:cubicBezTo>
                  <a:pt x="5604949" y="0"/>
                  <a:pt x="5636591" y="31643"/>
                  <a:pt x="5636591" y="70676"/>
                </a:cubicBezTo>
                <a:lnTo>
                  <a:pt x="5636591" y="1448907"/>
                </a:lnTo>
                <a:cubicBezTo>
                  <a:pt x="5636591" y="1487940"/>
                  <a:pt x="5604949" y="1519583"/>
                  <a:pt x="5565916" y="1519583"/>
                </a:cubicBezTo>
                <a:lnTo>
                  <a:pt x="35339" y="1519583"/>
                </a:lnTo>
                <a:cubicBezTo>
                  <a:pt x="15822" y="1519583"/>
                  <a:pt x="0" y="1503761"/>
                  <a:pt x="0" y="148424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3009" dist="35339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1061" y="1166191"/>
            <a:ext cx="35339" cy="1519583"/>
          </a:xfrm>
          <a:custGeom>
            <a:avLst/>
            <a:gdLst/>
            <a:ahLst/>
            <a:cxnLst/>
            <a:rect l="l" t="t" r="r" b="b"/>
            <a:pathLst>
              <a:path w="35339" h="1519583">
                <a:moveTo>
                  <a:pt x="35339" y="0"/>
                </a:moveTo>
                <a:lnTo>
                  <a:pt x="35339" y="0"/>
                </a:lnTo>
                <a:lnTo>
                  <a:pt x="35339" y="1519583"/>
                </a:lnTo>
                <a:lnTo>
                  <a:pt x="35339" y="1519583"/>
                </a:lnTo>
                <a:cubicBezTo>
                  <a:pt x="15822" y="1519583"/>
                  <a:pt x="0" y="1503761"/>
                  <a:pt x="0" y="148424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6" name="Shape 4"/>
          <p:cNvSpPr/>
          <p:nvPr/>
        </p:nvSpPr>
        <p:spPr>
          <a:xfrm>
            <a:off x="578678" y="1378114"/>
            <a:ext cx="238539" cy="212035"/>
          </a:xfrm>
          <a:custGeom>
            <a:avLst/>
            <a:gdLst/>
            <a:ahLst/>
            <a:cxnLst/>
            <a:rect l="l" t="t" r="r" b="b"/>
            <a:pathLst>
              <a:path w="238539" h="212035">
                <a:moveTo>
                  <a:pt x="19878" y="81087"/>
                </a:moveTo>
                <a:lnTo>
                  <a:pt x="106514" y="116743"/>
                </a:lnTo>
                <a:cubicBezTo>
                  <a:pt x="110573" y="118400"/>
                  <a:pt x="114880" y="119270"/>
                  <a:pt x="119270" y="119270"/>
                </a:cubicBezTo>
                <a:cubicBezTo>
                  <a:pt x="123659" y="119270"/>
                  <a:pt x="127966" y="118400"/>
                  <a:pt x="132025" y="116743"/>
                </a:cubicBezTo>
                <a:lnTo>
                  <a:pt x="232410" y="75413"/>
                </a:lnTo>
                <a:cubicBezTo>
                  <a:pt x="236137" y="73881"/>
                  <a:pt x="238539" y="70278"/>
                  <a:pt x="238539" y="66261"/>
                </a:cubicBezTo>
                <a:cubicBezTo>
                  <a:pt x="238539" y="62244"/>
                  <a:pt x="236137" y="58641"/>
                  <a:pt x="232410" y="57109"/>
                </a:cubicBezTo>
                <a:lnTo>
                  <a:pt x="132025" y="15778"/>
                </a:lnTo>
                <a:cubicBezTo>
                  <a:pt x="127966" y="14122"/>
                  <a:pt x="123659" y="13252"/>
                  <a:pt x="119270" y="13252"/>
                </a:cubicBezTo>
                <a:cubicBezTo>
                  <a:pt x="114880" y="13252"/>
                  <a:pt x="110573" y="14122"/>
                  <a:pt x="106514" y="15778"/>
                </a:cubicBezTo>
                <a:lnTo>
                  <a:pt x="6129" y="57109"/>
                </a:lnTo>
                <a:cubicBezTo>
                  <a:pt x="2402" y="58641"/>
                  <a:pt x="0" y="62244"/>
                  <a:pt x="0" y="66261"/>
                </a:cubicBezTo>
                <a:lnTo>
                  <a:pt x="0" y="188843"/>
                </a:lnTo>
                <a:cubicBezTo>
                  <a:pt x="0" y="194351"/>
                  <a:pt x="4431" y="198783"/>
                  <a:pt x="9939" y="198783"/>
                </a:cubicBezTo>
                <a:cubicBezTo>
                  <a:pt x="15447" y="198783"/>
                  <a:pt x="19878" y="194351"/>
                  <a:pt x="19878" y="188843"/>
                </a:cubicBezTo>
                <a:lnTo>
                  <a:pt x="19878" y="81087"/>
                </a:lnTo>
                <a:close/>
                <a:moveTo>
                  <a:pt x="39757" y="110780"/>
                </a:moveTo>
                <a:lnTo>
                  <a:pt x="39757" y="159026"/>
                </a:lnTo>
                <a:cubicBezTo>
                  <a:pt x="39757" y="180975"/>
                  <a:pt x="75372" y="198783"/>
                  <a:pt x="119270" y="198783"/>
                </a:cubicBezTo>
                <a:cubicBezTo>
                  <a:pt x="163167" y="198783"/>
                  <a:pt x="198783" y="180975"/>
                  <a:pt x="198783" y="159026"/>
                </a:cubicBezTo>
                <a:lnTo>
                  <a:pt x="198783" y="110738"/>
                </a:lnTo>
                <a:lnTo>
                  <a:pt x="139603" y="135131"/>
                </a:lnTo>
                <a:cubicBezTo>
                  <a:pt x="133143" y="137781"/>
                  <a:pt x="126268" y="139148"/>
                  <a:pt x="119270" y="139148"/>
                </a:cubicBezTo>
                <a:cubicBezTo>
                  <a:pt x="112271" y="139148"/>
                  <a:pt x="105396" y="137781"/>
                  <a:pt x="98936" y="135131"/>
                </a:cubicBezTo>
                <a:lnTo>
                  <a:pt x="39757" y="110738"/>
                </a:ln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936487" y="1342887"/>
            <a:ext cx="188180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Happening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5426" y="1731505"/>
            <a:ext cx="5345043" cy="7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2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completing </a:t>
            </a:r>
            <a:pPr>
              <a:lnSpc>
                <a:spcPct val="140000"/>
              </a:lnSpc>
            </a:pPr>
            <a:r>
              <a:rPr lang="en-US" sz="1252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2+ courses in the first 7 days</a:t>
            </a:r>
            <a:pPr>
              <a:lnSpc>
                <a:spcPct val="140000"/>
              </a:lnSpc>
            </a:pPr>
            <a:r>
              <a:rPr lang="en-US" sz="1252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have 3x higher 12-month retention rates. This activation metric is the strongest predictor of long-term engagement.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3391" y="2824810"/>
            <a:ext cx="5654261" cy="2438400"/>
          </a:xfrm>
          <a:custGeom>
            <a:avLst/>
            <a:gdLst/>
            <a:ahLst/>
            <a:cxnLst/>
            <a:rect l="l" t="t" r="r" b="b"/>
            <a:pathLst>
              <a:path w="5654261" h="2438400">
                <a:moveTo>
                  <a:pt x="70689" y="0"/>
                </a:moveTo>
                <a:lnTo>
                  <a:pt x="5583572" y="0"/>
                </a:lnTo>
                <a:cubicBezTo>
                  <a:pt x="5622586" y="0"/>
                  <a:pt x="5654261" y="31675"/>
                  <a:pt x="5654261" y="70689"/>
                </a:cubicBezTo>
                <a:lnTo>
                  <a:pt x="5654261" y="2367711"/>
                </a:lnTo>
                <a:cubicBezTo>
                  <a:pt x="5654261" y="2406725"/>
                  <a:pt x="5622586" y="2438400"/>
                  <a:pt x="5583572" y="2438400"/>
                </a:cubicBezTo>
                <a:lnTo>
                  <a:pt x="70689" y="2438400"/>
                </a:lnTo>
                <a:cubicBezTo>
                  <a:pt x="31675" y="2438400"/>
                  <a:pt x="0" y="2406725"/>
                  <a:pt x="0" y="2367711"/>
                </a:cubicBezTo>
                <a:lnTo>
                  <a:pt x="0" y="70689"/>
                </a:lnTo>
                <a:cubicBezTo>
                  <a:pt x="0" y="31675"/>
                  <a:pt x="31675" y="0"/>
                  <a:pt x="706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3009" dist="35339" dir="5400000">
              <a:srgbClr val="000000">
                <a:alpha val="1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087" y="3001505"/>
            <a:ext cx="538921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Comparison</a:t>
            </a:r>
            <a:endParaRPr lang="en-US" sz="1600" dirty="0"/>
          </a:p>
        </p:txBody>
      </p:sp>
      <p:pic>
        <p:nvPicPr>
          <p:cNvPr id="11" name="Image 0" descr="https://kimi-img.moonshot.cn/pub/slides/okc/w7ufw4gpw4efk/chart_engagement_status.png">    </p:cNvPr>
          <p:cNvPicPr>
            <a:picLocks noChangeAspect="1"/>
          </p:cNvPicPr>
          <p:nvPr/>
        </p:nvPicPr>
        <p:blipFill>
          <a:blip r:embed="rId1"/>
          <a:srcRect l="0" r="0" t="22992" b="22992"/>
          <a:stretch/>
        </p:blipFill>
        <p:spPr>
          <a:xfrm>
            <a:off x="530087" y="3390236"/>
            <a:ext cx="5300870" cy="1696278"/>
          </a:xfrm>
          <a:prstGeom prst="roundRect">
            <a:avLst>
              <a:gd name="adj" fmla="val 0"/>
            </a:avLst>
          </a:prstGeom>
        </p:spPr>
      </p:pic>
      <p:sp>
        <p:nvSpPr>
          <p:cNvPr id="12" name="Shape 9"/>
          <p:cNvSpPr/>
          <p:nvPr/>
        </p:nvSpPr>
        <p:spPr>
          <a:xfrm>
            <a:off x="353391" y="5404566"/>
            <a:ext cx="5654261" cy="1448904"/>
          </a:xfrm>
          <a:custGeom>
            <a:avLst/>
            <a:gdLst/>
            <a:ahLst/>
            <a:cxnLst/>
            <a:rect l="l" t="t" r="r" b="b"/>
            <a:pathLst>
              <a:path w="5654261" h="1448904">
                <a:moveTo>
                  <a:pt x="70678" y="0"/>
                </a:moveTo>
                <a:lnTo>
                  <a:pt x="5583583" y="0"/>
                </a:lnTo>
                <a:cubicBezTo>
                  <a:pt x="5622617" y="0"/>
                  <a:pt x="5654261" y="31643"/>
                  <a:pt x="5654261" y="70678"/>
                </a:cubicBezTo>
                <a:lnTo>
                  <a:pt x="5654261" y="1378227"/>
                </a:lnTo>
                <a:cubicBezTo>
                  <a:pt x="5654261" y="1417261"/>
                  <a:pt x="5622617" y="1448904"/>
                  <a:pt x="5583583" y="1448904"/>
                </a:cubicBezTo>
                <a:lnTo>
                  <a:pt x="70678" y="1448904"/>
                </a:lnTo>
                <a:cubicBezTo>
                  <a:pt x="31643" y="1448904"/>
                  <a:pt x="0" y="1417261"/>
                  <a:pt x="0" y="1378227"/>
                </a:cubicBezTo>
                <a:lnTo>
                  <a:pt x="0" y="70678"/>
                </a:lnTo>
                <a:cubicBezTo>
                  <a:pt x="0" y="31643"/>
                  <a:pt x="31643" y="0"/>
                  <a:pt x="70678" y="0"/>
                </a:cubicBezTo>
                <a:close/>
              </a:path>
            </a:pathLst>
          </a:custGeom>
          <a:solidFill>
            <a:srgbClr val="1565C0"/>
          </a:solidFill>
          <a:ln/>
          <a:effectLst>
            <a:outerShdw sx="100000" sy="100000" kx="0" ky="0" algn="bl" rotWithShape="0" blurRad="53009" dist="35339" dir="540000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6591" y="5598931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3252" y="13252"/>
                </a:moveTo>
                <a:cubicBezTo>
                  <a:pt x="20582" y="13252"/>
                  <a:pt x="26504" y="19174"/>
                  <a:pt x="26504" y="26504"/>
                </a:cubicBezTo>
                <a:lnTo>
                  <a:pt x="26504" y="165652"/>
                </a:lnTo>
                <a:cubicBezTo>
                  <a:pt x="26504" y="169297"/>
                  <a:pt x="29486" y="172278"/>
                  <a:pt x="33130" y="172278"/>
                </a:cubicBezTo>
                <a:lnTo>
                  <a:pt x="198783" y="172278"/>
                </a:lnTo>
                <a:cubicBezTo>
                  <a:pt x="206113" y="172278"/>
                  <a:pt x="212035" y="178200"/>
                  <a:pt x="212035" y="185530"/>
                </a:cubicBezTo>
                <a:cubicBezTo>
                  <a:pt x="212035" y="192861"/>
                  <a:pt x="206113" y="198783"/>
                  <a:pt x="198783" y="198783"/>
                </a:cubicBezTo>
                <a:lnTo>
                  <a:pt x="33130" y="198783"/>
                </a:lnTo>
                <a:cubicBezTo>
                  <a:pt x="14826" y="198783"/>
                  <a:pt x="0" y="183957"/>
                  <a:pt x="0" y="165652"/>
                </a:cubicBezTo>
                <a:lnTo>
                  <a:pt x="0" y="26504"/>
                </a:lnTo>
                <a:cubicBezTo>
                  <a:pt x="0" y="19174"/>
                  <a:pt x="5922" y="13252"/>
                  <a:pt x="13252" y="13252"/>
                </a:cubicBezTo>
                <a:close/>
                <a:moveTo>
                  <a:pt x="53009" y="39757"/>
                </a:moveTo>
                <a:cubicBezTo>
                  <a:pt x="53009" y="32426"/>
                  <a:pt x="58931" y="26504"/>
                  <a:pt x="66261" y="26504"/>
                </a:cubicBezTo>
                <a:lnTo>
                  <a:pt x="145774" y="26504"/>
                </a:lnTo>
                <a:cubicBezTo>
                  <a:pt x="153104" y="26504"/>
                  <a:pt x="159026" y="32426"/>
                  <a:pt x="159026" y="39757"/>
                </a:cubicBezTo>
                <a:cubicBezTo>
                  <a:pt x="159026" y="47087"/>
                  <a:pt x="153104" y="53009"/>
                  <a:pt x="145774" y="53009"/>
                </a:cubicBezTo>
                <a:lnTo>
                  <a:pt x="66261" y="53009"/>
                </a:lnTo>
                <a:cubicBezTo>
                  <a:pt x="58931" y="53009"/>
                  <a:pt x="53009" y="47087"/>
                  <a:pt x="53009" y="39757"/>
                </a:cubicBezTo>
                <a:close/>
                <a:moveTo>
                  <a:pt x="66261" y="72887"/>
                </a:moveTo>
                <a:lnTo>
                  <a:pt x="119270" y="72887"/>
                </a:lnTo>
                <a:cubicBezTo>
                  <a:pt x="126600" y="72887"/>
                  <a:pt x="132522" y="78809"/>
                  <a:pt x="132522" y="86139"/>
                </a:cubicBezTo>
                <a:cubicBezTo>
                  <a:pt x="132522" y="93469"/>
                  <a:pt x="126600" y="99391"/>
                  <a:pt x="119270" y="99391"/>
                </a:cubicBezTo>
                <a:lnTo>
                  <a:pt x="66261" y="99391"/>
                </a:lnTo>
                <a:cubicBezTo>
                  <a:pt x="58931" y="99391"/>
                  <a:pt x="53009" y="93469"/>
                  <a:pt x="53009" y="86139"/>
                </a:cubicBezTo>
                <a:cubicBezTo>
                  <a:pt x="53009" y="78809"/>
                  <a:pt x="58931" y="72887"/>
                  <a:pt x="66261" y="72887"/>
                </a:cubicBezTo>
                <a:close/>
                <a:moveTo>
                  <a:pt x="66261" y="119270"/>
                </a:moveTo>
                <a:lnTo>
                  <a:pt x="172278" y="119270"/>
                </a:lnTo>
                <a:cubicBezTo>
                  <a:pt x="179608" y="119270"/>
                  <a:pt x="185530" y="125192"/>
                  <a:pt x="185530" y="132522"/>
                </a:cubicBezTo>
                <a:cubicBezTo>
                  <a:pt x="185530" y="139852"/>
                  <a:pt x="179608" y="145774"/>
                  <a:pt x="172278" y="145774"/>
                </a:cubicBezTo>
                <a:lnTo>
                  <a:pt x="66261" y="145774"/>
                </a:lnTo>
                <a:cubicBezTo>
                  <a:pt x="58931" y="145774"/>
                  <a:pt x="53009" y="139852"/>
                  <a:pt x="53009" y="132522"/>
                </a:cubicBezTo>
                <a:cubicBezTo>
                  <a:pt x="53009" y="125192"/>
                  <a:pt x="58931" y="119270"/>
                  <a:pt x="66261" y="119270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14" name="Text 11"/>
          <p:cNvSpPr/>
          <p:nvPr/>
        </p:nvSpPr>
        <p:spPr>
          <a:xfrm>
            <a:off x="901148" y="5581262"/>
            <a:ext cx="803965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0087" y="5934653"/>
            <a:ext cx="2597426" cy="742122"/>
          </a:xfrm>
          <a:custGeom>
            <a:avLst/>
            <a:gdLst/>
            <a:ahLst/>
            <a:cxnLst/>
            <a:rect l="l" t="t" r="r" b="b"/>
            <a:pathLst>
              <a:path w="2597426" h="742122">
                <a:moveTo>
                  <a:pt x="70680" y="0"/>
                </a:moveTo>
                <a:lnTo>
                  <a:pt x="2526746" y="0"/>
                </a:lnTo>
                <a:cubicBezTo>
                  <a:pt x="2565782" y="0"/>
                  <a:pt x="2597426" y="31644"/>
                  <a:pt x="2597426" y="70680"/>
                </a:cubicBezTo>
                <a:lnTo>
                  <a:pt x="2597426" y="671442"/>
                </a:lnTo>
                <a:cubicBezTo>
                  <a:pt x="2597426" y="710451"/>
                  <a:pt x="2565756" y="742122"/>
                  <a:pt x="2526746" y="742122"/>
                </a:cubicBezTo>
                <a:lnTo>
                  <a:pt x="70680" y="742122"/>
                </a:lnTo>
                <a:cubicBezTo>
                  <a:pt x="31644" y="742122"/>
                  <a:pt x="0" y="710477"/>
                  <a:pt x="0" y="671442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56591" y="6040670"/>
            <a:ext cx="2544417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04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5183" y="6394062"/>
            <a:ext cx="2447235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courses (Active)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32537" y="5934653"/>
            <a:ext cx="2597426" cy="742122"/>
          </a:xfrm>
          <a:custGeom>
            <a:avLst/>
            <a:gdLst/>
            <a:ahLst/>
            <a:cxnLst/>
            <a:rect l="l" t="t" r="r" b="b"/>
            <a:pathLst>
              <a:path w="2597426" h="742122">
                <a:moveTo>
                  <a:pt x="70680" y="0"/>
                </a:moveTo>
                <a:lnTo>
                  <a:pt x="2526746" y="0"/>
                </a:lnTo>
                <a:cubicBezTo>
                  <a:pt x="2565782" y="0"/>
                  <a:pt x="2597426" y="31644"/>
                  <a:pt x="2597426" y="70680"/>
                </a:cubicBezTo>
                <a:lnTo>
                  <a:pt x="2597426" y="671442"/>
                </a:lnTo>
                <a:cubicBezTo>
                  <a:pt x="2597426" y="710451"/>
                  <a:pt x="2565756" y="742122"/>
                  <a:pt x="2526746" y="742122"/>
                </a:cubicBezTo>
                <a:lnTo>
                  <a:pt x="70680" y="742122"/>
                </a:lnTo>
                <a:cubicBezTo>
                  <a:pt x="31644" y="742122"/>
                  <a:pt x="0" y="710477"/>
                  <a:pt x="0" y="671442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259041" y="6040670"/>
            <a:ext cx="2544417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04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307632" y="6394062"/>
            <a:ext cx="2447235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courses (Churned)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82360" y="1166191"/>
            <a:ext cx="5654261" cy="3975652"/>
          </a:xfrm>
          <a:custGeom>
            <a:avLst/>
            <a:gdLst/>
            <a:ahLst/>
            <a:cxnLst/>
            <a:rect l="l" t="t" r="r" b="b"/>
            <a:pathLst>
              <a:path w="5654261" h="3975652">
                <a:moveTo>
                  <a:pt x="70687" y="0"/>
                </a:moveTo>
                <a:lnTo>
                  <a:pt x="5583574" y="0"/>
                </a:lnTo>
                <a:cubicBezTo>
                  <a:pt x="5622613" y="0"/>
                  <a:pt x="5654261" y="31648"/>
                  <a:pt x="5654261" y="70687"/>
                </a:cubicBezTo>
                <a:lnTo>
                  <a:pt x="5654261" y="3904965"/>
                </a:lnTo>
                <a:cubicBezTo>
                  <a:pt x="5654261" y="3944004"/>
                  <a:pt x="5622613" y="3975652"/>
                  <a:pt x="5583574" y="3975652"/>
                </a:cubicBezTo>
                <a:lnTo>
                  <a:pt x="70687" y="3975652"/>
                </a:lnTo>
                <a:cubicBezTo>
                  <a:pt x="31648" y="3975652"/>
                  <a:pt x="0" y="3944004"/>
                  <a:pt x="0" y="3904965"/>
                </a:cubicBezTo>
                <a:lnTo>
                  <a:pt x="0" y="70687"/>
                </a:lnTo>
                <a:cubicBezTo>
                  <a:pt x="0" y="31674"/>
                  <a:pt x="31674" y="0"/>
                  <a:pt x="706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3009" dist="35339" dir="5400000">
              <a:srgbClr val="000000">
                <a:alpha val="10196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59056" y="1342887"/>
            <a:ext cx="538921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Interpretation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59056" y="1731617"/>
            <a:ext cx="5371548" cy="68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Onboarding optimization is critical. The first week experience determines long-term retention. Users who experience early success (completing 2+ courses) are significantly more likely to remain engaged and become paying customers.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359056" y="2562087"/>
            <a:ext cx="5300870" cy="1519583"/>
          </a:xfrm>
          <a:custGeom>
            <a:avLst/>
            <a:gdLst/>
            <a:ahLst/>
            <a:cxnLst/>
            <a:rect l="l" t="t" r="r" b="b"/>
            <a:pathLst>
              <a:path w="5300870" h="1519583">
                <a:moveTo>
                  <a:pt x="70676" y="0"/>
                </a:moveTo>
                <a:lnTo>
                  <a:pt x="5230194" y="0"/>
                </a:lnTo>
                <a:cubicBezTo>
                  <a:pt x="5269227" y="0"/>
                  <a:pt x="5300870" y="31643"/>
                  <a:pt x="5300870" y="70676"/>
                </a:cubicBezTo>
                <a:lnTo>
                  <a:pt x="5300870" y="1448907"/>
                </a:lnTo>
                <a:cubicBezTo>
                  <a:pt x="5300870" y="1487940"/>
                  <a:pt x="5269227" y="1519583"/>
                  <a:pt x="5230194" y="1519583"/>
                </a:cubicBezTo>
                <a:lnTo>
                  <a:pt x="70676" y="1519583"/>
                </a:lnTo>
                <a:cubicBezTo>
                  <a:pt x="31643" y="1519583"/>
                  <a:pt x="0" y="1487940"/>
                  <a:pt x="0" y="1448907"/>
                </a:cubicBezTo>
                <a:lnTo>
                  <a:pt x="0" y="70676"/>
                </a:lnTo>
                <a:cubicBezTo>
                  <a:pt x="0" y="31643"/>
                  <a:pt x="31643" y="0"/>
                  <a:pt x="7067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Text 22"/>
          <p:cNvSpPr/>
          <p:nvPr/>
        </p:nvSpPr>
        <p:spPr>
          <a:xfrm>
            <a:off x="6500412" y="2703443"/>
            <a:ext cx="509767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Activation Rate Targets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500412" y="3092062"/>
            <a:ext cx="149307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Activation Rate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097812" y="3056835"/>
            <a:ext cx="521252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500412" y="3480684"/>
            <a:ext cx="1413565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Activation Rate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088647" y="3445453"/>
            <a:ext cx="530087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500412" y="3834076"/>
            <a:ext cx="5018157" cy="106017"/>
          </a:xfrm>
          <a:custGeom>
            <a:avLst/>
            <a:gdLst/>
            <a:ahLst/>
            <a:cxnLst/>
            <a:rect l="l" t="t" r="r" b="b"/>
            <a:pathLst>
              <a:path w="5018157" h="106017">
                <a:moveTo>
                  <a:pt x="53009" y="0"/>
                </a:moveTo>
                <a:lnTo>
                  <a:pt x="4965148" y="0"/>
                </a:lnTo>
                <a:cubicBezTo>
                  <a:pt x="4994424" y="0"/>
                  <a:pt x="5018157" y="23733"/>
                  <a:pt x="5018157" y="53009"/>
                </a:cubicBezTo>
                <a:lnTo>
                  <a:pt x="5018157" y="53009"/>
                </a:lnTo>
                <a:cubicBezTo>
                  <a:pt x="5018157" y="82285"/>
                  <a:pt x="4994424" y="106017"/>
                  <a:pt x="4965148" y="106017"/>
                </a:cubicBezTo>
                <a:lnTo>
                  <a:pt x="53009" y="106017"/>
                </a:lnTo>
                <a:cubicBezTo>
                  <a:pt x="23752" y="106017"/>
                  <a:pt x="0" y="82265"/>
                  <a:pt x="0" y="53009"/>
                </a:cubicBezTo>
                <a:lnTo>
                  <a:pt x="0" y="53009"/>
                </a:lnTo>
                <a:cubicBezTo>
                  <a:pt x="0" y="23752"/>
                  <a:pt x="23752" y="0"/>
                  <a:pt x="53009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1" name="Shape 28"/>
          <p:cNvSpPr/>
          <p:nvPr/>
        </p:nvSpPr>
        <p:spPr>
          <a:xfrm>
            <a:off x="6500412" y="3834076"/>
            <a:ext cx="3012661" cy="106017"/>
          </a:xfrm>
          <a:custGeom>
            <a:avLst/>
            <a:gdLst/>
            <a:ahLst/>
            <a:cxnLst/>
            <a:rect l="l" t="t" r="r" b="b"/>
            <a:pathLst>
              <a:path w="3012661" h="106017">
                <a:moveTo>
                  <a:pt x="53009" y="0"/>
                </a:moveTo>
                <a:lnTo>
                  <a:pt x="2959652" y="0"/>
                </a:lnTo>
                <a:cubicBezTo>
                  <a:pt x="2988928" y="0"/>
                  <a:pt x="3012661" y="23733"/>
                  <a:pt x="3012661" y="53009"/>
                </a:cubicBezTo>
                <a:lnTo>
                  <a:pt x="3012661" y="53009"/>
                </a:lnTo>
                <a:cubicBezTo>
                  <a:pt x="3012661" y="82285"/>
                  <a:pt x="2988928" y="106017"/>
                  <a:pt x="2959652" y="106017"/>
                </a:cubicBezTo>
                <a:lnTo>
                  <a:pt x="53009" y="106017"/>
                </a:lnTo>
                <a:cubicBezTo>
                  <a:pt x="23752" y="106017"/>
                  <a:pt x="0" y="82265"/>
                  <a:pt x="0" y="53009"/>
                </a:cubicBezTo>
                <a:lnTo>
                  <a:pt x="0" y="53009"/>
                </a:lnTo>
                <a:cubicBezTo>
                  <a:pt x="0" y="23752"/>
                  <a:pt x="23752" y="0"/>
                  <a:pt x="53009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32" name="Shape 29"/>
          <p:cNvSpPr/>
          <p:nvPr/>
        </p:nvSpPr>
        <p:spPr>
          <a:xfrm>
            <a:off x="6182360" y="5279667"/>
            <a:ext cx="5654261" cy="1758122"/>
          </a:xfrm>
          <a:custGeom>
            <a:avLst/>
            <a:gdLst/>
            <a:ahLst/>
            <a:cxnLst/>
            <a:rect l="l" t="t" r="r" b="b"/>
            <a:pathLst>
              <a:path w="5654261" h="1758122">
                <a:moveTo>
                  <a:pt x="70676" y="0"/>
                </a:moveTo>
                <a:lnTo>
                  <a:pt x="5583584" y="0"/>
                </a:lnTo>
                <a:cubicBezTo>
                  <a:pt x="5622618" y="0"/>
                  <a:pt x="5654261" y="31643"/>
                  <a:pt x="5654261" y="70676"/>
                </a:cubicBezTo>
                <a:lnTo>
                  <a:pt x="5654261" y="1687445"/>
                </a:lnTo>
                <a:cubicBezTo>
                  <a:pt x="5654261" y="1726479"/>
                  <a:pt x="5622618" y="1758122"/>
                  <a:pt x="5583584" y="1758122"/>
                </a:cubicBezTo>
                <a:lnTo>
                  <a:pt x="70676" y="1758122"/>
                </a:lnTo>
                <a:cubicBezTo>
                  <a:pt x="31643" y="1758122"/>
                  <a:pt x="0" y="1726479"/>
                  <a:pt x="0" y="1687445"/>
                </a:cubicBezTo>
                <a:lnTo>
                  <a:pt x="0" y="70676"/>
                </a:lnTo>
                <a:cubicBezTo>
                  <a:pt x="0" y="31669"/>
                  <a:pt x="31669" y="0"/>
                  <a:pt x="70676" y="0"/>
                </a:cubicBezTo>
                <a:close/>
              </a:path>
            </a:pathLst>
          </a:custGeom>
          <a:solidFill>
            <a:srgbClr val="2E7D32"/>
          </a:solidFill>
          <a:ln/>
          <a:effectLst>
            <a:outerShdw sx="100000" sy="100000" kx="0" ky="0" algn="bl" rotWithShape="0" blurRad="132522" dist="88348" dir="5400000">
              <a:srgbClr val="000000">
                <a:alpha val="10196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323717" y="5456363"/>
            <a:ext cx="53715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253038" y="5668397"/>
            <a:ext cx="5512904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39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$216K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319299" y="6092467"/>
            <a:ext cx="538038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2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Revenue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359056" y="6445858"/>
            <a:ext cx="5300870" cy="415235"/>
          </a:xfrm>
          <a:custGeom>
            <a:avLst/>
            <a:gdLst/>
            <a:ahLst/>
            <a:cxnLst/>
            <a:rect l="l" t="t" r="r" b="b"/>
            <a:pathLst>
              <a:path w="5300870" h="415235">
                <a:moveTo>
                  <a:pt x="70677" y="0"/>
                </a:moveTo>
                <a:lnTo>
                  <a:pt x="5230192" y="0"/>
                </a:lnTo>
                <a:cubicBezTo>
                  <a:pt x="5269200" y="0"/>
                  <a:pt x="5300870" y="31669"/>
                  <a:pt x="5300870" y="70677"/>
                </a:cubicBezTo>
                <a:lnTo>
                  <a:pt x="5300870" y="344558"/>
                </a:lnTo>
                <a:cubicBezTo>
                  <a:pt x="5300870" y="383592"/>
                  <a:pt x="5269226" y="415235"/>
                  <a:pt x="5230192" y="415235"/>
                </a:cubicBezTo>
                <a:lnTo>
                  <a:pt x="70677" y="415235"/>
                </a:lnTo>
                <a:cubicBezTo>
                  <a:pt x="31669" y="415235"/>
                  <a:pt x="0" y="383565"/>
                  <a:pt x="0" y="344558"/>
                </a:cubicBezTo>
                <a:lnTo>
                  <a:pt x="0" y="70677"/>
                </a:lnTo>
                <a:cubicBezTo>
                  <a:pt x="0" y="31643"/>
                  <a:pt x="31643" y="0"/>
                  <a:pt x="7067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6465073" y="6551876"/>
            <a:ext cx="51506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increasing activation from 40% to 60%, we retain 100 additional users/month at $180 LTV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 #3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Acquisition Channel ROI Inequality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47750"/>
            <a:ext cx="5683250" cy="1127125"/>
          </a:xfrm>
          <a:custGeom>
            <a:avLst/>
            <a:gdLst/>
            <a:ahLst/>
            <a:cxnLst/>
            <a:rect l="l" t="t" r="r" b="b"/>
            <a:pathLst>
              <a:path w="5683250" h="1127125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1063623"/>
                </a:lnTo>
                <a:cubicBezTo>
                  <a:pt x="5683250" y="1098694"/>
                  <a:pt x="5654819" y="1127125"/>
                  <a:pt x="5619748" y="1127125"/>
                </a:cubicBezTo>
                <a:lnTo>
                  <a:pt x="31750" y="1127125"/>
                </a:lnTo>
                <a:cubicBezTo>
                  <a:pt x="14227" y="1127125"/>
                  <a:pt x="0" y="1112898"/>
                  <a:pt x="0" y="1095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3375" y="1047750"/>
            <a:ext cx="31750" cy="1127125"/>
          </a:xfrm>
          <a:custGeom>
            <a:avLst/>
            <a:gdLst/>
            <a:ahLst/>
            <a:cxnLst/>
            <a:rect l="l" t="t" r="r" b="b"/>
            <a:pathLst>
              <a:path w="31750" h="1127125">
                <a:moveTo>
                  <a:pt x="31750" y="0"/>
                </a:moveTo>
                <a:lnTo>
                  <a:pt x="31750" y="0"/>
                </a:lnTo>
                <a:lnTo>
                  <a:pt x="31750" y="1127125"/>
                </a:lnTo>
                <a:lnTo>
                  <a:pt x="31750" y="1127125"/>
                </a:lnTo>
                <a:cubicBezTo>
                  <a:pt x="14227" y="1127125"/>
                  <a:pt x="0" y="1112898"/>
                  <a:pt x="0" y="1095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6" name="Shape 4"/>
          <p:cNvSpPr/>
          <p:nvPr/>
        </p:nvSpPr>
        <p:spPr>
          <a:xfrm>
            <a:off x="531813" y="123814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1599" y="7032"/>
                </a:moveTo>
                <a:cubicBezTo>
                  <a:pt x="175878" y="8930"/>
                  <a:pt x="178594" y="13171"/>
                  <a:pt x="178594" y="17859"/>
                </a:cubicBezTo>
                <a:lnTo>
                  <a:pt x="178594" y="172641"/>
                </a:lnTo>
                <a:cubicBezTo>
                  <a:pt x="178594" y="177329"/>
                  <a:pt x="175878" y="181570"/>
                  <a:pt x="171599" y="183468"/>
                </a:cubicBezTo>
                <a:cubicBezTo>
                  <a:pt x="167320" y="185365"/>
                  <a:pt x="162371" y="184658"/>
                  <a:pt x="158837" y="181570"/>
                </a:cubicBezTo>
                <a:lnTo>
                  <a:pt x="141498" y="166427"/>
                </a:lnTo>
                <a:cubicBezTo>
                  <a:pt x="125276" y="152251"/>
                  <a:pt x="104775" y="143991"/>
                  <a:pt x="83307" y="142987"/>
                </a:cubicBezTo>
                <a:lnTo>
                  <a:pt x="83307" y="178594"/>
                </a:lnTo>
                <a:cubicBezTo>
                  <a:pt x="83307" y="185179"/>
                  <a:pt x="77986" y="190500"/>
                  <a:pt x="71400" y="190500"/>
                </a:cubicBezTo>
                <a:lnTo>
                  <a:pt x="59494" y="190500"/>
                </a:lnTo>
                <a:cubicBezTo>
                  <a:pt x="52908" y="190500"/>
                  <a:pt x="47588" y="185179"/>
                  <a:pt x="47588" y="178594"/>
                </a:cubicBezTo>
                <a:lnTo>
                  <a:pt x="47588" y="142875"/>
                </a:lnTo>
                <a:cubicBezTo>
                  <a:pt x="21320" y="142875"/>
                  <a:pt x="0" y="121555"/>
                  <a:pt x="0" y="95250"/>
                </a:cubicBezTo>
                <a:cubicBezTo>
                  <a:pt x="0" y="68945"/>
                  <a:pt x="21320" y="47625"/>
                  <a:pt x="47625" y="47625"/>
                </a:cubicBezTo>
                <a:lnTo>
                  <a:pt x="79065" y="47625"/>
                </a:lnTo>
                <a:cubicBezTo>
                  <a:pt x="102059" y="47551"/>
                  <a:pt x="124234" y="39179"/>
                  <a:pt x="141536" y="24073"/>
                </a:cubicBezTo>
                <a:lnTo>
                  <a:pt x="158874" y="8930"/>
                </a:lnTo>
                <a:cubicBezTo>
                  <a:pt x="162371" y="5842"/>
                  <a:pt x="167394" y="5135"/>
                  <a:pt x="171636" y="7032"/>
                </a:cubicBezTo>
                <a:close/>
                <a:moveTo>
                  <a:pt x="83344" y="119063"/>
                </a:moveTo>
                <a:lnTo>
                  <a:pt x="83344" y="119137"/>
                </a:lnTo>
                <a:cubicBezTo>
                  <a:pt x="109500" y="120142"/>
                  <a:pt x="134615" y="129741"/>
                  <a:pt x="154781" y="146447"/>
                </a:cubicBezTo>
                <a:lnTo>
                  <a:pt x="154781" y="44016"/>
                </a:lnTo>
                <a:cubicBezTo>
                  <a:pt x="134615" y="60722"/>
                  <a:pt x="109500" y="70321"/>
                  <a:pt x="83344" y="71326"/>
                </a:cubicBezTo>
                <a:lnTo>
                  <a:pt x="83344" y="119063"/>
                </a:ln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841375" y="1206500"/>
            <a:ext cx="1690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Happening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1555649"/>
            <a:ext cx="54213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1565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LinkedIn and Google Ads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produce 2.5x higher revenue per user than Facebook and Organic channels. Marketing budget allocation is not optimized for LTV.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7500" y="2305743"/>
            <a:ext cx="5699125" cy="2190750"/>
          </a:xfrm>
          <a:custGeom>
            <a:avLst/>
            <a:gdLst/>
            <a:ahLst/>
            <a:cxnLst/>
            <a:rect l="l" t="t" r="r" b="b"/>
            <a:pathLst>
              <a:path w="5699125" h="2190750">
                <a:moveTo>
                  <a:pt x="63510" y="0"/>
                </a:moveTo>
                <a:lnTo>
                  <a:pt x="5635615" y="0"/>
                </a:lnTo>
                <a:cubicBezTo>
                  <a:pt x="5670691" y="0"/>
                  <a:pt x="5699125" y="28434"/>
                  <a:pt x="5699125" y="63510"/>
                </a:cubicBezTo>
                <a:lnTo>
                  <a:pt x="5699125" y="2127240"/>
                </a:lnTo>
                <a:cubicBezTo>
                  <a:pt x="5699125" y="2162316"/>
                  <a:pt x="5670691" y="2190750"/>
                  <a:pt x="5635615" y="2190750"/>
                </a:cubicBezTo>
                <a:lnTo>
                  <a:pt x="63510" y="2190750"/>
                </a:lnTo>
                <a:cubicBezTo>
                  <a:pt x="28434" y="2190750"/>
                  <a:pt x="0" y="2162316"/>
                  <a:pt x="0" y="2127240"/>
                </a:cubicBezTo>
                <a:lnTo>
                  <a:pt x="0" y="63510"/>
                </a:lnTo>
                <a:cubicBezTo>
                  <a:pt x="0" y="28434"/>
                  <a:pt x="28434" y="0"/>
                  <a:pt x="635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6250" y="2464493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Per User by Channel</a:t>
            </a:r>
            <a:endParaRPr lang="en-US" sz="1600" dirty="0"/>
          </a:p>
        </p:txBody>
      </p:sp>
      <p:pic>
        <p:nvPicPr>
          <p:cNvPr id="11" name="Image 0" descr="https://kimi-img.moonshot.cn/pub/slides/okc/w7ufw4gpw4efk/chart_channel_revenue.png">    </p:cNvPr>
          <p:cNvPicPr>
            <a:picLocks noChangeAspect="1"/>
          </p:cNvPicPr>
          <p:nvPr/>
        </p:nvPicPr>
        <p:blipFill>
          <a:blip r:embed="rId1"/>
          <a:srcRect l="0" r="0" t="26099" b="26099"/>
          <a:stretch/>
        </p:blipFill>
        <p:spPr>
          <a:xfrm>
            <a:off x="476250" y="2813743"/>
            <a:ext cx="5381625" cy="1524000"/>
          </a:xfrm>
          <a:prstGeom prst="roundRect">
            <a:avLst>
              <a:gd name="adj" fmla="val 0"/>
            </a:avLst>
          </a:prstGeom>
        </p:spPr>
      </p:pic>
      <p:sp>
        <p:nvSpPr>
          <p:cNvPr id="12" name="Shape 9"/>
          <p:cNvSpPr/>
          <p:nvPr/>
        </p:nvSpPr>
        <p:spPr>
          <a:xfrm>
            <a:off x="317500" y="4623497"/>
            <a:ext cx="5699125" cy="2095500"/>
          </a:xfrm>
          <a:custGeom>
            <a:avLst/>
            <a:gdLst/>
            <a:ahLst/>
            <a:cxnLst/>
            <a:rect l="l" t="t" r="r" b="b"/>
            <a:pathLst>
              <a:path w="5699125" h="2095500">
                <a:moveTo>
                  <a:pt x="63494" y="0"/>
                </a:moveTo>
                <a:lnTo>
                  <a:pt x="5635631" y="0"/>
                </a:lnTo>
                <a:cubicBezTo>
                  <a:pt x="5670698" y="0"/>
                  <a:pt x="5699125" y="28427"/>
                  <a:pt x="5699125" y="63494"/>
                </a:cubicBezTo>
                <a:lnTo>
                  <a:pt x="5699125" y="2032006"/>
                </a:lnTo>
                <a:cubicBezTo>
                  <a:pt x="5699125" y="2067073"/>
                  <a:pt x="5670698" y="2095500"/>
                  <a:pt x="5635631" y="2095500"/>
                </a:cubicBezTo>
                <a:lnTo>
                  <a:pt x="63494" y="2095500"/>
                </a:lnTo>
                <a:cubicBezTo>
                  <a:pt x="28427" y="2095500"/>
                  <a:pt x="0" y="2067073"/>
                  <a:pt x="0" y="20320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6250" y="4782247"/>
            <a:ext cx="5453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Channel Performance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6250" y="5099747"/>
            <a:ext cx="5381625" cy="317500"/>
          </a:xfrm>
          <a:custGeom>
            <a:avLst/>
            <a:gdLst/>
            <a:ahLst/>
            <a:cxnLst/>
            <a:rect l="l" t="t" r="r" b="b"/>
            <a:pathLst>
              <a:path w="5381625" h="3175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254000"/>
                </a:lnTo>
                <a:cubicBezTo>
                  <a:pt x="5381625" y="289047"/>
                  <a:pt x="5353172" y="317500"/>
                  <a:pt x="53181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39750" y="5163247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LinkedIn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84689" y="5163247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$189 RPU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76250" y="5480747"/>
            <a:ext cx="5381625" cy="317500"/>
          </a:xfrm>
          <a:custGeom>
            <a:avLst/>
            <a:gdLst/>
            <a:ahLst/>
            <a:cxnLst/>
            <a:rect l="l" t="t" r="r" b="b"/>
            <a:pathLst>
              <a:path w="5381625" h="3175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254000"/>
                </a:lnTo>
                <a:cubicBezTo>
                  <a:pt x="5381625" y="289047"/>
                  <a:pt x="5353172" y="317500"/>
                  <a:pt x="53181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39750" y="5544247"/>
            <a:ext cx="69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Ads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286871" y="5544247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$183 RPU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76250" y="5861747"/>
            <a:ext cx="5381625" cy="317500"/>
          </a:xfrm>
          <a:custGeom>
            <a:avLst/>
            <a:gdLst/>
            <a:ahLst/>
            <a:cxnLst/>
            <a:rect l="l" t="t" r="r" b="b"/>
            <a:pathLst>
              <a:path w="5381625" h="3175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254000"/>
                </a:lnTo>
                <a:cubicBezTo>
                  <a:pt x="5381625" y="289047"/>
                  <a:pt x="5353172" y="317500"/>
                  <a:pt x="53181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39750" y="5925247"/>
            <a:ext cx="595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Facebook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17431" y="5925247"/>
            <a:ext cx="53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$113 RPU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76250" y="6242747"/>
            <a:ext cx="5381625" cy="317500"/>
          </a:xfrm>
          <a:custGeom>
            <a:avLst/>
            <a:gdLst/>
            <a:ahLst/>
            <a:cxnLst/>
            <a:rect l="l" t="t" r="r" b="b"/>
            <a:pathLst>
              <a:path w="5381625" h="3175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254000"/>
                </a:lnTo>
                <a:cubicBezTo>
                  <a:pt x="5381625" y="289047"/>
                  <a:pt x="5353172" y="317500"/>
                  <a:pt x="53181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539750" y="6306247"/>
            <a:ext cx="49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Organic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339953" y="6306247"/>
            <a:ext cx="515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$73 RPU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75375" y="1047750"/>
            <a:ext cx="5699125" cy="5008563"/>
          </a:xfrm>
          <a:custGeom>
            <a:avLst/>
            <a:gdLst/>
            <a:ahLst/>
            <a:cxnLst/>
            <a:rect l="l" t="t" r="r" b="b"/>
            <a:pathLst>
              <a:path w="5699125" h="5008563">
                <a:moveTo>
                  <a:pt x="63509" y="0"/>
                </a:moveTo>
                <a:lnTo>
                  <a:pt x="5635616" y="0"/>
                </a:lnTo>
                <a:cubicBezTo>
                  <a:pt x="5670691" y="0"/>
                  <a:pt x="5699125" y="28434"/>
                  <a:pt x="5699125" y="63509"/>
                </a:cubicBezTo>
                <a:lnTo>
                  <a:pt x="5699125" y="4945054"/>
                </a:lnTo>
                <a:cubicBezTo>
                  <a:pt x="5699125" y="4980129"/>
                  <a:pt x="5670691" y="5008562"/>
                  <a:pt x="5635616" y="5008563"/>
                </a:cubicBezTo>
                <a:lnTo>
                  <a:pt x="63509" y="5008563"/>
                </a:lnTo>
                <a:cubicBezTo>
                  <a:pt x="28434" y="5008563"/>
                  <a:pt x="0" y="4980129"/>
                  <a:pt x="0" y="4945054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334125" y="120650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Interpretation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334125" y="1555750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marketing budget reallocation opportunity exists. Channels with higher RPU deserve increased ad spend, while low-performing channels need optimization or budget reduction.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34125" y="2095500"/>
            <a:ext cx="5381625" cy="1809750"/>
          </a:xfrm>
          <a:custGeom>
            <a:avLst/>
            <a:gdLst/>
            <a:ahLst/>
            <a:cxnLst/>
            <a:rect l="l" t="t" r="r" b="b"/>
            <a:pathLst>
              <a:path w="5381625" h="1809750">
                <a:moveTo>
                  <a:pt x="63504" y="0"/>
                </a:moveTo>
                <a:lnTo>
                  <a:pt x="5318121" y="0"/>
                </a:lnTo>
                <a:cubicBezTo>
                  <a:pt x="5353193" y="0"/>
                  <a:pt x="5381625" y="28432"/>
                  <a:pt x="5381625" y="63504"/>
                </a:cubicBezTo>
                <a:lnTo>
                  <a:pt x="5381625" y="1746246"/>
                </a:lnTo>
                <a:cubicBezTo>
                  <a:pt x="5381625" y="1781318"/>
                  <a:pt x="5353193" y="1809750"/>
                  <a:pt x="5318121" y="1809750"/>
                </a:cubicBezTo>
                <a:lnTo>
                  <a:pt x="63504" y="1809750"/>
                </a:lnTo>
                <a:cubicBezTo>
                  <a:pt x="28432" y="1809750"/>
                  <a:pt x="0" y="1781318"/>
                  <a:pt x="0" y="1746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0" name="Text 27"/>
          <p:cNvSpPr/>
          <p:nvPr/>
        </p:nvSpPr>
        <p:spPr>
          <a:xfrm>
            <a:off x="6461125" y="2222500"/>
            <a:ext cx="5199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Recommended Actions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461125" y="2540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32" name="Text 29"/>
          <p:cNvSpPr/>
          <p:nvPr/>
        </p:nvSpPr>
        <p:spPr>
          <a:xfrm>
            <a:off x="6429375" y="25400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810375" y="2540000"/>
            <a:ext cx="174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Shift 30% Budget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810375" y="2730500"/>
            <a:ext cx="1738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Facebook/Google to LinkedIn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461125" y="2984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36" name="Text 33"/>
          <p:cNvSpPr/>
          <p:nvPr/>
        </p:nvSpPr>
        <p:spPr>
          <a:xfrm>
            <a:off x="6429375" y="29845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810375" y="2984500"/>
            <a:ext cx="1468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 Referral Program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810375" y="3175000"/>
            <a:ext cx="146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"Give $20, Get $20" incentive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461125" y="3429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40" name="Text 37"/>
          <p:cNvSpPr/>
          <p:nvPr/>
        </p:nvSpPr>
        <p:spPr>
          <a:xfrm>
            <a:off x="6429375" y="34290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810375" y="3429000"/>
            <a:ext cx="151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Low Channels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810375" y="3619500"/>
            <a:ext cx="150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A/B test creative and targeting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175375" y="6184898"/>
            <a:ext cx="5699125" cy="1555750"/>
          </a:xfrm>
          <a:custGeom>
            <a:avLst/>
            <a:gdLst/>
            <a:ahLst/>
            <a:cxnLst/>
            <a:rect l="l" t="t" r="r" b="b"/>
            <a:pathLst>
              <a:path w="5699125" h="1555750">
                <a:moveTo>
                  <a:pt x="63506" y="0"/>
                </a:moveTo>
                <a:lnTo>
                  <a:pt x="5635619" y="0"/>
                </a:lnTo>
                <a:cubicBezTo>
                  <a:pt x="5670693" y="0"/>
                  <a:pt x="5699125" y="28432"/>
                  <a:pt x="5699125" y="63506"/>
                </a:cubicBezTo>
                <a:lnTo>
                  <a:pt x="5699125" y="1492244"/>
                </a:lnTo>
                <a:cubicBezTo>
                  <a:pt x="5699125" y="1527318"/>
                  <a:pt x="5670693" y="1555750"/>
                  <a:pt x="5635619" y="1555750"/>
                </a:cubicBezTo>
                <a:lnTo>
                  <a:pt x="63506" y="1555750"/>
                </a:lnTo>
                <a:cubicBezTo>
                  <a:pt x="28432" y="1555750"/>
                  <a:pt x="0" y="1527318"/>
                  <a:pt x="0" y="149224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2E7D32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6302375" y="6343648"/>
            <a:ext cx="544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238875" y="6534148"/>
            <a:ext cx="5572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$35K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298406" y="6915148"/>
            <a:ext cx="5453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Additional Annual Revenue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34125" y="7232648"/>
            <a:ext cx="5381625" cy="349250"/>
          </a:xfrm>
          <a:custGeom>
            <a:avLst/>
            <a:gdLst/>
            <a:ahLst/>
            <a:cxnLst/>
            <a:rect l="l" t="t" r="r" b="b"/>
            <a:pathLst>
              <a:path w="5381625" h="349250">
                <a:moveTo>
                  <a:pt x="63501" y="0"/>
                </a:moveTo>
                <a:lnTo>
                  <a:pt x="5318124" y="0"/>
                </a:lnTo>
                <a:cubicBezTo>
                  <a:pt x="5353195" y="0"/>
                  <a:pt x="5381625" y="28430"/>
                  <a:pt x="5381625" y="63501"/>
                </a:cubicBezTo>
                <a:lnTo>
                  <a:pt x="5381625" y="285749"/>
                </a:lnTo>
                <a:cubicBezTo>
                  <a:pt x="5381625" y="320820"/>
                  <a:pt x="5353195" y="349250"/>
                  <a:pt x="53181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6429375" y="7327898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 25% average LTV improvement on optimized channels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 #4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Engagement-Driven Upgrade Catalyst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47750"/>
            <a:ext cx="6858000" cy="1127125"/>
          </a:xfrm>
          <a:custGeom>
            <a:avLst/>
            <a:gdLst/>
            <a:ahLst/>
            <a:cxnLst/>
            <a:rect l="l" t="t" r="r" b="b"/>
            <a:pathLst>
              <a:path w="6858000" h="1127125">
                <a:moveTo>
                  <a:pt x="31750" y="0"/>
                </a:moveTo>
                <a:lnTo>
                  <a:pt x="6794498" y="0"/>
                </a:lnTo>
                <a:cubicBezTo>
                  <a:pt x="6829569" y="0"/>
                  <a:pt x="6858000" y="28431"/>
                  <a:pt x="6858000" y="63502"/>
                </a:cubicBezTo>
                <a:lnTo>
                  <a:pt x="6858000" y="1063623"/>
                </a:lnTo>
                <a:cubicBezTo>
                  <a:pt x="6858000" y="1098694"/>
                  <a:pt x="6829569" y="1127125"/>
                  <a:pt x="6794498" y="1127125"/>
                </a:cubicBezTo>
                <a:lnTo>
                  <a:pt x="31750" y="1127125"/>
                </a:lnTo>
                <a:cubicBezTo>
                  <a:pt x="14227" y="1127125"/>
                  <a:pt x="0" y="1112898"/>
                  <a:pt x="0" y="1095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3375" y="1047750"/>
            <a:ext cx="31750" cy="1127125"/>
          </a:xfrm>
          <a:custGeom>
            <a:avLst/>
            <a:gdLst/>
            <a:ahLst/>
            <a:cxnLst/>
            <a:rect l="l" t="t" r="r" b="b"/>
            <a:pathLst>
              <a:path w="31750" h="1127125">
                <a:moveTo>
                  <a:pt x="31750" y="0"/>
                </a:moveTo>
                <a:lnTo>
                  <a:pt x="31750" y="0"/>
                </a:lnTo>
                <a:lnTo>
                  <a:pt x="31750" y="1127125"/>
                </a:lnTo>
                <a:lnTo>
                  <a:pt x="31750" y="1127125"/>
                </a:lnTo>
                <a:cubicBezTo>
                  <a:pt x="14227" y="1127125"/>
                  <a:pt x="0" y="1112898"/>
                  <a:pt x="0" y="1095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6" name="Shape 4"/>
          <p:cNvSpPr/>
          <p:nvPr/>
        </p:nvSpPr>
        <p:spPr>
          <a:xfrm>
            <a:off x="519906" y="123814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9531"/>
                </a:moveTo>
                <a:cubicBezTo>
                  <a:pt x="136289" y="59531"/>
                  <a:pt x="130969" y="54211"/>
                  <a:pt x="130969" y="47625"/>
                </a:cubicBezTo>
                <a:cubicBezTo>
                  <a:pt x="130969" y="41039"/>
                  <a:pt x="136289" y="35719"/>
                  <a:pt x="142875" y="35719"/>
                </a:cubicBezTo>
                <a:lnTo>
                  <a:pt x="202406" y="35719"/>
                </a:lnTo>
                <a:cubicBezTo>
                  <a:pt x="208992" y="35719"/>
                  <a:pt x="214313" y="41039"/>
                  <a:pt x="214313" y="47625"/>
                </a:cubicBezTo>
                <a:lnTo>
                  <a:pt x="214313" y="107156"/>
                </a:lnTo>
                <a:cubicBezTo>
                  <a:pt x="214313" y="113742"/>
                  <a:pt x="208992" y="119063"/>
                  <a:pt x="202406" y="119063"/>
                </a:cubicBezTo>
                <a:cubicBezTo>
                  <a:pt x="195821" y="119063"/>
                  <a:pt x="190500" y="113742"/>
                  <a:pt x="190500" y="107156"/>
                </a:cubicBezTo>
                <a:lnTo>
                  <a:pt x="190500" y="76386"/>
                </a:lnTo>
                <a:lnTo>
                  <a:pt x="127471" y="139415"/>
                </a:lnTo>
                <a:cubicBezTo>
                  <a:pt x="122820" y="144066"/>
                  <a:pt x="115267" y="144066"/>
                  <a:pt x="110617" y="139415"/>
                </a:cubicBezTo>
                <a:lnTo>
                  <a:pt x="71438" y="100199"/>
                </a:lnTo>
                <a:lnTo>
                  <a:pt x="20315" y="151284"/>
                </a:lnTo>
                <a:cubicBezTo>
                  <a:pt x="15664" y="155935"/>
                  <a:pt x="8111" y="155935"/>
                  <a:pt x="3460" y="151284"/>
                </a:cubicBezTo>
                <a:cubicBezTo>
                  <a:pt x="-1191" y="146633"/>
                  <a:pt x="-1191" y="139080"/>
                  <a:pt x="3460" y="134429"/>
                </a:cubicBezTo>
                <a:lnTo>
                  <a:pt x="62992" y="74898"/>
                </a:lnTo>
                <a:cubicBezTo>
                  <a:pt x="67642" y="70247"/>
                  <a:pt x="75195" y="70247"/>
                  <a:pt x="79846" y="74898"/>
                </a:cubicBezTo>
                <a:lnTo>
                  <a:pt x="119063" y="114114"/>
                </a:lnTo>
                <a:lnTo>
                  <a:pt x="173645" y="59531"/>
                </a:lnTo>
                <a:lnTo>
                  <a:pt x="142875" y="59531"/>
                </a:ln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7" name="Text 5"/>
          <p:cNvSpPr/>
          <p:nvPr/>
        </p:nvSpPr>
        <p:spPr>
          <a:xfrm>
            <a:off x="841375" y="1206500"/>
            <a:ext cx="1690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Happening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1555649"/>
            <a:ext cx="659606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completing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10+ courses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 a 45% upgrade rate compared to 15% baseline. Course completion is a strong predictor of upgrade behavior and revenue expansion.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7500" y="2305743"/>
            <a:ext cx="6873875" cy="2984500"/>
          </a:xfrm>
          <a:custGeom>
            <a:avLst/>
            <a:gdLst/>
            <a:ahLst/>
            <a:cxnLst/>
            <a:rect l="l" t="t" r="r" b="b"/>
            <a:pathLst>
              <a:path w="6873875" h="2984500">
                <a:moveTo>
                  <a:pt x="63510" y="0"/>
                </a:moveTo>
                <a:lnTo>
                  <a:pt x="6810365" y="0"/>
                </a:lnTo>
                <a:cubicBezTo>
                  <a:pt x="6845441" y="0"/>
                  <a:pt x="6873875" y="28434"/>
                  <a:pt x="6873875" y="63510"/>
                </a:cubicBezTo>
                <a:lnTo>
                  <a:pt x="6873875" y="2920990"/>
                </a:lnTo>
                <a:cubicBezTo>
                  <a:pt x="6873875" y="2956066"/>
                  <a:pt x="6845441" y="2984500"/>
                  <a:pt x="6810365" y="2984500"/>
                </a:cubicBezTo>
                <a:lnTo>
                  <a:pt x="63510" y="2984500"/>
                </a:lnTo>
                <a:cubicBezTo>
                  <a:pt x="28434" y="2984500"/>
                  <a:pt x="0" y="2956066"/>
                  <a:pt x="0" y="2920990"/>
                </a:cubicBezTo>
                <a:lnTo>
                  <a:pt x="0" y="63510"/>
                </a:lnTo>
                <a:cubicBezTo>
                  <a:pt x="0" y="28458"/>
                  <a:pt x="28458" y="0"/>
                  <a:pt x="635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6250" y="2464493"/>
            <a:ext cx="663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Upgrade Rate by Engagement Level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6250" y="2813743"/>
            <a:ext cx="6556375" cy="508000"/>
          </a:xfrm>
          <a:custGeom>
            <a:avLst/>
            <a:gdLst/>
            <a:ahLst/>
            <a:cxnLst/>
            <a:rect l="l" t="t" r="r" b="b"/>
            <a:pathLst>
              <a:path w="6556375" h="508000">
                <a:moveTo>
                  <a:pt x="63500" y="0"/>
                </a:moveTo>
                <a:lnTo>
                  <a:pt x="6492875" y="0"/>
                </a:lnTo>
                <a:cubicBezTo>
                  <a:pt x="6527922" y="0"/>
                  <a:pt x="6556375" y="28453"/>
                  <a:pt x="6556375" y="63500"/>
                </a:cubicBezTo>
                <a:lnTo>
                  <a:pt x="6556375" y="444500"/>
                </a:lnTo>
                <a:cubicBezTo>
                  <a:pt x="6556375" y="479547"/>
                  <a:pt x="6527922" y="508000"/>
                  <a:pt x="6492875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" y="2908993"/>
            <a:ext cx="60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 courses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1956" y="2908993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162993"/>
            <a:ext cx="6365875" cy="63500"/>
          </a:xfrm>
          <a:custGeom>
            <a:avLst/>
            <a:gdLst/>
            <a:ahLst/>
            <a:cxnLst/>
            <a:rect l="l" t="t" r="r" b="b"/>
            <a:pathLst>
              <a:path w="6365875" h="63500">
                <a:moveTo>
                  <a:pt x="31750" y="0"/>
                </a:moveTo>
                <a:lnTo>
                  <a:pt x="6334125" y="0"/>
                </a:lnTo>
                <a:cubicBezTo>
                  <a:pt x="6351648" y="0"/>
                  <a:pt x="6365875" y="14227"/>
                  <a:pt x="6365875" y="31750"/>
                </a:cubicBezTo>
                <a:lnTo>
                  <a:pt x="6365875" y="31750"/>
                </a:lnTo>
                <a:cubicBezTo>
                  <a:pt x="6365875" y="49273"/>
                  <a:pt x="6351648" y="63500"/>
                  <a:pt x="63341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" y="3162993"/>
            <a:ext cx="317500" cy="63500"/>
          </a:xfrm>
          <a:custGeom>
            <a:avLst/>
            <a:gdLst/>
            <a:ahLst/>
            <a:cxnLst/>
            <a:rect l="l" t="t" r="r" b="b"/>
            <a:pathLst>
              <a:path w="317500" h="63500">
                <a:moveTo>
                  <a:pt x="31750" y="0"/>
                </a:moveTo>
                <a:lnTo>
                  <a:pt x="285750" y="0"/>
                </a:lnTo>
                <a:cubicBezTo>
                  <a:pt x="303273" y="0"/>
                  <a:pt x="317500" y="14227"/>
                  <a:pt x="317500" y="31750"/>
                </a:cubicBezTo>
                <a:lnTo>
                  <a:pt x="317500" y="31750"/>
                </a:lnTo>
                <a:cubicBezTo>
                  <a:pt x="317500" y="49273"/>
                  <a:pt x="303273" y="63500"/>
                  <a:pt x="285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16" name="Shape 14"/>
          <p:cNvSpPr/>
          <p:nvPr/>
        </p:nvSpPr>
        <p:spPr>
          <a:xfrm>
            <a:off x="476250" y="3416993"/>
            <a:ext cx="6556375" cy="508000"/>
          </a:xfrm>
          <a:custGeom>
            <a:avLst/>
            <a:gdLst/>
            <a:ahLst/>
            <a:cxnLst/>
            <a:rect l="l" t="t" r="r" b="b"/>
            <a:pathLst>
              <a:path w="6556375" h="508000">
                <a:moveTo>
                  <a:pt x="63500" y="0"/>
                </a:moveTo>
                <a:lnTo>
                  <a:pt x="6492875" y="0"/>
                </a:lnTo>
                <a:cubicBezTo>
                  <a:pt x="6527922" y="0"/>
                  <a:pt x="6556375" y="28453"/>
                  <a:pt x="6556375" y="63500"/>
                </a:cubicBezTo>
                <a:lnTo>
                  <a:pt x="6556375" y="444500"/>
                </a:lnTo>
                <a:cubicBezTo>
                  <a:pt x="6556375" y="479547"/>
                  <a:pt x="6527922" y="508000"/>
                  <a:pt x="6492875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" y="3512243"/>
            <a:ext cx="69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1-5 courses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1674" y="3512243"/>
            <a:ext cx="27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3766243"/>
            <a:ext cx="6365875" cy="63500"/>
          </a:xfrm>
          <a:custGeom>
            <a:avLst/>
            <a:gdLst/>
            <a:ahLst/>
            <a:cxnLst/>
            <a:rect l="l" t="t" r="r" b="b"/>
            <a:pathLst>
              <a:path w="6365875" h="63500">
                <a:moveTo>
                  <a:pt x="31750" y="0"/>
                </a:moveTo>
                <a:lnTo>
                  <a:pt x="6334125" y="0"/>
                </a:lnTo>
                <a:cubicBezTo>
                  <a:pt x="6351648" y="0"/>
                  <a:pt x="6365875" y="14227"/>
                  <a:pt x="6365875" y="31750"/>
                </a:cubicBezTo>
                <a:lnTo>
                  <a:pt x="6365875" y="31750"/>
                </a:lnTo>
                <a:cubicBezTo>
                  <a:pt x="6365875" y="49273"/>
                  <a:pt x="6351648" y="63500"/>
                  <a:pt x="63341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" y="3766243"/>
            <a:ext cx="952500" cy="63500"/>
          </a:xfrm>
          <a:custGeom>
            <a:avLst/>
            <a:gdLst/>
            <a:ahLst/>
            <a:cxnLst/>
            <a:rect l="l" t="t" r="r" b="b"/>
            <a:pathLst>
              <a:path w="952500" h="63500">
                <a:moveTo>
                  <a:pt x="31750" y="0"/>
                </a:moveTo>
                <a:lnTo>
                  <a:pt x="920750" y="0"/>
                </a:lnTo>
                <a:cubicBezTo>
                  <a:pt x="938273" y="0"/>
                  <a:pt x="952500" y="14227"/>
                  <a:pt x="952500" y="31750"/>
                </a:cubicBezTo>
                <a:lnTo>
                  <a:pt x="952500" y="31750"/>
                </a:lnTo>
                <a:cubicBezTo>
                  <a:pt x="952500" y="49273"/>
                  <a:pt x="938273" y="63500"/>
                  <a:pt x="920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21" name="Shape 19"/>
          <p:cNvSpPr/>
          <p:nvPr/>
        </p:nvSpPr>
        <p:spPr>
          <a:xfrm>
            <a:off x="476250" y="4020243"/>
            <a:ext cx="6556375" cy="508000"/>
          </a:xfrm>
          <a:custGeom>
            <a:avLst/>
            <a:gdLst/>
            <a:ahLst/>
            <a:cxnLst/>
            <a:rect l="l" t="t" r="r" b="b"/>
            <a:pathLst>
              <a:path w="6556375" h="508000">
                <a:moveTo>
                  <a:pt x="63500" y="0"/>
                </a:moveTo>
                <a:lnTo>
                  <a:pt x="6492875" y="0"/>
                </a:lnTo>
                <a:cubicBezTo>
                  <a:pt x="6527922" y="0"/>
                  <a:pt x="6556375" y="28453"/>
                  <a:pt x="6556375" y="63500"/>
                </a:cubicBezTo>
                <a:lnTo>
                  <a:pt x="6556375" y="444500"/>
                </a:lnTo>
                <a:cubicBezTo>
                  <a:pt x="6556375" y="479547"/>
                  <a:pt x="6527922" y="508000"/>
                  <a:pt x="6492875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" y="4115493"/>
            <a:ext cx="77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6-10 courses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9902" y="4115493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565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1500" y="4369493"/>
            <a:ext cx="6365875" cy="63500"/>
          </a:xfrm>
          <a:custGeom>
            <a:avLst/>
            <a:gdLst/>
            <a:ahLst/>
            <a:cxnLst/>
            <a:rect l="l" t="t" r="r" b="b"/>
            <a:pathLst>
              <a:path w="6365875" h="63500">
                <a:moveTo>
                  <a:pt x="31750" y="0"/>
                </a:moveTo>
                <a:lnTo>
                  <a:pt x="6334125" y="0"/>
                </a:lnTo>
                <a:cubicBezTo>
                  <a:pt x="6351648" y="0"/>
                  <a:pt x="6365875" y="14227"/>
                  <a:pt x="6365875" y="31750"/>
                </a:cubicBezTo>
                <a:lnTo>
                  <a:pt x="6365875" y="31750"/>
                </a:lnTo>
                <a:cubicBezTo>
                  <a:pt x="6365875" y="49273"/>
                  <a:pt x="6351648" y="63500"/>
                  <a:pt x="63341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5" name="Shape 23"/>
          <p:cNvSpPr/>
          <p:nvPr/>
        </p:nvSpPr>
        <p:spPr>
          <a:xfrm>
            <a:off x="571500" y="4369493"/>
            <a:ext cx="1905000" cy="63500"/>
          </a:xfrm>
          <a:custGeom>
            <a:avLst/>
            <a:gdLst/>
            <a:ahLst/>
            <a:cxnLst/>
            <a:rect l="l" t="t" r="r" b="b"/>
            <a:pathLst>
              <a:path w="1905000" h="63500">
                <a:moveTo>
                  <a:pt x="31750" y="0"/>
                </a:moveTo>
                <a:lnTo>
                  <a:pt x="1873250" y="0"/>
                </a:lnTo>
                <a:cubicBezTo>
                  <a:pt x="1890773" y="0"/>
                  <a:pt x="1905000" y="14227"/>
                  <a:pt x="1905000" y="31750"/>
                </a:cubicBezTo>
                <a:lnTo>
                  <a:pt x="1905000" y="31750"/>
                </a:lnTo>
                <a:cubicBezTo>
                  <a:pt x="1905000" y="49273"/>
                  <a:pt x="1890773" y="63500"/>
                  <a:pt x="1873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26" name="Shape 24"/>
          <p:cNvSpPr/>
          <p:nvPr/>
        </p:nvSpPr>
        <p:spPr>
          <a:xfrm>
            <a:off x="476250" y="4623493"/>
            <a:ext cx="6556375" cy="508000"/>
          </a:xfrm>
          <a:custGeom>
            <a:avLst/>
            <a:gdLst/>
            <a:ahLst/>
            <a:cxnLst/>
            <a:rect l="l" t="t" r="r" b="b"/>
            <a:pathLst>
              <a:path w="6556375" h="508000">
                <a:moveTo>
                  <a:pt x="63500" y="0"/>
                </a:moveTo>
                <a:lnTo>
                  <a:pt x="6492875" y="0"/>
                </a:lnTo>
                <a:cubicBezTo>
                  <a:pt x="6527922" y="0"/>
                  <a:pt x="6556375" y="28453"/>
                  <a:pt x="6556375" y="63500"/>
                </a:cubicBezTo>
                <a:lnTo>
                  <a:pt x="6556375" y="444500"/>
                </a:lnTo>
                <a:cubicBezTo>
                  <a:pt x="6556375" y="479547"/>
                  <a:pt x="6527922" y="508000"/>
                  <a:pt x="6492875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" y="4718743"/>
            <a:ext cx="70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10+ courses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97464" y="4718743"/>
            <a:ext cx="30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1500" y="4972743"/>
            <a:ext cx="6365875" cy="63500"/>
          </a:xfrm>
          <a:custGeom>
            <a:avLst/>
            <a:gdLst/>
            <a:ahLst/>
            <a:cxnLst/>
            <a:rect l="l" t="t" r="r" b="b"/>
            <a:pathLst>
              <a:path w="6365875" h="63500">
                <a:moveTo>
                  <a:pt x="31750" y="0"/>
                </a:moveTo>
                <a:lnTo>
                  <a:pt x="6334125" y="0"/>
                </a:lnTo>
                <a:cubicBezTo>
                  <a:pt x="6351648" y="0"/>
                  <a:pt x="6365875" y="14227"/>
                  <a:pt x="6365875" y="31750"/>
                </a:cubicBezTo>
                <a:lnTo>
                  <a:pt x="6365875" y="31750"/>
                </a:lnTo>
                <a:cubicBezTo>
                  <a:pt x="6365875" y="49273"/>
                  <a:pt x="6351648" y="63500"/>
                  <a:pt x="63341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571500" y="4972743"/>
            <a:ext cx="2865438" cy="63500"/>
          </a:xfrm>
          <a:custGeom>
            <a:avLst/>
            <a:gdLst/>
            <a:ahLst/>
            <a:cxnLst/>
            <a:rect l="l" t="t" r="r" b="b"/>
            <a:pathLst>
              <a:path w="2865438" h="63500">
                <a:moveTo>
                  <a:pt x="31750" y="0"/>
                </a:moveTo>
                <a:lnTo>
                  <a:pt x="2833688" y="0"/>
                </a:lnTo>
                <a:cubicBezTo>
                  <a:pt x="2851211" y="0"/>
                  <a:pt x="2865438" y="14227"/>
                  <a:pt x="2865438" y="31750"/>
                </a:cubicBezTo>
                <a:lnTo>
                  <a:pt x="2865438" y="31750"/>
                </a:lnTo>
                <a:cubicBezTo>
                  <a:pt x="2865438" y="49273"/>
                  <a:pt x="2851211" y="63500"/>
                  <a:pt x="2833688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31" name="Shape 29"/>
          <p:cNvSpPr/>
          <p:nvPr/>
        </p:nvSpPr>
        <p:spPr>
          <a:xfrm>
            <a:off x="317500" y="5417243"/>
            <a:ext cx="6873875" cy="1047750"/>
          </a:xfrm>
          <a:custGeom>
            <a:avLst/>
            <a:gdLst/>
            <a:ahLst/>
            <a:cxnLst/>
            <a:rect l="l" t="t" r="r" b="b"/>
            <a:pathLst>
              <a:path w="6873875" h="1047750">
                <a:moveTo>
                  <a:pt x="63504" y="0"/>
                </a:moveTo>
                <a:lnTo>
                  <a:pt x="6810371" y="0"/>
                </a:lnTo>
                <a:cubicBezTo>
                  <a:pt x="6845443" y="0"/>
                  <a:pt x="6873875" y="28432"/>
                  <a:pt x="6873875" y="63504"/>
                </a:cubicBezTo>
                <a:lnTo>
                  <a:pt x="6873875" y="984246"/>
                </a:lnTo>
                <a:cubicBezTo>
                  <a:pt x="6873875" y="1019318"/>
                  <a:pt x="6845443" y="1047750"/>
                  <a:pt x="6810371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565C0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23875" y="559186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33" name="Text 31"/>
          <p:cNvSpPr/>
          <p:nvPr/>
        </p:nvSpPr>
        <p:spPr>
          <a:xfrm>
            <a:off x="809625" y="5575993"/>
            <a:ext cx="1690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Interpretation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6250" y="5893493"/>
            <a:ext cx="6619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completion demonstrates value realization. Users who engage deeply with content are 3x more likely to upgrade, indicating strong product-market fit when users reach engagement milestones.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46950" y="1047750"/>
            <a:ext cx="4524375" cy="2190750"/>
          </a:xfrm>
          <a:custGeom>
            <a:avLst/>
            <a:gdLst/>
            <a:ahLst/>
            <a:cxnLst/>
            <a:rect l="l" t="t" r="r" b="b"/>
            <a:pathLst>
              <a:path w="4524375" h="2190750">
                <a:moveTo>
                  <a:pt x="63510" y="0"/>
                </a:moveTo>
                <a:lnTo>
                  <a:pt x="4460865" y="0"/>
                </a:lnTo>
                <a:cubicBezTo>
                  <a:pt x="4495941" y="0"/>
                  <a:pt x="4524375" y="28434"/>
                  <a:pt x="4524375" y="63510"/>
                </a:cubicBezTo>
                <a:lnTo>
                  <a:pt x="4524375" y="2127240"/>
                </a:lnTo>
                <a:cubicBezTo>
                  <a:pt x="4524375" y="2162316"/>
                  <a:pt x="4495941" y="2190750"/>
                  <a:pt x="4460865" y="2190750"/>
                </a:cubicBezTo>
                <a:lnTo>
                  <a:pt x="63510" y="2190750"/>
                </a:lnTo>
                <a:cubicBezTo>
                  <a:pt x="28434" y="2190750"/>
                  <a:pt x="0" y="2162316"/>
                  <a:pt x="0" y="2127240"/>
                </a:cubicBezTo>
                <a:lnTo>
                  <a:pt x="0" y="63510"/>
                </a:lnTo>
                <a:cubicBezTo>
                  <a:pt x="0" y="28434"/>
                  <a:pt x="28434" y="0"/>
                  <a:pt x="635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05700" y="1206500"/>
            <a:ext cx="4286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Engagement Users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05700" y="1555750"/>
            <a:ext cx="4206875" cy="984250"/>
          </a:xfrm>
          <a:custGeom>
            <a:avLst/>
            <a:gdLst/>
            <a:ahLst/>
            <a:cxnLst/>
            <a:rect l="l" t="t" r="r" b="b"/>
            <a:pathLst>
              <a:path w="4206875" h="984250">
                <a:moveTo>
                  <a:pt x="63504" y="0"/>
                </a:moveTo>
                <a:lnTo>
                  <a:pt x="4143371" y="0"/>
                </a:lnTo>
                <a:cubicBezTo>
                  <a:pt x="4178443" y="0"/>
                  <a:pt x="4206875" y="28432"/>
                  <a:pt x="4206875" y="63504"/>
                </a:cubicBezTo>
                <a:lnTo>
                  <a:pt x="4206875" y="920746"/>
                </a:lnTo>
                <a:cubicBezTo>
                  <a:pt x="4206875" y="955818"/>
                  <a:pt x="4178443" y="984250"/>
                  <a:pt x="4143371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8" name="Text 36"/>
          <p:cNvSpPr/>
          <p:nvPr/>
        </p:nvSpPr>
        <p:spPr>
          <a:xfrm>
            <a:off x="7513638" y="168275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75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51.9%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00950" y="2222500"/>
            <a:ext cx="401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users complete 10+ courses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05700" y="2667000"/>
            <a:ext cx="4270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 half of our engaged user base reaches the critical 10-course milestone, representing significant upgrade opportunity.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46950" y="3365500"/>
            <a:ext cx="4524375" cy="3563938"/>
          </a:xfrm>
          <a:custGeom>
            <a:avLst/>
            <a:gdLst/>
            <a:ahLst/>
            <a:cxnLst/>
            <a:rect l="l" t="t" r="r" b="b"/>
            <a:pathLst>
              <a:path w="4524375" h="3563938">
                <a:moveTo>
                  <a:pt x="63509" y="0"/>
                </a:moveTo>
                <a:lnTo>
                  <a:pt x="4460866" y="0"/>
                </a:lnTo>
                <a:cubicBezTo>
                  <a:pt x="4495941" y="0"/>
                  <a:pt x="4524375" y="28434"/>
                  <a:pt x="4524375" y="63509"/>
                </a:cubicBezTo>
                <a:lnTo>
                  <a:pt x="4524375" y="3500428"/>
                </a:lnTo>
                <a:cubicBezTo>
                  <a:pt x="4524375" y="3535503"/>
                  <a:pt x="4495941" y="3563938"/>
                  <a:pt x="4460866" y="3563938"/>
                </a:cubicBezTo>
                <a:lnTo>
                  <a:pt x="63509" y="3563938"/>
                </a:lnTo>
                <a:cubicBezTo>
                  <a:pt x="28434" y="3563938"/>
                  <a:pt x="0" y="3535503"/>
                  <a:pt x="0" y="3500428"/>
                </a:cubicBezTo>
                <a:lnTo>
                  <a:pt x="0" y="63509"/>
                </a:lnTo>
                <a:cubicBezTo>
                  <a:pt x="0" y="28434"/>
                  <a:pt x="28434" y="0"/>
                  <a:pt x="635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505700" y="3524250"/>
            <a:ext cx="4286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Recommended Actions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05700" y="3873500"/>
            <a:ext cx="4206875" cy="539750"/>
          </a:xfrm>
          <a:custGeom>
            <a:avLst/>
            <a:gdLst/>
            <a:ahLst/>
            <a:cxnLst/>
            <a:rect l="l" t="t" r="r" b="b"/>
            <a:pathLst>
              <a:path w="4206875" h="539750">
                <a:moveTo>
                  <a:pt x="63502" y="0"/>
                </a:moveTo>
                <a:lnTo>
                  <a:pt x="4143373" y="0"/>
                </a:lnTo>
                <a:cubicBezTo>
                  <a:pt x="4178444" y="0"/>
                  <a:pt x="4206875" y="28431"/>
                  <a:pt x="4206875" y="63502"/>
                </a:cubicBezTo>
                <a:lnTo>
                  <a:pt x="4206875" y="476248"/>
                </a:lnTo>
                <a:cubicBezTo>
                  <a:pt x="4206875" y="511319"/>
                  <a:pt x="4178444" y="539750"/>
                  <a:pt x="4143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4" name="Shape 42"/>
          <p:cNvSpPr/>
          <p:nvPr/>
        </p:nvSpPr>
        <p:spPr>
          <a:xfrm>
            <a:off x="7616825" y="4000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1125" y="63500"/>
                </a:moveTo>
                <a:cubicBezTo>
                  <a:pt x="111125" y="37215"/>
                  <a:pt x="89785" y="15875"/>
                  <a:pt x="63500" y="15875"/>
                </a:cubicBezTo>
                <a:cubicBezTo>
                  <a:pt x="37215" y="15875"/>
                  <a:pt x="15875" y="37215"/>
                  <a:pt x="15875" y="63500"/>
                </a:cubicBezTo>
                <a:cubicBezTo>
                  <a:pt x="15875" y="89785"/>
                  <a:pt x="37215" y="111125"/>
                  <a:pt x="63500" y="111125"/>
                </a:cubicBezTo>
                <a:cubicBezTo>
                  <a:pt x="89785" y="111125"/>
                  <a:pt x="111125" y="89785"/>
                  <a:pt x="111125" y="63500"/>
                </a:cubicBez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  <a:moveTo>
                  <a:pt x="63500" y="83344"/>
                </a:moveTo>
                <a:cubicBezTo>
                  <a:pt x="74452" y="83344"/>
                  <a:pt x="83344" y="74452"/>
                  <a:pt x="83344" y="63500"/>
                </a:cubicBezTo>
                <a:cubicBezTo>
                  <a:pt x="83344" y="52548"/>
                  <a:pt x="74452" y="43656"/>
                  <a:pt x="63500" y="43656"/>
                </a:cubicBezTo>
                <a:cubicBezTo>
                  <a:pt x="52548" y="43656"/>
                  <a:pt x="43656" y="52548"/>
                  <a:pt x="43656" y="63500"/>
                </a:cubicBezTo>
                <a:cubicBezTo>
                  <a:pt x="43656" y="74452"/>
                  <a:pt x="52548" y="83344"/>
                  <a:pt x="63500" y="83344"/>
                </a:cubicBezTo>
                <a:close/>
                <a:moveTo>
                  <a:pt x="63500" y="27781"/>
                </a:moveTo>
                <a:cubicBezTo>
                  <a:pt x="83214" y="27781"/>
                  <a:pt x="99219" y="43786"/>
                  <a:pt x="99219" y="63500"/>
                </a:cubicBezTo>
                <a:cubicBezTo>
                  <a:pt x="99219" y="83214"/>
                  <a:pt x="83214" y="99219"/>
                  <a:pt x="63500" y="99219"/>
                </a:cubicBezTo>
                <a:cubicBezTo>
                  <a:pt x="43786" y="99219"/>
                  <a:pt x="27781" y="83214"/>
                  <a:pt x="27781" y="63500"/>
                </a:cubicBezTo>
                <a:cubicBezTo>
                  <a:pt x="27781" y="43786"/>
                  <a:pt x="43786" y="27781"/>
                  <a:pt x="63500" y="27781"/>
                </a:cubicBezTo>
                <a:close/>
                <a:moveTo>
                  <a:pt x="55563" y="63500"/>
                </a:moveTo>
                <a:cubicBezTo>
                  <a:pt x="55563" y="59119"/>
                  <a:pt x="59119" y="55563"/>
                  <a:pt x="63500" y="55563"/>
                </a:cubicBezTo>
                <a:cubicBezTo>
                  <a:pt x="67881" y="55563"/>
                  <a:pt x="71438" y="59119"/>
                  <a:pt x="71438" y="63500"/>
                </a:cubicBezTo>
                <a:cubicBezTo>
                  <a:pt x="71438" y="67881"/>
                  <a:pt x="67881" y="71438"/>
                  <a:pt x="63500" y="71438"/>
                </a:cubicBezTo>
                <a:cubicBezTo>
                  <a:pt x="59119" y="71438"/>
                  <a:pt x="55563" y="67881"/>
                  <a:pt x="55563" y="6350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45" name="Text 43"/>
          <p:cNvSpPr/>
          <p:nvPr/>
        </p:nvSpPr>
        <p:spPr>
          <a:xfrm>
            <a:off x="7854950" y="3968750"/>
            <a:ext cx="196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 Tracking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854950" y="4159250"/>
            <a:ext cx="195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users toward 10-course milestone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05700" y="4508500"/>
            <a:ext cx="4206875" cy="539750"/>
          </a:xfrm>
          <a:custGeom>
            <a:avLst/>
            <a:gdLst/>
            <a:ahLst/>
            <a:cxnLst/>
            <a:rect l="l" t="t" r="r" b="b"/>
            <a:pathLst>
              <a:path w="4206875" h="539750">
                <a:moveTo>
                  <a:pt x="63502" y="0"/>
                </a:moveTo>
                <a:lnTo>
                  <a:pt x="4143373" y="0"/>
                </a:lnTo>
                <a:cubicBezTo>
                  <a:pt x="4178444" y="0"/>
                  <a:pt x="4206875" y="28431"/>
                  <a:pt x="4206875" y="63502"/>
                </a:cubicBezTo>
                <a:lnTo>
                  <a:pt x="4206875" y="476248"/>
                </a:lnTo>
                <a:cubicBezTo>
                  <a:pt x="4206875" y="511319"/>
                  <a:pt x="4178444" y="539750"/>
                  <a:pt x="4143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8" name="Shape 46"/>
          <p:cNvSpPr/>
          <p:nvPr/>
        </p:nvSpPr>
        <p:spPr>
          <a:xfrm>
            <a:off x="7616825" y="4635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747" y="17066"/>
                </a:moveTo>
                <a:cubicBezTo>
                  <a:pt x="81632" y="13866"/>
                  <a:pt x="85055" y="11906"/>
                  <a:pt x="88751" y="11906"/>
                </a:cubicBezTo>
                <a:lnTo>
                  <a:pt x="89297" y="11906"/>
                </a:lnTo>
                <a:cubicBezTo>
                  <a:pt x="94779" y="11906"/>
                  <a:pt x="99219" y="16346"/>
                  <a:pt x="99219" y="21828"/>
                </a:cubicBezTo>
                <a:cubicBezTo>
                  <a:pt x="99219" y="27310"/>
                  <a:pt x="94779" y="31750"/>
                  <a:pt x="89297" y="31750"/>
                </a:cubicBezTo>
                <a:lnTo>
                  <a:pt x="71115" y="31750"/>
                </a:lnTo>
                <a:lnTo>
                  <a:pt x="79747" y="17066"/>
                </a:lnTo>
                <a:close/>
                <a:moveTo>
                  <a:pt x="47253" y="17066"/>
                </a:moveTo>
                <a:lnTo>
                  <a:pt x="55885" y="31750"/>
                </a:lnTo>
                <a:lnTo>
                  <a:pt x="37703" y="31750"/>
                </a:lnTo>
                <a:cubicBezTo>
                  <a:pt x="32221" y="31750"/>
                  <a:pt x="27781" y="27310"/>
                  <a:pt x="27781" y="21828"/>
                </a:cubicBezTo>
                <a:cubicBezTo>
                  <a:pt x="27781" y="16346"/>
                  <a:pt x="32221" y="11906"/>
                  <a:pt x="37703" y="11906"/>
                </a:cubicBezTo>
                <a:lnTo>
                  <a:pt x="38249" y="11906"/>
                </a:lnTo>
                <a:cubicBezTo>
                  <a:pt x="41945" y="11906"/>
                  <a:pt x="45393" y="13866"/>
                  <a:pt x="47253" y="17066"/>
                </a:cubicBezTo>
                <a:close/>
                <a:moveTo>
                  <a:pt x="69478" y="11038"/>
                </a:moveTo>
                <a:lnTo>
                  <a:pt x="63500" y="21208"/>
                </a:lnTo>
                <a:lnTo>
                  <a:pt x="57522" y="11038"/>
                </a:lnTo>
                <a:cubicBezTo>
                  <a:pt x="53504" y="4192"/>
                  <a:pt x="46162" y="0"/>
                  <a:pt x="38249" y="0"/>
                </a:cubicBezTo>
                <a:lnTo>
                  <a:pt x="37703" y="0"/>
                </a:lnTo>
                <a:cubicBezTo>
                  <a:pt x="25648" y="0"/>
                  <a:pt x="15875" y="9773"/>
                  <a:pt x="15875" y="21828"/>
                </a:cubicBezTo>
                <a:cubicBezTo>
                  <a:pt x="15875" y="25400"/>
                  <a:pt x="16743" y="28773"/>
                  <a:pt x="18256" y="31750"/>
                </a:cubicBezTo>
                <a:lnTo>
                  <a:pt x="7938" y="31750"/>
                </a:lnTo>
                <a:cubicBezTo>
                  <a:pt x="3547" y="31750"/>
                  <a:pt x="0" y="35297"/>
                  <a:pt x="0" y="39688"/>
                </a:cubicBezTo>
                <a:lnTo>
                  <a:pt x="0" y="47625"/>
                </a:lnTo>
                <a:cubicBezTo>
                  <a:pt x="0" y="52015"/>
                  <a:pt x="3547" y="55563"/>
                  <a:pt x="7938" y="55563"/>
                </a:cubicBezTo>
                <a:lnTo>
                  <a:pt x="119063" y="55563"/>
                </a:lnTo>
                <a:cubicBezTo>
                  <a:pt x="123453" y="55563"/>
                  <a:pt x="127000" y="52015"/>
                  <a:pt x="127000" y="47625"/>
                </a:cubicBezTo>
                <a:lnTo>
                  <a:pt x="127000" y="39688"/>
                </a:lnTo>
                <a:cubicBezTo>
                  <a:pt x="127000" y="35297"/>
                  <a:pt x="123453" y="31750"/>
                  <a:pt x="119063" y="31750"/>
                </a:cubicBezTo>
                <a:lnTo>
                  <a:pt x="108744" y="31750"/>
                </a:lnTo>
                <a:cubicBezTo>
                  <a:pt x="110257" y="28773"/>
                  <a:pt x="111125" y="25400"/>
                  <a:pt x="111125" y="21828"/>
                </a:cubicBezTo>
                <a:cubicBezTo>
                  <a:pt x="111125" y="9773"/>
                  <a:pt x="101352" y="0"/>
                  <a:pt x="89297" y="0"/>
                </a:cubicBezTo>
                <a:lnTo>
                  <a:pt x="88751" y="0"/>
                </a:lnTo>
                <a:cubicBezTo>
                  <a:pt x="80838" y="0"/>
                  <a:pt x="73496" y="4192"/>
                  <a:pt x="69478" y="11013"/>
                </a:cubicBezTo>
                <a:close/>
                <a:moveTo>
                  <a:pt x="119063" y="67469"/>
                </a:moveTo>
                <a:lnTo>
                  <a:pt x="69453" y="67469"/>
                </a:lnTo>
                <a:lnTo>
                  <a:pt x="69453" y="119063"/>
                </a:lnTo>
                <a:lnTo>
                  <a:pt x="103188" y="119063"/>
                </a:lnTo>
                <a:cubicBezTo>
                  <a:pt x="111944" y="119063"/>
                  <a:pt x="119063" y="111944"/>
                  <a:pt x="119063" y="103188"/>
                </a:cubicBezTo>
                <a:lnTo>
                  <a:pt x="119063" y="67469"/>
                </a:lnTo>
                <a:close/>
                <a:moveTo>
                  <a:pt x="57547" y="67469"/>
                </a:moveTo>
                <a:lnTo>
                  <a:pt x="7938" y="67469"/>
                </a:lnTo>
                <a:lnTo>
                  <a:pt x="7938" y="103188"/>
                </a:lnTo>
                <a:cubicBezTo>
                  <a:pt x="7938" y="111944"/>
                  <a:pt x="15056" y="119063"/>
                  <a:pt x="23812" y="119063"/>
                </a:cubicBezTo>
                <a:lnTo>
                  <a:pt x="57547" y="119063"/>
                </a:lnTo>
                <a:lnTo>
                  <a:pt x="57547" y="67469"/>
                </a:ln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49" name="Text 47"/>
          <p:cNvSpPr/>
          <p:nvPr/>
        </p:nvSpPr>
        <p:spPr>
          <a:xfrm>
            <a:off x="7854950" y="4603750"/>
            <a:ext cx="207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 Offers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54950" y="4794250"/>
            <a:ext cx="2063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Upgrade discount at 9-course completion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05700" y="5143500"/>
            <a:ext cx="4206875" cy="539750"/>
          </a:xfrm>
          <a:custGeom>
            <a:avLst/>
            <a:gdLst/>
            <a:ahLst/>
            <a:cxnLst/>
            <a:rect l="l" t="t" r="r" b="b"/>
            <a:pathLst>
              <a:path w="4206875" h="539750">
                <a:moveTo>
                  <a:pt x="63502" y="0"/>
                </a:moveTo>
                <a:lnTo>
                  <a:pt x="4143373" y="0"/>
                </a:lnTo>
                <a:cubicBezTo>
                  <a:pt x="4178444" y="0"/>
                  <a:pt x="4206875" y="28431"/>
                  <a:pt x="4206875" y="63502"/>
                </a:cubicBezTo>
                <a:lnTo>
                  <a:pt x="4206875" y="476248"/>
                </a:lnTo>
                <a:cubicBezTo>
                  <a:pt x="4206875" y="511319"/>
                  <a:pt x="4178444" y="539750"/>
                  <a:pt x="4143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2" name="Shape 50"/>
          <p:cNvSpPr/>
          <p:nvPr/>
        </p:nvSpPr>
        <p:spPr>
          <a:xfrm>
            <a:off x="7624763" y="52705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55563" y="0"/>
                </a:moveTo>
                <a:cubicBezTo>
                  <a:pt x="51172" y="0"/>
                  <a:pt x="47625" y="3547"/>
                  <a:pt x="47625" y="7938"/>
                </a:cubicBezTo>
                <a:lnTo>
                  <a:pt x="47625" y="8731"/>
                </a:lnTo>
                <a:cubicBezTo>
                  <a:pt x="29518" y="12402"/>
                  <a:pt x="15875" y="28426"/>
                  <a:pt x="15875" y="47625"/>
                </a:cubicBezTo>
                <a:lnTo>
                  <a:pt x="15875" y="53008"/>
                </a:lnTo>
                <a:cubicBezTo>
                  <a:pt x="15875" y="64939"/>
                  <a:pt x="11807" y="76522"/>
                  <a:pt x="4366" y="85849"/>
                </a:cubicBezTo>
                <a:lnTo>
                  <a:pt x="1935" y="88875"/>
                </a:lnTo>
                <a:cubicBezTo>
                  <a:pt x="670" y="90438"/>
                  <a:pt x="0" y="92373"/>
                  <a:pt x="0" y="94382"/>
                </a:cubicBezTo>
                <a:cubicBezTo>
                  <a:pt x="0" y="99244"/>
                  <a:pt x="3944" y="103188"/>
                  <a:pt x="8806" y="103188"/>
                </a:cubicBezTo>
                <a:lnTo>
                  <a:pt x="102295" y="103188"/>
                </a:lnTo>
                <a:cubicBezTo>
                  <a:pt x="107156" y="103188"/>
                  <a:pt x="111100" y="99244"/>
                  <a:pt x="111100" y="94382"/>
                </a:cubicBezTo>
                <a:cubicBezTo>
                  <a:pt x="111100" y="92373"/>
                  <a:pt x="110430" y="90438"/>
                  <a:pt x="109165" y="88875"/>
                </a:cubicBezTo>
                <a:lnTo>
                  <a:pt x="106735" y="85849"/>
                </a:lnTo>
                <a:cubicBezTo>
                  <a:pt x="99318" y="76522"/>
                  <a:pt x="95250" y="64939"/>
                  <a:pt x="95250" y="53008"/>
                </a:cubicBezTo>
                <a:lnTo>
                  <a:pt x="95250" y="47625"/>
                </a:lnTo>
                <a:cubicBezTo>
                  <a:pt x="95250" y="28426"/>
                  <a:pt x="81607" y="12402"/>
                  <a:pt x="63500" y="8731"/>
                </a:cubicBezTo>
                <a:lnTo>
                  <a:pt x="63500" y="7937"/>
                </a:lnTo>
                <a:cubicBezTo>
                  <a:pt x="63500" y="3547"/>
                  <a:pt x="59953" y="0"/>
                  <a:pt x="55563" y="0"/>
                </a:cubicBezTo>
                <a:close/>
                <a:moveTo>
                  <a:pt x="40184" y="115094"/>
                </a:moveTo>
                <a:cubicBezTo>
                  <a:pt x="41945" y="121940"/>
                  <a:pt x="48171" y="127000"/>
                  <a:pt x="55563" y="127000"/>
                </a:cubicBezTo>
                <a:cubicBezTo>
                  <a:pt x="62954" y="127000"/>
                  <a:pt x="69180" y="121940"/>
                  <a:pt x="70941" y="115094"/>
                </a:cubicBezTo>
                <a:lnTo>
                  <a:pt x="40184" y="115094"/>
                </a:ln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53" name="Text 51"/>
          <p:cNvSpPr/>
          <p:nvPr/>
        </p:nvSpPr>
        <p:spPr>
          <a:xfrm>
            <a:off x="7854950" y="5238750"/>
            <a:ext cx="1785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Alerts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854950" y="5429250"/>
            <a:ext cx="1778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Notify users near upgrade threshold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346950" y="7054848"/>
            <a:ext cx="4524375" cy="1047750"/>
          </a:xfrm>
          <a:custGeom>
            <a:avLst/>
            <a:gdLst/>
            <a:ahLst/>
            <a:cxnLst/>
            <a:rect l="l" t="t" r="r" b="b"/>
            <a:pathLst>
              <a:path w="4524375" h="1047750">
                <a:moveTo>
                  <a:pt x="63504" y="0"/>
                </a:moveTo>
                <a:lnTo>
                  <a:pt x="4460871" y="0"/>
                </a:lnTo>
                <a:cubicBezTo>
                  <a:pt x="4495943" y="0"/>
                  <a:pt x="4524375" y="28432"/>
                  <a:pt x="4524375" y="63504"/>
                </a:cubicBezTo>
                <a:lnTo>
                  <a:pt x="4524375" y="984246"/>
                </a:lnTo>
                <a:cubicBezTo>
                  <a:pt x="4524375" y="1019318"/>
                  <a:pt x="4495943" y="1047750"/>
                  <a:pt x="4460871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2E7D32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473950" y="7213598"/>
            <a:ext cx="427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434263" y="7404098"/>
            <a:ext cx="4349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+20%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469982" y="7721598"/>
            <a:ext cx="4278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Pro/Premium Conversions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 #5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Failure Revenue Leakage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47750"/>
            <a:ext cx="5683250" cy="1365250"/>
          </a:xfrm>
          <a:custGeom>
            <a:avLst/>
            <a:gdLst/>
            <a:ahLst/>
            <a:cxnLst/>
            <a:rect l="l" t="t" r="r" b="b"/>
            <a:pathLst>
              <a:path w="5683250" h="1365250">
                <a:moveTo>
                  <a:pt x="31750" y="0"/>
                </a:moveTo>
                <a:lnTo>
                  <a:pt x="5619752" y="0"/>
                </a:lnTo>
                <a:cubicBezTo>
                  <a:pt x="5654821" y="0"/>
                  <a:pt x="5683250" y="28429"/>
                  <a:pt x="5683250" y="63498"/>
                </a:cubicBezTo>
                <a:lnTo>
                  <a:pt x="5683250" y="1301752"/>
                </a:lnTo>
                <a:cubicBezTo>
                  <a:pt x="5683250" y="1336821"/>
                  <a:pt x="5654821" y="1365250"/>
                  <a:pt x="5619752" y="1365250"/>
                </a:cubicBez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3375" y="1047750"/>
            <a:ext cx="31750" cy="1365250"/>
          </a:xfrm>
          <a:custGeom>
            <a:avLst/>
            <a:gdLst/>
            <a:ahLst/>
            <a:cxnLst/>
            <a:rect l="l" t="t" r="r" b="b"/>
            <a:pathLst>
              <a:path w="31750" h="1365250">
                <a:moveTo>
                  <a:pt x="31750" y="0"/>
                </a:moveTo>
                <a:lnTo>
                  <a:pt x="31750" y="0"/>
                </a:lnTo>
                <a:lnTo>
                  <a:pt x="31750" y="1365250"/>
                </a:ln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6" name="Shape 4"/>
          <p:cNvSpPr/>
          <p:nvPr/>
        </p:nvSpPr>
        <p:spPr>
          <a:xfrm>
            <a:off x="531813" y="123815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47625"/>
                </a:moveTo>
                <a:lnTo>
                  <a:pt x="0" y="59531"/>
                </a:lnTo>
                <a:lnTo>
                  <a:pt x="190500" y="59531"/>
                </a:ln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close/>
                <a:moveTo>
                  <a:pt x="0" y="77391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7391"/>
                </a:lnTo>
                <a:lnTo>
                  <a:pt x="0" y="77391"/>
                </a:lnTo>
                <a:close/>
                <a:moveTo>
                  <a:pt x="23812" y="133945"/>
                </a:moveTo>
                <a:cubicBezTo>
                  <a:pt x="23812" y="128997"/>
                  <a:pt x="27794" y="125016"/>
                  <a:pt x="32742" y="125016"/>
                </a:cubicBezTo>
                <a:lnTo>
                  <a:pt x="50602" y="125016"/>
                </a:lnTo>
                <a:cubicBezTo>
                  <a:pt x="55550" y="125016"/>
                  <a:pt x="59531" y="128997"/>
                  <a:pt x="59531" y="133945"/>
                </a:cubicBezTo>
                <a:cubicBezTo>
                  <a:pt x="59531" y="138894"/>
                  <a:pt x="55550" y="142875"/>
                  <a:pt x="50602" y="142875"/>
                </a:cubicBezTo>
                <a:lnTo>
                  <a:pt x="32742" y="142875"/>
                </a:lnTo>
                <a:cubicBezTo>
                  <a:pt x="27794" y="142875"/>
                  <a:pt x="23812" y="138894"/>
                  <a:pt x="23812" y="133945"/>
                </a:cubicBezTo>
                <a:close/>
                <a:moveTo>
                  <a:pt x="77391" y="133945"/>
                </a:moveTo>
                <a:cubicBezTo>
                  <a:pt x="77391" y="128997"/>
                  <a:pt x="81372" y="125016"/>
                  <a:pt x="86320" y="125016"/>
                </a:cubicBez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6320" y="142875"/>
                </a:lnTo>
                <a:cubicBezTo>
                  <a:pt x="81372" y="142875"/>
                  <a:pt x="77391" y="138894"/>
                  <a:pt x="77391" y="133945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841375" y="1206500"/>
            <a:ext cx="1690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Happening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1555657"/>
            <a:ext cx="542131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failure recovery rate is at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compared to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65% industry standard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Significant revenue recovery opportunity exists through improved retry logic and customer communication.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7500" y="2537923"/>
            <a:ext cx="5699125" cy="2190750"/>
          </a:xfrm>
          <a:custGeom>
            <a:avLst/>
            <a:gdLst/>
            <a:ahLst/>
            <a:cxnLst/>
            <a:rect l="l" t="t" r="r" b="b"/>
            <a:pathLst>
              <a:path w="5699125" h="2190750">
                <a:moveTo>
                  <a:pt x="63510" y="0"/>
                </a:moveTo>
                <a:lnTo>
                  <a:pt x="5635615" y="0"/>
                </a:lnTo>
                <a:cubicBezTo>
                  <a:pt x="5670691" y="0"/>
                  <a:pt x="5699125" y="28434"/>
                  <a:pt x="5699125" y="63510"/>
                </a:cubicBezTo>
                <a:lnTo>
                  <a:pt x="5699125" y="2127240"/>
                </a:lnTo>
                <a:cubicBezTo>
                  <a:pt x="5699125" y="2162316"/>
                  <a:pt x="5670691" y="2190750"/>
                  <a:pt x="5635615" y="2190750"/>
                </a:cubicBezTo>
                <a:lnTo>
                  <a:pt x="63510" y="2190750"/>
                </a:lnTo>
                <a:cubicBezTo>
                  <a:pt x="28434" y="2190750"/>
                  <a:pt x="0" y="2162316"/>
                  <a:pt x="0" y="2127240"/>
                </a:cubicBezTo>
                <a:lnTo>
                  <a:pt x="0" y="63510"/>
                </a:lnTo>
                <a:cubicBezTo>
                  <a:pt x="0" y="28434"/>
                  <a:pt x="28434" y="0"/>
                  <a:pt x="635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6250" y="2696673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Status Distribution</a:t>
            </a:r>
            <a:endParaRPr lang="en-US" sz="1600" dirty="0"/>
          </a:p>
        </p:txBody>
      </p:sp>
      <p:pic>
        <p:nvPicPr>
          <p:cNvPr id="11" name="Image 0" descr="https://kimi-img.moonshot.cn/pub/slides/okc/w7ufw4gpw4efk/chart_payment_status.png">    </p:cNvPr>
          <p:cNvPicPr>
            <a:picLocks noChangeAspect="1"/>
          </p:cNvPicPr>
          <p:nvPr/>
        </p:nvPicPr>
        <p:blipFill>
          <a:blip r:embed="rId1"/>
          <a:srcRect l="0" r="0" t="37387" b="37387"/>
          <a:stretch/>
        </p:blipFill>
        <p:spPr>
          <a:xfrm>
            <a:off x="476250" y="3045923"/>
            <a:ext cx="5381625" cy="1524000"/>
          </a:xfrm>
          <a:prstGeom prst="roundRect">
            <a:avLst>
              <a:gd name="adj" fmla="val 0"/>
            </a:avLst>
          </a:prstGeom>
        </p:spPr>
      </p:pic>
      <p:sp>
        <p:nvSpPr>
          <p:cNvPr id="12" name="Shape 9"/>
          <p:cNvSpPr/>
          <p:nvPr/>
        </p:nvSpPr>
        <p:spPr>
          <a:xfrm>
            <a:off x="317500" y="4855673"/>
            <a:ext cx="5699125" cy="2000250"/>
          </a:xfrm>
          <a:custGeom>
            <a:avLst/>
            <a:gdLst/>
            <a:ahLst/>
            <a:cxnLst/>
            <a:rect l="l" t="t" r="r" b="b"/>
            <a:pathLst>
              <a:path w="5699125" h="2000250">
                <a:moveTo>
                  <a:pt x="63508" y="0"/>
                </a:moveTo>
                <a:lnTo>
                  <a:pt x="5635617" y="0"/>
                </a:lnTo>
                <a:cubicBezTo>
                  <a:pt x="5670692" y="0"/>
                  <a:pt x="5699125" y="28433"/>
                  <a:pt x="5699125" y="63508"/>
                </a:cubicBezTo>
                <a:lnTo>
                  <a:pt x="5699125" y="1936742"/>
                </a:lnTo>
                <a:cubicBezTo>
                  <a:pt x="5699125" y="1971817"/>
                  <a:pt x="5670692" y="2000250"/>
                  <a:pt x="5635617" y="2000250"/>
                </a:cubicBezTo>
                <a:lnTo>
                  <a:pt x="63508" y="2000250"/>
                </a:lnTo>
                <a:cubicBezTo>
                  <a:pt x="28433" y="2000250"/>
                  <a:pt x="0" y="1971817"/>
                  <a:pt x="0" y="1936742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6250" y="5014423"/>
            <a:ext cx="5453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Metrics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6250" y="5331923"/>
            <a:ext cx="2643188" cy="635000"/>
          </a:xfrm>
          <a:custGeom>
            <a:avLst/>
            <a:gdLst/>
            <a:ahLst/>
            <a:cxnLst/>
            <a:rect l="l" t="t" r="r" b="b"/>
            <a:pathLst>
              <a:path w="2643188" h="635000">
                <a:moveTo>
                  <a:pt x="63500" y="0"/>
                </a:moveTo>
                <a:lnTo>
                  <a:pt x="2579688" y="0"/>
                </a:lnTo>
                <a:cubicBezTo>
                  <a:pt x="2614734" y="0"/>
                  <a:pt x="2643188" y="28453"/>
                  <a:pt x="2643188" y="63500"/>
                </a:cubicBezTo>
                <a:lnTo>
                  <a:pt x="2643188" y="571500"/>
                </a:lnTo>
                <a:cubicBezTo>
                  <a:pt x="2643188" y="606547"/>
                  <a:pt x="2614734" y="635000"/>
                  <a:pt x="2579688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11969" y="5427173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95.7%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3719" y="5712923"/>
            <a:ext cx="250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Rate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14688" y="5331923"/>
            <a:ext cx="2643188" cy="635000"/>
          </a:xfrm>
          <a:custGeom>
            <a:avLst/>
            <a:gdLst/>
            <a:ahLst/>
            <a:cxnLst/>
            <a:rect l="l" t="t" r="r" b="b"/>
            <a:pathLst>
              <a:path w="2643188" h="635000">
                <a:moveTo>
                  <a:pt x="63500" y="0"/>
                </a:moveTo>
                <a:lnTo>
                  <a:pt x="2579688" y="0"/>
                </a:lnTo>
                <a:cubicBezTo>
                  <a:pt x="2614734" y="0"/>
                  <a:pt x="2643188" y="28453"/>
                  <a:pt x="2643188" y="63500"/>
                </a:cubicBezTo>
                <a:lnTo>
                  <a:pt x="2643188" y="571500"/>
                </a:lnTo>
                <a:cubicBezTo>
                  <a:pt x="2643188" y="606547"/>
                  <a:pt x="2614734" y="635000"/>
                  <a:pt x="2579688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250406" y="5427173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4.3%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282156" y="5712923"/>
            <a:ext cx="250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Failure Rate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76250" y="6062173"/>
            <a:ext cx="2643188" cy="635000"/>
          </a:xfrm>
          <a:custGeom>
            <a:avLst/>
            <a:gdLst/>
            <a:ahLst/>
            <a:cxnLst/>
            <a:rect l="l" t="t" r="r" b="b"/>
            <a:pathLst>
              <a:path w="2643188" h="635000">
                <a:moveTo>
                  <a:pt x="63500" y="0"/>
                </a:moveTo>
                <a:lnTo>
                  <a:pt x="2579688" y="0"/>
                </a:lnTo>
                <a:cubicBezTo>
                  <a:pt x="2614734" y="0"/>
                  <a:pt x="2643188" y="28453"/>
                  <a:pt x="2643188" y="63500"/>
                </a:cubicBezTo>
                <a:lnTo>
                  <a:pt x="2643188" y="571500"/>
                </a:lnTo>
                <a:cubicBezTo>
                  <a:pt x="2643188" y="606547"/>
                  <a:pt x="2614734" y="635000"/>
                  <a:pt x="2579688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11969" y="6157423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$165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3719" y="6443173"/>
            <a:ext cx="250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Failed Value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14688" y="6062173"/>
            <a:ext cx="2643188" cy="635000"/>
          </a:xfrm>
          <a:custGeom>
            <a:avLst/>
            <a:gdLst/>
            <a:ahLst/>
            <a:cxnLst/>
            <a:rect l="l" t="t" r="r" b="b"/>
            <a:pathLst>
              <a:path w="2643188" h="635000">
                <a:moveTo>
                  <a:pt x="63500" y="0"/>
                </a:moveTo>
                <a:lnTo>
                  <a:pt x="2579688" y="0"/>
                </a:lnTo>
                <a:cubicBezTo>
                  <a:pt x="2614734" y="0"/>
                  <a:pt x="2643188" y="28453"/>
                  <a:pt x="2643188" y="63500"/>
                </a:cubicBezTo>
                <a:lnTo>
                  <a:pt x="2643188" y="571500"/>
                </a:lnTo>
                <a:cubicBezTo>
                  <a:pt x="2643188" y="606547"/>
                  <a:pt x="2614734" y="635000"/>
                  <a:pt x="2579688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3250406" y="6157423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$12.8K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282156" y="6443173"/>
            <a:ext cx="250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75375" y="1047750"/>
            <a:ext cx="5699125" cy="5183188"/>
          </a:xfrm>
          <a:custGeom>
            <a:avLst/>
            <a:gdLst/>
            <a:ahLst/>
            <a:cxnLst/>
            <a:rect l="l" t="t" r="r" b="b"/>
            <a:pathLst>
              <a:path w="5699125" h="5183188">
                <a:moveTo>
                  <a:pt x="63494" y="0"/>
                </a:moveTo>
                <a:lnTo>
                  <a:pt x="5635631" y="0"/>
                </a:lnTo>
                <a:cubicBezTo>
                  <a:pt x="5670698" y="0"/>
                  <a:pt x="5699125" y="28427"/>
                  <a:pt x="5699125" y="63494"/>
                </a:cubicBezTo>
                <a:lnTo>
                  <a:pt x="5699125" y="5119693"/>
                </a:lnTo>
                <a:cubicBezTo>
                  <a:pt x="5699125" y="5154760"/>
                  <a:pt x="5670698" y="5183188"/>
                  <a:pt x="5635631" y="5183188"/>
                </a:cubicBezTo>
                <a:lnTo>
                  <a:pt x="63494" y="5183188"/>
                </a:lnTo>
                <a:cubicBezTo>
                  <a:pt x="28427" y="5183188"/>
                  <a:pt x="0" y="5154760"/>
                  <a:pt x="0" y="5119693"/>
                </a:cubicBezTo>
                <a:lnTo>
                  <a:pt x="0" y="63494"/>
                </a:lnTo>
                <a:cubicBezTo>
                  <a:pt x="0" y="28427"/>
                  <a:pt x="28427" y="0"/>
                  <a:pt x="634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334125" y="120650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Interpretation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334125" y="1555750"/>
            <a:ext cx="54451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retry logic and payment reminders can significantly improve revenue recovery. Failed payments often indicate temporary issues (expired cards, insufficient funds) that can be resolved with proactive communication.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34125" y="2301875"/>
            <a:ext cx="5381625" cy="1809750"/>
          </a:xfrm>
          <a:custGeom>
            <a:avLst/>
            <a:gdLst/>
            <a:ahLst/>
            <a:cxnLst/>
            <a:rect l="l" t="t" r="r" b="b"/>
            <a:pathLst>
              <a:path w="5381625" h="1809750">
                <a:moveTo>
                  <a:pt x="63504" y="0"/>
                </a:moveTo>
                <a:lnTo>
                  <a:pt x="5318121" y="0"/>
                </a:lnTo>
                <a:cubicBezTo>
                  <a:pt x="5353193" y="0"/>
                  <a:pt x="5381625" y="28432"/>
                  <a:pt x="5381625" y="63504"/>
                </a:cubicBezTo>
                <a:lnTo>
                  <a:pt x="5381625" y="1746246"/>
                </a:lnTo>
                <a:cubicBezTo>
                  <a:pt x="5381625" y="1781318"/>
                  <a:pt x="5353193" y="1809750"/>
                  <a:pt x="5318121" y="1809750"/>
                </a:cubicBezTo>
                <a:lnTo>
                  <a:pt x="63504" y="1809750"/>
                </a:lnTo>
                <a:cubicBezTo>
                  <a:pt x="28432" y="1809750"/>
                  <a:pt x="0" y="1781318"/>
                  <a:pt x="0" y="1746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0" name="Text 27"/>
          <p:cNvSpPr/>
          <p:nvPr/>
        </p:nvSpPr>
        <p:spPr>
          <a:xfrm>
            <a:off x="6461125" y="2428875"/>
            <a:ext cx="5199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Recovery Improvement Plan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461125" y="274637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32" name="Text 29"/>
          <p:cNvSpPr/>
          <p:nvPr/>
        </p:nvSpPr>
        <p:spPr>
          <a:xfrm>
            <a:off x="6429375" y="2746375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810375" y="2746375"/>
            <a:ext cx="131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Retry Logic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810375" y="2936875"/>
            <a:ext cx="130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attempts over 7 days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461125" y="319087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36" name="Text 33"/>
          <p:cNvSpPr/>
          <p:nvPr/>
        </p:nvSpPr>
        <p:spPr>
          <a:xfrm>
            <a:off x="6429375" y="3190875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810375" y="3190875"/>
            <a:ext cx="146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Reminders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810375" y="3381375"/>
            <a:ext cx="145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update notifications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461125" y="363537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40" name="Text 37"/>
          <p:cNvSpPr/>
          <p:nvPr/>
        </p:nvSpPr>
        <p:spPr>
          <a:xfrm>
            <a:off x="6429375" y="3635375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810375" y="3635375"/>
            <a:ext cx="131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Grace Period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810375" y="3825875"/>
            <a:ext cx="130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7-day access continuation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175375" y="6356356"/>
            <a:ext cx="5699125" cy="1555750"/>
          </a:xfrm>
          <a:custGeom>
            <a:avLst/>
            <a:gdLst/>
            <a:ahLst/>
            <a:cxnLst/>
            <a:rect l="l" t="t" r="r" b="b"/>
            <a:pathLst>
              <a:path w="5699125" h="1555750">
                <a:moveTo>
                  <a:pt x="63506" y="0"/>
                </a:moveTo>
                <a:lnTo>
                  <a:pt x="5635619" y="0"/>
                </a:lnTo>
                <a:cubicBezTo>
                  <a:pt x="5670693" y="0"/>
                  <a:pt x="5699125" y="28432"/>
                  <a:pt x="5699125" y="63506"/>
                </a:cubicBezTo>
                <a:lnTo>
                  <a:pt x="5699125" y="1492244"/>
                </a:lnTo>
                <a:cubicBezTo>
                  <a:pt x="5699125" y="1527318"/>
                  <a:pt x="5670693" y="1555750"/>
                  <a:pt x="5635619" y="1555750"/>
                </a:cubicBezTo>
                <a:lnTo>
                  <a:pt x="63506" y="1555750"/>
                </a:lnTo>
                <a:cubicBezTo>
                  <a:pt x="28432" y="1555750"/>
                  <a:pt x="0" y="1527318"/>
                  <a:pt x="0" y="149224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2E7D32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6302375" y="6515106"/>
            <a:ext cx="544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238875" y="6705606"/>
            <a:ext cx="5572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$15K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298406" y="7086606"/>
            <a:ext cx="5453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Recurring Revenue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34125" y="7404106"/>
            <a:ext cx="5381625" cy="349250"/>
          </a:xfrm>
          <a:custGeom>
            <a:avLst/>
            <a:gdLst/>
            <a:ahLst/>
            <a:cxnLst/>
            <a:rect l="l" t="t" r="r" b="b"/>
            <a:pathLst>
              <a:path w="5381625" h="349250">
                <a:moveTo>
                  <a:pt x="63501" y="0"/>
                </a:moveTo>
                <a:lnTo>
                  <a:pt x="5318124" y="0"/>
                </a:lnTo>
                <a:cubicBezTo>
                  <a:pt x="5353195" y="0"/>
                  <a:pt x="5381625" y="28430"/>
                  <a:pt x="5381625" y="63501"/>
                </a:cubicBezTo>
                <a:lnTo>
                  <a:pt x="5381625" y="285749"/>
                </a:lnTo>
                <a:cubicBezTo>
                  <a:pt x="5381625" y="320820"/>
                  <a:pt x="5353195" y="349250"/>
                  <a:pt x="53181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6429375" y="7499356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Improving recovery from 30% to 65% adds significant MRR with minimal implementation cost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608" y="351608"/>
            <a:ext cx="11550316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spc="48" kern="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1608" y="597733"/>
            <a:ext cx="11699749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2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Impact &amp; Opportunity Sizing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1608" y="1160306"/>
            <a:ext cx="5652095" cy="2390933"/>
          </a:xfrm>
          <a:custGeom>
            <a:avLst/>
            <a:gdLst/>
            <a:ahLst/>
            <a:cxnLst/>
            <a:rect l="l" t="t" r="r" b="b"/>
            <a:pathLst>
              <a:path w="5652095" h="2390933">
                <a:moveTo>
                  <a:pt x="70317" y="0"/>
                </a:moveTo>
                <a:lnTo>
                  <a:pt x="5581778" y="0"/>
                </a:lnTo>
                <a:cubicBezTo>
                  <a:pt x="5620613" y="0"/>
                  <a:pt x="5652095" y="31482"/>
                  <a:pt x="5652095" y="70317"/>
                </a:cubicBezTo>
                <a:lnTo>
                  <a:pt x="5652095" y="2320616"/>
                </a:lnTo>
                <a:cubicBezTo>
                  <a:pt x="5652095" y="2359451"/>
                  <a:pt x="5620613" y="2390933"/>
                  <a:pt x="5581778" y="2390933"/>
                </a:cubicBezTo>
                <a:lnTo>
                  <a:pt x="70317" y="2390933"/>
                </a:lnTo>
                <a:cubicBezTo>
                  <a:pt x="31482" y="2390933"/>
                  <a:pt x="0" y="2359451"/>
                  <a:pt x="0" y="2320616"/>
                </a:cubicBezTo>
                <a:lnTo>
                  <a:pt x="0" y="70317"/>
                </a:lnTo>
                <a:cubicBezTo>
                  <a:pt x="0" y="31482"/>
                  <a:pt x="31482" y="0"/>
                  <a:pt x="70317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outerShdw sx="100000" sy="100000" kx="0" ky="0" algn="bl" rotWithShape="0" blurRad="131853" dist="87902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7412" y="1371270"/>
            <a:ext cx="530048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Projected Annual Impact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4349" y="1582235"/>
            <a:ext cx="5546613" cy="632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983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$120K-210K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8621" y="2215129"/>
            <a:ext cx="5318068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4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Recovery Potential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2572" y="2601898"/>
            <a:ext cx="5230166" cy="738376"/>
          </a:xfrm>
          <a:custGeom>
            <a:avLst/>
            <a:gdLst/>
            <a:ahLst/>
            <a:cxnLst/>
            <a:rect l="l" t="t" r="r" b="b"/>
            <a:pathLst>
              <a:path w="5230166" h="738376">
                <a:moveTo>
                  <a:pt x="70323" y="0"/>
                </a:moveTo>
                <a:lnTo>
                  <a:pt x="5159843" y="0"/>
                </a:lnTo>
                <a:cubicBezTo>
                  <a:pt x="5198681" y="0"/>
                  <a:pt x="5230166" y="31485"/>
                  <a:pt x="5230166" y="70323"/>
                </a:cubicBezTo>
                <a:lnTo>
                  <a:pt x="5230166" y="668053"/>
                </a:lnTo>
                <a:cubicBezTo>
                  <a:pt x="5230166" y="706892"/>
                  <a:pt x="5198681" y="738376"/>
                  <a:pt x="5159843" y="738376"/>
                </a:cubicBezTo>
                <a:lnTo>
                  <a:pt x="70323" y="738376"/>
                </a:lnTo>
                <a:cubicBezTo>
                  <a:pt x="31511" y="738376"/>
                  <a:pt x="0" y="706866"/>
                  <a:pt x="0" y="668053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03216" y="2742541"/>
            <a:ext cx="5019201" cy="45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Conservative and optimistic scenarios based on implementation of all recommended strategies with varying success rates.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1608" y="3691882"/>
            <a:ext cx="5652095" cy="3164470"/>
          </a:xfrm>
          <a:custGeom>
            <a:avLst/>
            <a:gdLst/>
            <a:ahLst/>
            <a:cxnLst/>
            <a:rect l="l" t="t" r="r" b="b"/>
            <a:pathLst>
              <a:path w="5652095" h="3164470">
                <a:moveTo>
                  <a:pt x="70315" y="0"/>
                </a:moveTo>
                <a:lnTo>
                  <a:pt x="5581781" y="0"/>
                </a:lnTo>
                <a:cubicBezTo>
                  <a:pt x="5620614" y="0"/>
                  <a:pt x="5652095" y="31481"/>
                  <a:pt x="5652095" y="70315"/>
                </a:cubicBezTo>
                <a:lnTo>
                  <a:pt x="5652095" y="3094156"/>
                </a:lnTo>
                <a:cubicBezTo>
                  <a:pt x="5652095" y="3132989"/>
                  <a:pt x="5620614" y="3164470"/>
                  <a:pt x="5581781" y="3164470"/>
                </a:cubicBezTo>
                <a:lnTo>
                  <a:pt x="70315" y="3164470"/>
                </a:lnTo>
                <a:cubicBezTo>
                  <a:pt x="31481" y="3164470"/>
                  <a:pt x="0" y="3132989"/>
                  <a:pt x="0" y="3094156"/>
                </a:cubicBezTo>
                <a:lnTo>
                  <a:pt x="0" y="70315"/>
                </a:lnTo>
                <a:cubicBezTo>
                  <a:pt x="0" y="31507"/>
                  <a:pt x="31507" y="0"/>
                  <a:pt x="7031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741" dist="35161" dir="540000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7412" y="3867686"/>
            <a:ext cx="5388389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Recovery Scenarios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4992" y="4254454"/>
            <a:ext cx="5282907" cy="1054823"/>
          </a:xfrm>
          <a:custGeom>
            <a:avLst/>
            <a:gdLst/>
            <a:ahLst/>
            <a:cxnLst/>
            <a:rect l="l" t="t" r="r" b="b"/>
            <a:pathLst>
              <a:path w="5282907" h="1054823">
                <a:moveTo>
                  <a:pt x="35161" y="0"/>
                </a:moveTo>
                <a:lnTo>
                  <a:pt x="5212582" y="0"/>
                </a:lnTo>
                <a:cubicBezTo>
                  <a:pt x="5251421" y="0"/>
                  <a:pt x="5282907" y="31486"/>
                  <a:pt x="5282907" y="70325"/>
                </a:cubicBezTo>
                <a:lnTo>
                  <a:pt x="5282907" y="984498"/>
                </a:lnTo>
                <a:cubicBezTo>
                  <a:pt x="5282907" y="1023338"/>
                  <a:pt x="5251421" y="1054823"/>
                  <a:pt x="5212582" y="1054823"/>
                </a:cubicBezTo>
                <a:lnTo>
                  <a:pt x="35161" y="1054823"/>
                </a:lnTo>
                <a:cubicBezTo>
                  <a:pt x="15755" y="1054823"/>
                  <a:pt x="0" y="1039068"/>
                  <a:pt x="0" y="1019663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4992" y="4254454"/>
            <a:ext cx="35161" cy="1054823"/>
          </a:xfrm>
          <a:custGeom>
            <a:avLst/>
            <a:gdLst/>
            <a:ahLst/>
            <a:cxnLst/>
            <a:rect l="l" t="t" r="r" b="b"/>
            <a:pathLst>
              <a:path w="35161" h="1054823">
                <a:moveTo>
                  <a:pt x="35161" y="0"/>
                </a:moveTo>
                <a:lnTo>
                  <a:pt x="35161" y="0"/>
                </a:lnTo>
                <a:lnTo>
                  <a:pt x="35161" y="1054823"/>
                </a:lnTo>
                <a:lnTo>
                  <a:pt x="35161" y="1054823"/>
                </a:lnTo>
                <a:cubicBezTo>
                  <a:pt x="15755" y="1054823"/>
                  <a:pt x="0" y="1039068"/>
                  <a:pt x="0" y="1019663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703216" y="4430258"/>
            <a:ext cx="1608606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Conservative Scenario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96237" y="4395097"/>
            <a:ext cx="826278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6" b="1" dirty="0">
                <a:solidFill>
                  <a:srgbClr val="1565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$105K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3216" y="4781866"/>
            <a:ext cx="5045572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Payment recovery: $15K MRR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3216" y="4992831"/>
            <a:ext cx="5045572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Retention campaign: $90K annually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4992" y="5414760"/>
            <a:ext cx="5282907" cy="1265788"/>
          </a:xfrm>
          <a:custGeom>
            <a:avLst/>
            <a:gdLst/>
            <a:ahLst/>
            <a:cxnLst/>
            <a:rect l="l" t="t" r="r" b="b"/>
            <a:pathLst>
              <a:path w="5282907" h="1265788">
                <a:moveTo>
                  <a:pt x="35161" y="0"/>
                </a:moveTo>
                <a:lnTo>
                  <a:pt x="5212580" y="0"/>
                </a:lnTo>
                <a:cubicBezTo>
                  <a:pt x="5251420" y="0"/>
                  <a:pt x="5282907" y="31487"/>
                  <a:pt x="5282907" y="70327"/>
                </a:cubicBezTo>
                <a:lnTo>
                  <a:pt x="5282907" y="1195461"/>
                </a:lnTo>
                <a:cubicBezTo>
                  <a:pt x="5282907" y="1234301"/>
                  <a:pt x="5251420" y="1265788"/>
                  <a:pt x="5212580" y="1265788"/>
                </a:cubicBezTo>
                <a:lnTo>
                  <a:pt x="35161" y="1265788"/>
                </a:lnTo>
                <a:cubicBezTo>
                  <a:pt x="15755" y="1265788"/>
                  <a:pt x="0" y="1250033"/>
                  <a:pt x="0" y="123062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544992" y="5414760"/>
            <a:ext cx="35161" cy="1265788"/>
          </a:xfrm>
          <a:custGeom>
            <a:avLst/>
            <a:gdLst/>
            <a:ahLst/>
            <a:cxnLst/>
            <a:rect l="l" t="t" r="r" b="b"/>
            <a:pathLst>
              <a:path w="35161" h="1265788">
                <a:moveTo>
                  <a:pt x="35161" y="0"/>
                </a:moveTo>
                <a:lnTo>
                  <a:pt x="35161" y="0"/>
                </a:lnTo>
                <a:lnTo>
                  <a:pt x="35161" y="1265788"/>
                </a:lnTo>
                <a:lnTo>
                  <a:pt x="35161" y="1265788"/>
                </a:lnTo>
                <a:cubicBezTo>
                  <a:pt x="15755" y="1265788"/>
                  <a:pt x="0" y="1250033"/>
                  <a:pt x="0" y="123062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703216" y="5590564"/>
            <a:ext cx="1415221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Optimistic Scenario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34255" y="5555403"/>
            <a:ext cx="791118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6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$341K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3216" y="5942172"/>
            <a:ext cx="5045572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Conservative baseline: $105K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3216" y="6153136"/>
            <a:ext cx="5045572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Marketing reallocation: +$35K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3216" y="6364101"/>
            <a:ext cx="5045572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Onboarding optimization: +$216K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82364" y="1160306"/>
            <a:ext cx="5652095" cy="3111729"/>
          </a:xfrm>
          <a:custGeom>
            <a:avLst/>
            <a:gdLst/>
            <a:ahLst/>
            <a:cxnLst/>
            <a:rect l="l" t="t" r="r" b="b"/>
            <a:pathLst>
              <a:path w="5652095" h="3111729">
                <a:moveTo>
                  <a:pt x="70325" y="0"/>
                </a:moveTo>
                <a:lnTo>
                  <a:pt x="5581770" y="0"/>
                </a:lnTo>
                <a:cubicBezTo>
                  <a:pt x="5620610" y="0"/>
                  <a:pt x="5652095" y="31486"/>
                  <a:pt x="5652095" y="70325"/>
                </a:cubicBezTo>
                <a:lnTo>
                  <a:pt x="5652095" y="3041404"/>
                </a:lnTo>
                <a:cubicBezTo>
                  <a:pt x="5652095" y="3080243"/>
                  <a:pt x="5620610" y="3111729"/>
                  <a:pt x="5581770" y="3111729"/>
                </a:cubicBezTo>
                <a:lnTo>
                  <a:pt x="70325" y="3111729"/>
                </a:lnTo>
                <a:cubicBezTo>
                  <a:pt x="31486" y="3111729"/>
                  <a:pt x="0" y="3080243"/>
                  <a:pt x="0" y="3041404"/>
                </a:cubicBezTo>
                <a:lnTo>
                  <a:pt x="0" y="70325"/>
                </a:lnTo>
                <a:cubicBezTo>
                  <a:pt x="0" y="31512"/>
                  <a:pt x="31512" y="0"/>
                  <a:pt x="7032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741" dist="35161" dir="5400000">
              <a:srgbClr val="000000">
                <a:alpha val="10196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58168" y="1336110"/>
            <a:ext cx="5388389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Waterfall</a:t>
            </a:r>
            <a:endParaRPr lang="en-US" sz="1600" dirty="0"/>
          </a:p>
        </p:txBody>
      </p:sp>
      <p:pic>
        <p:nvPicPr>
          <p:cNvPr id="27" name="Image 0" descr="https://kimi-img.moonshot.cn/pub/slides/okc/w7ufw4gpw4efk/chart_revenue_waterfall.png">    </p:cNvPr>
          <p:cNvPicPr>
            <a:picLocks noChangeAspect="1"/>
          </p:cNvPicPr>
          <p:nvPr/>
        </p:nvPicPr>
        <p:blipFill>
          <a:blip r:embed="rId1"/>
          <a:srcRect l="0" r="0" t="17862" b="17862"/>
          <a:stretch/>
        </p:blipFill>
        <p:spPr>
          <a:xfrm>
            <a:off x="6358168" y="1722878"/>
            <a:ext cx="5300487" cy="1969004"/>
          </a:xfrm>
          <a:prstGeom prst="roundRect">
            <a:avLst>
              <a:gd name="adj" fmla="val 0"/>
            </a:avLst>
          </a:prstGeom>
        </p:spPr>
      </p:pic>
      <p:sp>
        <p:nvSpPr>
          <p:cNvPr id="28" name="Shape 25"/>
          <p:cNvSpPr/>
          <p:nvPr/>
        </p:nvSpPr>
        <p:spPr>
          <a:xfrm>
            <a:off x="6182364" y="4411030"/>
            <a:ext cx="5652095" cy="1784410"/>
          </a:xfrm>
          <a:custGeom>
            <a:avLst/>
            <a:gdLst/>
            <a:ahLst/>
            <a:cxnLst/>
            <a:rect l="l" t="t" r="r" b="b"/>
            <a:pathLst>
              <a:path w="5652095" h="1784410">
                <a:moveTo>
                  <a:pt x="70324" y="0"/>
                </a:moveTo>
                <a:lnTo>
                  <a:pt x="5581772" y="0"/>
                </a:lnTo>
                <a:cubicBezTo>
                  <a:pt x="5620610" y="0"/>
                  <a:pt x="5652095" y="31485"/>
                  <a:pt x="5652095" y="70324"/>
                </a:cubicBezTo>
                <a:lnTo>
                  <a:pt x="5652095" y="1714086"/>
                </a:lnTo>
                <a:cubicBezTo>
                  <a:pt x="5652095" y="1752925"/>
                  <a:pt x="5620610" y="1784410"/>
                  <a:pt x="5581772" y="1784410"/>
                </a:cubicBezTo>
                <a:lnTo>
                  <a:pt x="70324" y="1784410"/>
                </a:lnTo>
                <a:cubicBezTo>
                  <a:pt x="31485" y="1784410"/>
                  <a:pt x="0" y="1752925"/>
                  <a:pt x="0" y="1714086"/>
                </a:cubicBezTo>
                <a:lnTo>
                  <a:pt x="0" y="70324"/>
                </a:lnTo>
                <a:cubicBezTo>
                  <a:pt x="0" y="31485"/>
                  <a:pt x="31485" y="0"/>
                  <a:pt x="7032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741" dist="35161" dir="5400000">
              <a:srgbClr val="000000">
                <a:alpha val="10196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358168" y="4586833"/>
            <a:ext cx="5388389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MRR Trajectory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365200" y="4980634"/>
            <a:ext cx="2563221" cy="1033727"/>
          </a:xfrm>
          <a:custGeom>
            <a:avLst/>
            <a:gdLst/>
            <a:ahLst/>
            <a:cxnLst/>
            <a:rect l="l" t="t" r="r" b="b"/>
            <a:pathLst>
              <a:path w="2563221" h="1033727">
                <a:moveTo>
                  <a:pt x="70324" y="0"/>
                </a:moveTo>
                <a:lnTo>
                  <a:pt x="2492896" y="0"/>
                </a:lnTo>
                <a:cubicBezTo>
                  <a:pt x="2531735" y="0"/>
                  <a:pt x="2563221" y="31485"/>
                  <a:pt x="2563221" y="70324"/>
                </a:cubicBezTo>
                <a:lnTo>
                  <a:pt x="2563221" y="963402"/>
                </a:lnTo>
                <a:cubicBezTo>
                  <a:pt x="2563221" y="1002242"/>
                  <a:pt x="2531735" y="1033727"/>
                  <a:pt x="2492896" y="1033727"/>
                </a:cubicBezTo>
                <a:lnTo>
                  <a:pt x="70324" y="1033727"/>
                </a:lnTo>
                <a:cubicBezTo>
                  <a:pt x="31485" y="1033727"/>
                  <a:pt x="0" y="1002242"/>
                  <a:pt x="0" y="963402"/>
                </a:cubicBezTo>
                <a:lnTo>
                  <a:pt x="0" y="70324"/>
                </a:lnTo>
                <a:cubicBezTo>
                  <a:pt x="0" y="31485"/>
                  <a:pt x="31485" y="0"/>
                  <a:pt x="70324" y="0"/>
                </a:cubicBezTo>
                <a:close/>
              </a:path>
            </a:pathLst>
          </a:custGeom>
          <a:solidFill>
            <a:srgbClr val="F8F9FA"/>
          </a:solidFill>
          <a:ln w="20320">
            <a:solidFill>
              <a:srgbClr val="D32F2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82109" y="5128306"/>
            <a:ext cx="2329402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State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433763" y="5339271"/>
            <a:ext cx="2426094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92" b="1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-18%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482109" y="5690878"/>
            <a:ext cx="2329402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Decline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9087194" y="4980634"/>
            <a:ext cx="2563221" cy="1033727"/>
          </a:xfrm>
          <a:custGeom>
            <a:avLst/>
            <a:gdLst/>
            <a:ahLst/>
            <a:cxnLst/>
            <a:rect l="l" t="t" r="r" b="b"/>
            <a:pathLst>
              <a:path w="2563221" h="1033727">
                <a:moveTo>
                  <a:pt x="70324" y="0"/>
                </a:moveTo>
                <a:lnTo>
                  <a:pt x="2492896" y="0"/>
                </a:lnTo>
                <a:cubicBezTo>
                  <a:pt x="2531735" y="0"/>
                  <a:pt x="2563221" y="31485"/>
                  <a:pt x="2563221" y="70324"/>
                </a:cubicBezTo>
                <a:lnTo>
                  <a:pt x="2563221" y="963402"/>
                </a:lnTo>
                <a:cubicBezTo>
                  <a:pt x="2563221" y="1002242"/>
                  <a:pt x="2531735" y="1033727"/>
                  <a:pt x="2492896" y="1033727"/>
                </a:cubicBezTo>
                <a:lnTo>
                  <a:pt x="70324" y="1033727"/>
                </a:lnTo>
                <a:cubicBezTo>
                  <a:pt x="31485" y="1033727"/>
                  <a:pt x="0" y="1002242"/>
                  <a:pt x="0" y="963402"/>
                </a:cubicBezTo>
                <a:lnTo>
                  <a:pt x="0" y="70324"/>
                </a:lnTo>
                <a:cubicBezTo>
                  <a:pt x="0" y="31485"/>
                  <a:pt x="31485" y="0"/>
                  <a:pt x="70324" y="0"/>
                </a:cubicBezTo>
                <a:close/>
              </a:path>
            </a:pathLst>
          </a:custGeom>
          <a:solidFill>
            <a:srgbClr val="F8F9FA"/>
          </a:solidFill>
          <a:ln w="20320">
            <a:solidFill>
              <a:srgbClr val="2E7D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204103" y="5128306"/>
            <a:ext cx="2329402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State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155757" y="5339271"/>
            <a:ext cx="2426094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92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+12%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204103" y="5690878"/>
            <a:ext cx="2329402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 Trajectory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182364" y="6337833"/>
            <a:ext cx="5652095" cy="738376"/>
          </a:xfrm>
          <a:custGeom>
            <a:avLst/>
            <a:gdLst/>
            <a:ahLst/>
            <a:cxnLst/>
            <a:rect l="l" t="t" r="r" b="b"/>
            <a:pathLst>
              <a:path w="5652095" h="738376">
                <a:moveTo>
                  <a:pt x="70323" y="0"/>
                </a:moveTo>
                <a:lnTo>
                  <a:pt x="5581772" y="0"/>
                </a:lnTo>
                <a:cubicBezTo>
                  <a:pt x="5620611" y="0"/>
                  <a:pt x="5652095" y="31485"/>
                  <a:pt x="5652095" y="70323"/>
                </a:cubicBezTo>
                <a:lnTo>
                  <a:pt x="5652095" y="668053"/>
                </a:lnTo>
                <a:cubicBezTo>
                  <a:pt x="5652095" y="706892"/>
                  <a:pt x="5620611" y="738376"/>
                  <a:pt x="5581772" y="738376"/>
                </a:cubicBezTo>
                <a:lnTo>
                  <a:pt x="70323" y="738376"/>
                </a:lnTo>
                <a:cubicBezTo>
                  <a:pt x="31511" y="738376"/>
                  <a:pt x="0" y="706866"/>
                  <a:pt x="0" y="668053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2E7D32"/>
          </a:solidFill>
          <a:ln/>
          <a:effectLst>
            <a:outerShdw sx="100000" sy="100000" kx="0" ky="0" algn="bl" rotWithShape="0" blurRad="52741" dist="35161" dir="5400000">
              <a:srgbClr val="000000">
                <a:alpha val="10196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6323007" y="6478476"/>
            <a:ext cx="958131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Payback Period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323007" y="6654280"/>
            <a:ext cx="1002082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90 Days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10680087" y="6601436"/>
            <a:ext cx="210965" cy="210965"/>
          </a:xfrm>
          <a:custGeom>
            <a:avLst/>
            <a:gdLst/>
            <a:ahLst/>
            <a:cxnLst/>
            <a:rect l="l" t="t" r="r" b="b"/>
            <a:pathLst>
              <a:path w="210965" h="210965">
                <a:moveTo>
                  <a:pt x="52741" y="131853"/>
                </a:moveTo>
                <a:lnTo>
                  <a:pt x="10095" y="131853"/>
                </a:lnTo>
                <a:cubicBezTo>
                  <a:pt x="-165" y="131853"/>
                  <a:pt x="-6469" y="120687"/>
                  <a:pt x="-1195" y="111869"/>
                </a:cubicBezTo>
                <a:lnTo>
                  <a:pt x="20602" y="75527"/>
                </a:lnTo>
                <a:cubicBezTo>
                  <a:pt x="24187" y="69552"/>
                  <a:pt x="30615" y="65926"/>
                  <a:pt x="37578" y="65926"/>
                </a:cubicBezTo>
                <a:lnTo>
                  <a:pt x="76722" y="65926"/>
                </a:lnTo>
                <a:cubicBezTo>
                  <a:pt x="108078" y="12814"/>
                  <a:pt x="154845" y="10136"/>
                  <a:pt x="186119" y="14710"/>
                </a:cubicBezTo>
                <a:cubicBezTo>
                  <a:pt x="191393" y="15493"/>
                  <a:pt x="195513" y="19613"/>
                  <a:pt x="196255" y="24846"/>
                </a:cubicBezTo>
                <a:cubicBezTo>
                  <a:pt x="200828" y="56120"/>
                  <a:pt x="198150" y="102886"/>
                  <a:pt x="145038" y="134243"/>
                </a:cubicBezTo>
                <a:lnTo>
                  <a:pt x="145038" y="173387"/>
                </a:lnTo>
                <a:cubicBezTo>
                  <a:pt x="145038" y="180350"/>
                  <a:pt x="141412" y="186778"/>
                  <a:pt x="135438" y="190363"/>
                </a:cubicBezTo>
                <a:lnTo>
                  <a:pt x="99096" y="212160"/>
                </a:lnTo>
                <a:cubicBezTo>
                  <a:pt x="90319" y="217434"/>
                  <a:pt x="79112" y="211088"/>
                  <a:pt x="79112" y="200870"/>
                </a:cubicBezTo>
                <a:lnTo>
                  <a:pt x="79112" y="158224"/>
                </a:lnTo>
                <a:cubicBezTo>
                  <a:pt x="79112" y="143678"/>
                  <a:pt x="67286" y="131853"/>
                  <a:pt x="52741" y="131853"/>
                </a:cubicBezTo>
                <a:lnTo>
                  <a:pt x="52700" y="131853"/>
                </a:lnTo>
                <a:close/>
                <a:moveTo>
                  <a:pt x="164816" y="65926"/>
                </a:moveTo>
                <a:cubicBezTo>
                  <a:pt x="164816" y="55011"/>
                  <a:pt x="155954" y="46149"/>
                  <a:pt x="145038" y="46149"/>
                </a:cubicBezTo>
                <a:cubicBezTo>
                  <a:pt x="134122" y="46149"/>
                  <a:pt x="125260" y="55011"/>
                  <a:pt x="125260" y="65926"/>
                </a:cubicBezTo>
                <a:cubicBezTo>
                  <a:pt x="125260" y="76842"/>
                  <a:pt x="134122" y="85704"/>
                  <a:pt x="145038" y="85704"/>
                </a:cubicBezTo>
                <a:cubicBezTo>
                  <a:pt x="155954" y="85704"/>
                  <a:pt x="164816" y="76842"/>
                  <a:pt x="164816" y="65926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42" name="Text 39"/>
          <p:cNvSpPr/>
          <p:nvPr/>
        </p:nvSpPr>
        <p:spPr>
          <a:xfrm>
            <a:off x="10987743" y="6601436"/>
            <a:ext cx="78232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Wins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3705225" cy="5219700"/>
          </a:xfrm>
          <a:custGeom>
            <a:avLst/>
            <a:gdLst/>
            <a:ahLst/>
            <a:cxnLst/>
            <a:rect l="l" t="t" r="r" b="b"/>
            <a:pathLst>
              <a:path w="3705225" h="5219700">
                <a:moveTo>
                  <a:pt x="76216" y="0"/>
                </a:moveTo>
                <a:lnTo>
                  <a:pt x="3629009" y="0"/>
                </a:lnTo>
                <a:cubicBezTo>
                  <a:pt x="3671102" y="0"/>
                  <a:pt x="3705225" y="34123"/>
                  <a:pt x="3705225" y="76216"/>
                </a:cubicBezTo>
                <a:lnTo>
                  <a:pt x="3705225" y="5143484"/>
                </a:lnTo>
                <a:cubicBezTo>
                  <a:pt x="3705225" y="5185577"/>
                  <a:pt x="3671102" y="5219700"/>
                  <a:pt x="3629009" y="5219700"/>
                </a:cubicBezTo>
                <a:lnTo>
                  <a:pt x="76216" y="5219700"/>
                </a:lnTo>
                <a:cubicBezTo>
                  <a:pt x="34123" y="5219700"/>
                  <a:pt x="0" y="5185577"/>
                  <a:pt x="0" y="5143484"/>
                </a:cubicBezTo>
                <a:lnTo>
                  <a:pt x="0" y="76216"/>
                </a:lnTo>
                <a:cubicBezTo>
                  <a:pt x="0" y="34151"/>
                  <a:pt x="34151" y="0"/>
                  <a:pt x="76216" y="0"/>
                </a:cubicBezTo>
                <a:close/>
              </a:path>
            </a:pathLst>
          </a:custGeom>
          <a:solidFill>
            <a:srgbClr val="D32F2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46672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0088" y="158102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447800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638300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095379"/>
            <a:ext cx="339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Timeline: Week 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362079"/>
            <a:ext cx="3324225" cy="876300"/>
          </a:xfrm>
          <a:custGeom>
            <a:avLst/>
            <a:gdLst/>
            <a:ahLst/>
            <a:cxnLst/>
            <a:rect l="l" t="t" r="r" b="b"/>
            <a:pathLst>
              <a:path w="3324225" h="876300">
                <a:moveTo>
                  <a:pt x="76203" y="0"/>
                </a:moveTo>
                <a:lnTo>
                  <a:pt x="3248022" y="0"/>
                </a:lnTo>
                <a:cubicBezTo>
                  <a:pt x="3290108" y="0"/>
                  <a:pt x="3324225" y="34117"/>
                  <a:pt x="3324225" y="76203"/>
                </a:cubicBezTo>
                <a:lnTo>
                  <a:pt x="3324225" y="800097"/>
                </a:lnTo>
                <a:cubicBezTo>
                  <a:pt x="3324225" y="842183"/>
                  <a:pt x="3290108" y="876300"/>
                  <a:pt x="32480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76379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Launch Retention Campaign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743079"/>
            <a:ext cx="3162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users with risk score &gt;50 and LTV &gt;$300. Offer 50% discount for 3 months + free coaching.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3352679"/>
            <a:ext cx="3324225" cy="876300"/>
          </a:xfrm>
          <a:custGeom>
            <a:avLst/>
            <a:gdLst/>
            <a:ahLst/>
            <a:cxnLst/>
            <a:rect l="l" t="t" r="r" b="b"/>
            <a:pathLst>
              <a:path w="3324225" h="876300">
                <a:moveTo>
                  <a:pt x="76203" y="0"/>
                </a:moveTo>
                <a:lnTo>
                  <a:pt x="3248022" y="0"/>
                </a:lnTo>
                <a:cubicBezTo>
                  <a:pt x="3290108" y="0"/>
                  <a:pt x="3324225" y="34117"/>
                  <a:pt x="3324225" y="76203"/>
                </a:cubicBezTo>
                <a:lnTo>
                  <a:pt x="3324225" y="800097"/>
                </a:lnTo>
                <a:cubicBezTo>
                  <a:pt x="3324225" y="842183"/>
                  <a:pt x="3290108" y="876300"/>
                  <a:pt x="32480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66979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Fix Payment Recovery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733679"/>
            <a:ext cx="3162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automated retry logic (3 attempts over 7 days) and email reminders.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4343279"/>
            <a:ext cx="3324225" cy="876300"/>
          </a:xfrm>
          <a:custGeom>
            <a:avLst/>
            <a:gdLst/>
            <a:ahLst/>
            <a:cxnLst/>
            <a:rect l="l" t="t" r="r" b="b"/>
            <a:pathLst>
              <a:path w="3324225" h="876300">
                <a:moveTo>
                  <a:pt x="76203" y="0"/>
                </a:moveTo>
                <a:lnTo>
                  <a:pt x="3248022" y="0"/>
                </a:lnTo>
                <a:cubicBezTo>
                  <a:pt x="3290108" y="0"/>
                  <a:pt x="3324225" y="34117"/>
                  <a:pt x="3324225" y="76203"/>
                </a:cubicBezTo>
                <a:lnTo>
                  <a:pt x="3324225" y="800097"/>
                </a:lnTo>
                <a:cubicBezTo>
                  <a:pt x="3324225" y="842183"/>
                  <a:pt x="3290108" y="876300"/>
                  <a:pt x="32480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57579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Deploy Churn Dashboard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724279"/>
            <a:ext cx="3162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monitoring of at-risk users with automated alerts.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1721" y="1257300"/>
            <a:ext cx="3705225" cy="5219700"/>
          </a:xfrm>
          <a:custGeom>
            <a:avLst/>
            <a:gdLst/>
            <a:ahLst/>
            <a:cxnLst/>
            <a:rect l="l" t="t" r="r" b="b"/>
            <a:pathLst>
              <a:path w="3705225" h="5219700">
                <a:moveTo>
                  <a:pt x="76216" y="0"/>
                </a:moveTo>
                <a:lnTo>
                  <a:pt x="3629009" y="0"/>
                </a:lnTo>
                <a:cubicBezTo>
                  <a:pt x="3671102" y="0"/>
                  <a:pt x="3705225" y="34123"/>
                  <a:pt x="3705225" y="76216"/>
                </a:cubicBezTo>
                <a:lnTo>
                  <a:pt x="3705225" y="5143484"/>
                </a:lnTo>
                <a:cubicBezTo>
                  <a:pt x="3705225" y="5185577"/>
                  <a:pt x="3671102" y="5219700"/>
                  <a:pt x="3629009" y="5219700"/>
                </a:cubicBezTo>
                <a:lnTo>
                  <a:pt x="76216" y="5219700"/>
                </a:lnTo>
                <a:cubicBezTo>
                  <a:pt x="34123" y="5219700"/>
                  <a:pt x="0" y="5185577"/>
                  <a:pt x="0" y="5143484"/>
                </a:cubicBezTo>
                <a:lnTo>
                  <a:pt x="0" y="76216"/>
                </a:lnTo>
                <a:cubicBezTo>
                  <a:pt x="0" y="34151"/>
                  <a:pt x="34151" y="0"/>
                  <a:pt x="76216" y="0"/>
                </a:cubicBezTo>
                <a:close/>
              </a:path>
            </a:pathLst>
          </a:custGeom>
          <a:solidFill>
            <a:srgbClr val="FFA72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32221" y="146672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60808" y="158102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003721" y="144780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03721" y="1638300"/>
            <a:ext cx="1514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SHORT-TERM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2221" y="2095379"/>
            <a:ext cx="339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Timeline: Month 1-2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32221" y="2362079"/>
            <a:ext cx="3324225" cy="876300"/>
          </a:xfrm>
          <a:custGeom>
            <a:avLst/>
            <a:gdLst/>
            <a:ahLst/>
            <a:cxnLst/>
            <a:rect l="l" t="t" r="r" b="b"/>
            <a:pathLst>
              <a:path w="3324225" h="876300">
                <a:moveTo>
                  <a:pt x="76203" y="0"/>
                </a:moveTo>
                <a:lnTo>
                  <a:pt x="3248022" y="0"/>
                </a:lnTo>
                <a:cubicBezTo>
                  <a:pt x="3290108" y="0"/>
                  <a:pt x="3324225" y="34117"/>
                  <a:pt x="3324225" y="76203"/>
                </a:cubicBezTo>
                <a:lnTo>
                  <a:pt x="3324225" y="800097"/>
                </a:lnTo>
                <a:cubicBezTo>
                  <a:pt x="3324225" y="842183"/>
                  <a:pt x="3290108" y="876300"/>
                  <a:pt x="32480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46521" y="2476379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Optimize Onboarding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46521" y="2743079"/>
            <a:ext cx="3162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Redesign to drive 2-course completion in first week. Gamification and progress tracking.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32221" y="3352679"/>
            <a:ext cx="3324225" cy="876300"/>
          </a:xfrm>
          <a:custGeom>
            <a:avLst/>
            <a:gdLst/>
            <a:ahLst/>
            <a:cxnLst/>
            <a:rect l="l" t="t" r="r" b="b"/>
            <a:pathLst>
              <a:path w="3324225" h="876300">
                <a:moveTo>
                  <a:pt x="76203" y="0"/>
                </a:moveTo>
                <a:lnTo>
                  <a:pt x="3248022" y="0"/>
                </a:lnTo>
                <a:cubicBezTo>
                  <a:pt x="3290108" y="0"/>
                  <a:pt x="3324225" y="34117"/>
                  <a:pt x="3324225" y="76203"/>
                </a:cubicBezTo>
                <a:lnTo>
                  <a:pt x="3324225" y="800097"/>
                </a:lnTo>
                <a:cubicBezTo>
                  <a:pt x="3324225" y="842183"/>
                  <a:pt x="3290108" y="876300"/>
                  <a:pt x="32480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46521" y="3466979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Reallocate Marketing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46521" y="3733679"/>
            <a:ext cx="3162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Shift 30% budget to LinkedIn and referral channels. Launch "Give $20, Get $20" program.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32221" y="4343279"/>
            <a:ext cx="3324225" cy="876300"/>
          </a:xfrm>
          <a:custGeom>
            <a:avLst/>
            <a:gdLst/>
            <a:ahLst/>
            <a:cxnLst/>
            <a:rect l="l" t="t" r="r" b="b"/>
            <a:pathLst>
              <a:path w="3324225" h="876300">
                <a:moveTo>
                  <a:pt x="76203" y="0"/>
                </a:moveTo>
                <a:lnTo>
                  <a:pt x="3248022" y="0"/>
                </a:lnTo>
                <a:cubicBezTo>
                  <a:pt x="3290108" y="0"/>
                  <a:pt x="3324225" y="34117"/>
                  <a:pt x="3324225" y="76203"/>
                </a:cubicBezTo>
                <a:lnTo>
                  <a:pt x="3324225" y="800097"/>
                </a:lnTo>
                <a:cubicBezTo>
                  <a:pt x="3324225" y="842183"/>
                  <a:pt x="3290108" y="876300"/>
                  <a:pt x="32480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46521" y="4457579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Test Annual Incentive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46521" y="4724279"/>
            <a:ext cx="3162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A/B test 3-month discount (25%) vs current 2-month (16.7%).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2561" y="1257300"/>
            <a:ext cx="3705225" cy="5219700"/>
          </a:xfrm>
          <a:custGeom>
            <a:avLst/>
            <a:gdLst/>
            <a:ahLst/>
            <a:cxnLst/>
            <a:rect l="l" t="t" r="r" b="b"/>
            <a:pathLst>
              <a:path w="3705225" h="5219700">
                <a:moveTo>
                  <a:pt x="76216" y="0"/>
                </a:moveTo>
                <a:lnTo>
                  <a:pt x="3629009" y="0"/>
                </a:lnTo>
                <a:cubicBezTo>
                  <a:pt x="3671102" y="0"/>
                  <a:pt x="3705225" y="34123"/>
                  <a:pt x="3705225" y="76216"/>
                </a:cubicBezTo>
                <a:lnTo>
                  <a:pt x="3705225" y="5143484"/>
                </a:lnTo>
                <a:cubicBezTo>
                  <a:pt x="3705225" y="5185577"/>
                  <a:pt x="3671102" y="5219700"/>
                  <a:pt x="3629009" y="5219700"/>
                </a:cubicBezTo>
                <a:lnTo>
                  <a:pt x="76216" y="5219700"/>
                </a:lnTo>
                <a:cubicBezTo>
                  <a:pt x="34123" y="5219700"/>
                  <a:pt x="0" y="5185577"/>
                  <a:pt x="0" y="5143484"/>
                </a:cubicBezTo>
                <a:lnTo>
                  <a:pt x="0" y="76216"/>
                </a:lnTo>
                <a:cubicBezTo>
                  <a:pt x="0" y="34151"/>
                  <a:pt x="34151" y="0"/>
                  <a:pt x="76216" y="0"/>
                </a:cubicBezTo>
                <a:close/>
              </a:path>
            </a:pathLst>
          </a:custGeom>
          <a:solidFill>
            <a:srgbClr val="2E7D32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93061" y="146672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378786" y="158102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0" y="114300"/>
                </a:moveTo>
                <a:cubicBezTo>
                  <a:pt x="0" y="74831"/>
                  <a:pt x="31968" y="42863"/>
                  <a:pt x="71438" y="42863"/>
                </a:cubicBezTo>
                <a:cubicBezTo>
                  <a:pt x="93940" y="42863"/>
                  <a:pt x="115104" y="53444"/>
                  <a:pt x="128588" y="71438"/>
                </a:cubicBezTo>
                <a:lnTo>
                  <a:pt x="142875" y="90502"/>
                </a:lnTo>
                <a:lnTo>
                  <a:pt x="157163" y="71438"/>
                </a:lnTo>
                <a:cubicBezTo>
                  <a:pt x="170646" y="53444"/>
                  <a:pt x="191810" y="42863"/>
                  <a:pt x="214313" y="42863"/>
                </a:cubicBezTo>
                <a:cubicBezTo>
                  <a:pt x="253782" y="42863"/>
                  <a:pt x="285750" y="74831"/>
                  <a:pt x="285750" y="114300"/>
                </a:cubicBezTo>
                <a:cubicBezTo>
                  <a:pt x="285750" y="153769"/>
                  <a:pt x="253782" y="185738"/>
                  <a:pt x="214313" y="185738"/>
                </a:cubicBezTo>
                <a:cubicBezTo>
                  <a:pt x="191810" y="185738"/>
                  <a:pt x="170646" y="175156"/>
                  <a:pt x="157163" y="157163"/>
                </a:cubicBezTo>
                <a:lnTo>
                  <a:pt x="142875" y="138098"/>
                </a:lnTo>
                <a:lnTo>
                  <a:pt x="128588" y="157163"/>
                </a:lnTo>
                <a:cubicBezTo>
                  <a:pt x="115104" y="175156"/>
                  <a:pt x="93940" y="185738"/>
                  <a:pt x="71438" y="185738"/>
                </a:cubicBezTo>
                <a:cubicBezTo>
                  <a:pt x="31968" y="185738"/>
                  <a:pt x="0" y="153769"/>
                  <a:pt x="0" y="114300"/>
                </a:cubicBezTo>
                <a:close/>
                <a:moveTo>
                  <a:pt x="125016" y="114300"/>
                </a:moveTo>
                <a:lnTo>
                  <a:pt x="105728" y="88583"/>
                </a:lnTo>
                <a:cubicBezTo>
                  <a:pt x="97646" y="77778"/>
                  <a:pt x="84921" y="71438"/>
                  <a:pt x="71438" y="71438"/>
                </a:cubicBezTo>
                <a:cubicBezTo>
                  <a:pt x="47774" y="71438"/>
                  <a:pt x="28575" y="90636"/>
                  <a:pt x="28575" y="114300"/>
                </a:cubicBezTo>
                <a:cubicBezTo>
                  <a:pt x="28575" y="137964"/>
                  <a:pt x="47774" y="157163"/>
                  <a:pt x="71438" y="157163"/>
                </a:cubicBezTo>
                <a:cubicBezTo>
                  <a:pt x="84921" y="157163"/>
                  <a:pt x="97646" y="150822"/>
                  <a:pt x="105728" y="140018"/>
                </a:cubicBezTo>
                <a:lnTo>
                  <a:pt x="125016" y="114300"/>
                </a:lnTo>
                <a:close/>
                <a:moveTo>
                  <a:pt x="160734" y="114300"/>
                </a:moveTo>
                <a:lnTo>
                  <a:pt x="180023" y="140018"/>
                </a:lnTo>
                <a:cubicBezTo>
                  <a:pt x="188104" y="150822"/>
                  <a:pt x="200829" y="157163"/>
                  <a:pt x="214313" y="157163"/>
                </a:cubicBezTo>
                <a:cubicBezTo>
                  <a:pt x="237976" y="157163"/>
                  <a:pt x="257175" y="137964"/>
                  <a:pt x="257175" y="114300"/>
                </a:cubicBezTo>
                <a:cubicBezTo>
                  <a:pt x="257175" y="90636"/>
                  <a:pt x="237976" y="71438"/>
                  <a:pt x="214313" y="71438"/>
                </a:cubicBezTo>
                <a:cubicBezTo>
                  <a:pt x="200829" y="71438"/>
                  <a:pt x="188104" y="77778"/>
                  <a:pt x="180023" y="88583"/>
                </a:cubicBezTo>
                <a:lnTo>
                  <a:pt x="160734" y="1143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864561" y="144780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64561" y="1638300"/>
            <a:ext cx="1152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93061" y="2095379"/>
            <a:ext cx="339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Timeline: Continuous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93061" y="2362079"/>
            <a:ext cx="3324225" cy="876300"/>
          </a:xfrm>
          <a:custGeom>
            <a:avLst/>
            <a:gdLst/>
            <a:ahLst/>
            <a:cxnLst/>
            <a:rect l="l" t="t" r="r" b="b"/>
            <a:pathLst>
              <a:path w="3324225" h="876300">
                <a:moveTo>
                  <a:pt x="76203" y="0"/>
                </a:moveTo>
                <a:lnTo>
                  <a:pt x="3248022" y="0"/>
                </a:lnTo>
                <a:cubicBezTo>
                  <a:pt x="3290108" y="0"/>
                  <a:pt x="3324225" y="34117"/>
                  <a:pt x="3324225" y="76203"/>
                </a:cubicBezTo>
                <a:lnTo>
                  <a:pt x="3324225" y="800097"/>
                </a:lnTo>
                <a:cubicBezTo>
                  <a:pt x="3324225" y="842183"/>
                  <a:pt x="3290108" y="876300"/>
                  <a:pt x="32480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407361" y="2476379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 Predictive Alerts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07361" y="2743079"/>
            <a:ext cx="3162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 SQL queries for at-risk users. Trigger emails at 14-day inactivity.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93061" y="3352679"/>
            <a:ext cx="3324225" cy="876300"/>
          </a:xfrm>
          <a:custGeom>
            <a:avLst/>
            <a:gdLst/>
            <a:ahLst/>
            <a:cxnLst/>
            <a:rect l="l" t="t" r="r" b="b"/>
            <a:pathLst>
              <a:path w="3324225" h="876300">
                <a:moveTo>
                  <a:pt x="76203" y="0"/>
                </a:moveTo>
                <a:lnTo>
                  <a:pt x="3248022" y="0"/>
                </a:lnTo>
                <a:cubicBezTo>
                  <a:pt x="3290108" y="0"/>
                  <a:pt x="3324225" y="34117"/>
                  <a:pt x="3324225" y="76203"/>
                </a:cubicBezTo>
                <a:lnTo>
                  <a:pt x="3324225" y="800097"/>
                </a:lnTo>
                <a:cubicBezTo>
                  <a:pt x="3324225" y="842183"/>
                  <a:pt x="3290108" y="876300"/>
                  <a:pt x="32480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407361" y="3466979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 Engagement Rewards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07361" y="3733679"/>
            <a:ext cx="3162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 rewards at 5/10/20 courses. Unlock premium features.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93061" y="4343279"/>
            <a:ext cx="3324225" cy="685800"/>
          </a:xfrm>
          <a:custGeom>
            <a:avLst/>
            <a:gdLst/>
            <a:ahLst/>
            <a:cxnLst/>
            <a:rect l="l" t="t" r="r" b="b"/>
            <a:pathLst>
              <a:path w="3324225" h="6858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609601"/>
                </a:lnTo>
                <a:cubicBezTo>
                  <a:pt x="3324225" y="651684"/>
                  <a:pt x="3290109" y="685800"/>
                  <a:pt x="3248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407361" y="4457579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 Quarterly Analysis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07361" y="4724279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Cohort retention tracking and strategy refinement.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780" y="361780"/>
            <a:ext cx="1153175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spc="50" kern="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FRAMEWORK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1780" y="615027"/>
            <a:ext cx="11685507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8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Scale &amp; Win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1780" y="1193875"/>
            <a:ext cx="5643774" cy="5137282"/>
          </a:xfrm>
          <a:custGeom>
            <a:avLst/>
            <a:gdLst/>
            <a:ahLst/>
            <a:cxnLst/>
            <a:rect l="l" t="t" r="r" b="b"/>
            <a:pathLst>
              <a:path w="5643774" h="5137282">
                <a:moveTo>
                  <a:pt x="72333" y="0"/>
                </a:moveTo>
                <a:lnTo>
                  <a:pt x="5571442" y="0"/>
                </a:lnTo>
                <a:cubicBezTo>
                  <a:pt x="5611390" y="0"/>
                  <a:pt x="5643774" y="32385"/>
                  <a:pt x="5643774" y="72333"/>
                </a:cubicBezTo>
                <a:lnTo>
                  <a:pt x="5643774" y="5064949"/>
                </a:lnTo>
                <a:cubicBezTo>
                  <a:pt x="5643774" y="5104897"/>
                  <a:pt x="5611390" y="5137282"/>
                  <a:pt x="5571442" y="5137282"/>
                </a:cubicBezTo>
                <a:lnTo>
                  <a:pt x="72333" y="5137282"/>
                </a:lnTo>
                <a:cubicBezTo>
                  <a:pt x="32385" y="5137282"/>
                  <a:pt x="0" y="5104897"/>
                  <a:pt x="0" y="5064949"/>
                </a:cubicBezTo>
                <a:lnTo>
                  <a:pt x="0" y="72333"/>
                </a:lnTo>
                <a:cubicBezTo>
                  <a:pt x="0" y="32411"/>
                  <a:pt x="32411" y="0"/>
                  <a:pt x="723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4267" dist="36178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2671" y="1374766"/>
            <a:ext cx="5372439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Metrics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2671" y="1772724"/>
            <a:ext cx="5281994" cy="1012985"/>
          </a:xfrm>
          <a:custGeom>
            <a:avLst/>
            <a:gdLst/>
            <a:ahLst/>
            <a:cxnLst/>
            <a:rect l="l" t="t" r="r" b="b"/>
            <a:pathLst>
              <a:path w="5281994" h="1012985">
                <a:moveTo>
                  <a:pt x="72358" y="0"/>
                </a:moveTo>
                <a:lnTo>
                  <a:pt x="5209637" y="0"/>
                </a:lnTo>
                <a:cubicBezTo>
                  <a:pt x="5249598" y="0"/>
                  <a:pt x="5281994" y="32396"/>
                  <a:pt x="5281994" y="72358"/>
                </a:cubicBezTo>
                <a:lnTo>
                  <a:pt x="5281994" y="940628"/>
                </a:lnTo>
                <a:cubicBezTo>
                  <a:pt x="5281994" y="980590"/>
                  <a:pt x="5249598" y="1012985"/>
                  <a:pt x="5209637" y="1012985"/>
                </a:cubicBezTo>
                <a:lnTo>
                  <a:pt x="72358" y="1012985"/>
                </a:lnTo>
                <a:cubicBezTo>
                  <a:pt x="32396" y="1012985"/>
                  <a:pt x="0" y="980590"/>
                  <a:pt x="0" y="940628"/>
                </a:cubicBezTo>
                <a:lnTo>
                  <a:pt x="0" y="72358"/>
                </a:lnTo>
                <a:cubicBezTo>
                  <a:pt x="0" y="32396"/>
                  <a:pt x="32396" y="0"/>
                  <a:pt x="7235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687383" y="1917436"/>
            <a:ext cx="768783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7383" y="2206861"/>
            <a:ext cx="470315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13434" y="2279102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142055" y="78744"/>
                </a:moveTo>
                <a:cubicBezTo>
                  <a:pt x="145588" y="75211"/>
                  <a:pt x="145588" y="69473"/>
                  <a:pt x="142055" y="65940"/>
                </a:cubicBezTo>
                <a:lnTo>
                  <a:pt x="96833" y="20718"/>
                </a:lnTo>
                <a:cubicBezTo>
                  <a:pt x="93300" y="17185"/>
                  <a:pt x="87562" y="17185"/>
                  <a:pt x="84029" y="20718"/>
                </a:cubicBezTo>
                <a:cubicBezTo>
                  <a:pt x="80496" y="24251"/>
                  <a:pt x="80496" y="29988"/>
                  <a:pt x="84029" y="33521"/>
                </a:cubicBezTo>
                <a:lnTo>
                  <a:pt x="113820" y="63312"/>
                </a:lnTo>
                <a:lnTo>
                  <a:pt x="9045" y="63312"/>
                </a:lnTo>
                <a:cubicBezTo>
                  <a:pt x="4042" y="63312"/>
                  <a:pt x="0" y="67353"/>
                  <a:pt x="0" y="72356"/>
                </a:cubicBezTo>
                <a:cubicBezTo>
                  <a:pt x="0" y="77359"/>
                  <a:pt x="4042" y="81401"/>
                  <a:pt x="9045" y="81401"/>
                </a:cubicBezTo>
                <a:lnTo>
                  <a:pt x="113820" y="81401"/>
                </a:lnTo>
                <a:lnTo>
                  <a:pt x="84029" y="111191"/>
                </a:lnTo>
                <a:cubicBezTo>
                  <a:pt x="80496" y="114724"/>
                  <a:pt x="80496" y="120462"/>
                  <a:pt x="84029" y="123995"/>
                </a:cubicBezTo>
                <a:cubicBezTo>
                  <a:pt x="87562" y="127528"/>
                  <a:pt x="93300" y="127528"/>
                  <a:pt x="96833" y="123995"/>
                </a:cubicBezTo>
                <a:lnTo>
                  <a:pt x="142055" y="78772"/>
                </a:lnTo>
                <a:close/>
              </a:path>
            </a:pathLst>
          </a:custGeom>
          <a:solidFill>
            <a:srgbClr val="5A6A7A"/>
          </a:solidFill>
          <a:ln/>
        </p:spPr>
      </p:sp>
      <p:sp>
        <p:nvSpPr>
          <p:cNvPr id="10" name="Text 8"/>
          <p:cNvSpPr/>
          <p:nvPr/>
        </p:nvSpPr>
        <p:spPr>
          <a:xfrm>
            <a:off x="1520948" y="2206861"/>
            <a:ext cx="488404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&lt;5%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7383" y="2568526"/>
            <a:ext cx="4992570" cy="72356"/>
          </a:xfrm>
          <a:custGeom>
            <a:avLst/>
            <a:gdLst/>
            <a:ahLst/>
            <a:cxnLst/>
            <a:rect l="l" t="t" r="r" b="b"/>
            <a:pathLst>
              <a:path w="4992570" h="72356">
                <a:moveTo>
                  <a:pt x="36178" y="0"/>
                </a:moveTo>
                <a:lnTo>
                  <a:pt x="4956392" y="0"/>
                </a:lnTo>
                <a:cubicBezTo>
                  <a:pt x="4976372" y="0"/>
                  <a:pt x="4992570" y="16197"/>
                  <a:pt x="4992570" y="36178"/>
                </a:cubicBezTo>
                <a:lnTo>
                  <a:pt x="4992570" y="36178"/>
                </a:lnTo>
                <a:cubicBezTo>
                  <a:pt x="4992570" y="56159"/>
                  <a:pt x="4976372" y="72356"/>
                  <a:pt x="4956392" y="72356"/>
                </a:cubicBezTo>
                <a:lnTo>
                  <a:pt x="36178" y="72356"/>
                </a:lnTo>
                <a:cubicBezTo>
                  <a:pt x="16211" y="72356"/>
                  <a:pt x="0" y="56145"/>
                  <a:pt x="0" y="36178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687383" y="2568526"/>
            <a:ext cx="3491181" cy="72356"/>
          </a:xfrm>
          <a:custGeom>
            <a:avLst/>
            <a:gdLst/>
            <a:ahLst/>
            <a:cxnLst/>
            <a:rect l="l" t="t" r="r" b="b"/>
            <a:pathLst>
              <a:path w="3491181" h="72356">
                <a:moveTo>
                  <a:pt x="36178" y="0"/>
                </a:moveTo>
                <a:lnTo>
                  <a:pt x="3455003" y="0"/>
                </a:lnTo>
                <a:cubicBezTo>
                  <a:pt x="3474984" y="0"/>
                  <a:pt x="3491181" y="16197"/>
                  <a:pt x="3491181" y="36178"/>
                </a:cubicBezTo>
                <a:lnTo>
                  <a:pt x="3491181" y="36178"/>
                </a:lnTo>
                <a:cubicBezTo>
                  <a:pt x="3491181" y="56159"/>
                  <a:pt x="3474984" y="72356"/>
                  <a:pt x="3455003" y="72356"/>
                </a:cubicBezTo>
                <a:lnTo>
                  <a:pt x="36178" y="72356"/>
                </a:lnTo>
                <a:cubicBezTo>
                  <a:pt x="16211" y="72356"/>
                  <a:pt x="0" y="56145"/>
                  <a:pt x="0" y="36178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2671" y="2894129"/>
            <a:ext cx="5281994" cy="1012985"/>
          </a:xfrm>
          <a:custGeom>
            <a:avLst/>
            <a:gdLst/>
            <a:ahLst/>
            <a:cxnLst/>
            <a:rect l="l" t="t" r="r" b="b"/>
            <a:pathLst>
              <a:path w="5281994" h="1012985">
                <a:moveTo>
                  <a:pt x="72358" y="0"/>
                </a:moveTo>
                <a:lnTo>
                  <a:pt x="5209637" y="0"/>
                </a:lnTo>
                <a:cubicBezTo>
                  <a:pt x="5249598" y="0"/>
                  <a:pt x="5281994" y="32396"/>
                  <a:pt x="5281994" y="72358"/>
                </a:cubicBezTo>
                <a:lnTo>
                  <a:pt x="5281994" y="940628"/>
                </a:lnTo>
                <a:cubicBezTo>
                  <a:pt x="5281994" y="980590"/>
                  <a:pt x="5249598" y="1012985"/>
                  <a:pt x="5209637" y="1012985"/>
                </a:cubicBezTo>
                <a:lnTo>
                  <a:pt x="72358" y="1012985"/>
                </a:lnTo>
                <a:cubicBezTo>
                  <a:pt x="32396" y="1012985"/>
                  <a:pt x="0" y="980590"/>
                  <a:pt x="0" y="940628"/>
                </a:cubicBezTo>
                <a:lnTo>
                  <a:pt x="0" y="72358"/>
                </a:lnTo>
                <a:cubicBezTo>
                  <a:pt x="0" y="32396"/>
                  <a:pt x="32396" y="0"/>
                  <a:pt x="7235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87383" y="3038841"/>
            <a:ext cx="101298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Activation Rate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7383" y="3328265"/>
            <a:ext cx="533626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8894" y="3400506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142055" y="78744"/>
                </a:moveTo>
                <a:cubicBezTo>
                  <a:pt x="145588" y="75211"/>
                  <a:pt x="145588" y="69473"/>
                  <a:pt x="142055" y="65940"/>
                </a:cubicBezTo>
                <a:lnTo>
                  <a:pt x="96833" y="20718"/>
                </a:lnTo>
                <a:cubicBezTo>
                  <a:pt x="93300" y="17185"/>
                  <a:pt x="87562" y="17185"/>
                  <a:pt x="84029" y="20718"/>
                </a:cubicBezTo>
                <a:cubicBezTo>
                  <a:pt x="80496" y="24251"/>
                  <a:pt x="80496" y="29988"/>
                  <a:pt x="84029" y="33521"/>
                </a:cubicBezTo>
                <a:lnTo>
                  <a:pt x="113820" y="63312"/>
                </a:lnTo>
                <a:lnTo>
                  <a:pt x="9045" y="63312"/>
                </a:lnTo>
                <a:cubicBezTo>
                  <a:pt x="4042" y="63312"/>
                  <a:pt x="0" y="67353"/>
                  <a:pt x="0" y="72356"/>
                </a:cubicBezTo>
                <a:cubicBezTo>
                  <a:pt x="0" y="77359"/>
                  <a:pt x="4042" y="81401"/>
                  <a:pt x="9045" y="81401"/>
                </a:cubicBezTo>
                <a:lnTo>
                  <a:pt x="113820" y="81401"/>
                </a:lnTo>
                <a:lnTo>
                  <a:pt x="84029" y="111191"/>
                </a:lnTo>
                <a:cubicBezTo>
                  <a:pt x="80496" y="114724"/>
                  <a:pt x="80496" y="120462"/>
                  <a:pt x="84029" y="123995"/>
                </a:cubicBezTo>
                <a:cubicBezTo>
                  <a:pt x="87562" y="127528"/>
                  <a:pt x="93300" y="127528"/>
                  <a:pt x="96833" y="123995"/>
                </a:cubicBezTo>
                <a:lnTo>
                  <a:pt x="142055" y="78772"/>
                </a:lnTo>
                <a:close/>
              </a:path>
            </a:pathLst>
          </a:custGeom>
          <a:solidFill>
            <a:srgbClr val="5A6A7A"/>
          </a:solidFill>
          <a:ln/>
        </p:spPr>
      </p:sp>
      <p:sp>
        <p:nvSpPr>
          <p:cNvPr id="17" name="Text 15"/>
          <p:cNvSpPr/>
          <p:nvPr/>
        </p:nvSpPr>
        <p:spPr>
          <a:xfrm>
            <a:off x="1586407" y="3328265"/>
            <a:ext cx="542671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7383" y="3689931"/>
            <a:ext cx="4992570" cy="72356"/>
          </a:xfrm>
          <a:custGeom>
            <a:avLst/>
            <a:gdLst/>
            <a:ahLst/>
            <a:cxnLst/>
            <a:rect l="l" t="t" r="r" b="b"/>
            <a:pathLst>
              <a:path w="4992570" h="72356">
                <a:moveTo>
                  <a:pt x="36178" y="0"/>
                </a:moveTo>
                <a:lnTo>
                  <a:pt x="4956392" y="0"/>
                </a:lnTo>
                <a:cubicBezTo>
                  <a:pt x="4976372" y="0"/>
                  <a:pt x="4992570" y="16197"/>
                  <a:pt x="4992570" y="36178"/>
                </a:cubicBezTo>
                <a:lnTo>
                  <a:pt x="4992570" y="36178"/>
                </a:lnTo>
                <a:cubicBezTo>
                  <a:pt x="4992570" y="56159"/>
                  <a:pt x="4976372" y="72356"/>
                  <a:pt x="4956392" y="72356"/>
                </a:cubicBezTo>
                <a:lnTo>
                  <a:pt x="36178" y="72356"/>
                </a:lnTo>
                <a:cubicBezTo>
                  <a:pt x="16211" y="72356"/>
                  <a:pt x="0" y="56145"/>
                  <a:pt x="0" y="36178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687383" y="3689931"/>
            <a:ext cx="2496285" cy="72356"/>
          </a:xfrm>
          <a:custGeom>
            <a:avLst/>
            <a:gdLst/>
            <a:ahLst/>
            <a:cxnLst/>
            <a:rect l="l" t="t" r="r" b="b"/>
            <a:pathLst>
              <a:path w="2496285" h="72356">
                <a:moveTo>
                  <a:pt x="36178" y="0"/>
                </a:moveTo>
                <a:lnTo>
                  <a:pt x="2460107" y="0"/>
                </a:lnTo>
                <a:cubicBezTo>
                  <a:pt x="2480087" y="0"/>
                  <a:pt x="2496285" y="16197"/>
                  <a:pt x="2496285" y="36178"/>
                </a:cubicBezTo>
                <a:lnTo>
                  <a:pt x="2496285" y="36178"/>
                </a:lnTo>
                <a:cubicBezTo>
                  <a:pt x="2496285" y="56159"/>
                  <a:pt x="2480087" y="72356"/>
                  <a:pt x="2460107" y="72356"/>
                </a:cubicBezTo>
                <a:lnTo>
                  <a:pt x="36178" y="72356"/>
                </a:lnTo>
                <a:cubicBezTo>
                  <a:pt x="16211" y="72356"/>
                  <a:pt x="0" y="56145"/>
                  <a:pt x="0" y="36178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20" name="Shape 18"/>
          <p:cNvSpPr/>
          <p:nvPr/>
        </p:nvSpPr>
        <p:spPr>
          <a:xfrm>
            <a:off x="542671" y="4015533"/>
            <a:ext cx="5281994" cy="1012985"/>
          </a:xfrm>
          <a:custGeom>
            <a:avLst/>
            <a:gdLst/>
            <a:ahLst/>
            <a:cxnLst/>
            <a:rect l="l" t="t" r="r" b="b"/>
            <a:pathLst>
              <a:path w="5281994" h="1012985">
                <a:moveTo>
                  <a:pt x="72358" y="0"/>
                </a:moveTo>
                <a:lnTo>
                  <a:pt x="5209637" y="0"/>
                </a:lnTo>
                <a:cubicBezTo>
                  <a:pt x="5249598" y="0"/>
                  <a:pt x="5281994" y="32396"/>
                  <a:pt x="5281994" y="72358"/>
                </a:cubicBezTo>
                <a:lnTo>
                  <a:pt x="5281994" y="940628"/>
                </a:lnTo>
                <a:cubicBezTo>
                  <a:pt x="5281994" y="980590"/>
                  <a:pt x="5249598" y="1012985"/>
                  <a:pt x="5209637" y="1012985"/>
                </a:cubicBezTo>
                <a:lnTo>
                  <a:pt x="72358" y="1012985"/>
                </a:lnTo>
                <a:cubicBezTo>
                  <a:pt x="32396" y="1012985"/>
                  <a:pt x="0" y="980590"/>
                  <a:pt x="0" y="940628"/>
                </a:cubicBezTo>
                <a:lnTo>
                  <a:pt x="0" y="72358"/>
                </a:lnTo>
                <a:cubicBezTo>
                  <a:pt x="0" y="32396"/>
                  <a:pt x="32396" y="0"/>
                  <a:pt x="7235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687383" y="4160245"/>
            <a:ext cx="1248142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Recovery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383" y="4449669"/>
            <a:ext cx="542671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84773" y="4521911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142055" y="78744"/>
                </a:moveTo>
                <a:cubicBezTo>
                  <a:pt x="145588" y="75211"/>
                  <a:pt x="145588" y="69473"/>
                  <a:pt x="142055" y="65940"/>
                </a:cubicBezTo>
                <a:lnTo>
                  <a:pt x="96833" y="20718"/>
                </a:lnTo>
                <a:cubicBezTo>
                  <a:pt x="93300" y="17185"/>
                  <a:pt x="87562" y="17185"/>
                  <a:pt x="84029" y="20718"/>
                </a:cubicBezTo>
                <a:cubicBezTo>
                  <a:pt x="80496" y="24251"/>
                  <a:pt x="80496" y="29988"/>
                  <a:pt x="84029" y="33521"/>
                </a:cubicBezTo>
                <a:lnTo>
                  <a:pt x="113820" y="63312"/>
                </a:lnTo>
                <a:lnTo>
                  <a:pt x="9045" y="63312"/>
                </a:lnTo>
                <a:cubicBezTo>
                  <a:pt x="4042" y="63312"/>
                  <a:pt x="0" y="67353"/>
                  <a:pt x="0" y="72356"/>
                </a:cubicBezTo>
                <a:cubicBezTo>
                  <a:pt x="0" y="77359"/>
                  <a:pt x="4042" y="81401"/>
                  <a:pt x="9045" y="81401"/>
                </a:cubicBezTo>
                <a:lnTo>
                  <a:pt x="113820" y="81401"/>
                </a:lnTo>
                <a:lnTo>
                  <a:pt x="84029" y="111191"/>
                </a:lnTo>
                <a:cubicBezTo>
                  <a:pt x="80496" y="114724"/>
                  <a:pt x="80496" y="120462"/>
                  <a:pt x="84029" y="123995"/>
                </a:cubicBezTo>
                <a:cubicBezTo>
                  <a:pt x="87562" y="127528"/>
                  <a:pt x="93300" y="127528"/>
                  <a:pt x="96833" y="123995"/>
                </a:cubicBezTo>
                <a:lnTo>
                  <a:pt x="142055" y="78772"/>
                </a:lnTo>
                <a:close/>
              </a:path>
            </a:pathLst>
          </a:custGeom>
          <a:solidFill>
            <a:srgbClr val="5A6A7A"/>
          </a:solidFill>
          <a:ln/>
        </p:spPr>
      </p:sp>
      <p:sp>
        <p:nvSpPr>
          <p:cNvPr id="24" name="Text 22"/>
          <p:cNvSpPr/>
          <p:nvPr/>
        </p:nvSpPr>
        <p:spPr>
          <a:xfrm>
            <a:off x="1592286" y="4449669"/>
            <a:ext cx="524582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7383" y="4811335"/>
            <a:ext cx="4992570" cy="72356"/>
          </a:xfrm>
          <a:custGeom>
            <a:avLst/>
            <a:gdLst/>
            <a:ahLst/>
            <a:cxnLst/>
            <a:rect l="l" t="t" r="r" b="b"/>
            <a:pathLst>
              <a:path w="4992570" h="72356">
                <a:moveTo>
                  <a:pt x="36178" y="0"/>
                </a:moveTo>
                <a:lnTo>
                  <a:pt x="4956392" y="0"/>
                </a:lnTo>
                <a:cubicBezTo>
                  <a:pt x="4976372" y="0"/>
                  <a:pt x="4992570" y="16197"/>
                  <a:pt x="4992570" y="36178"/>
                </a:cubicBezTo>
                <a:lnTo>
                  <a:pt x="4992570" y="36178"/>
                </a:lnTo>
                <a:cubicBezTo>
                  <a:pt x="4992570" y="56159"/>
                  <a:pt x="4976372" y="72356"/>
                  <a:pt x="4956392" y="72356"/>
                </a:cubicBezTo>
                <a:lnTo>
                  <a:pt x="36178" y="72356"/>
                </a:lnTo>
                <a:cubicBezTo>
                  <a:pt x="16211" y="72356"/>
                  <a:pt x="0" y="56145"/>
                  <a:pt x="0" y="36178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6" name="Shape 24"/>
          <p:cNvSpPr/>
          <p:nvPr/>
        </p:nvSpPr>
        <p:spPr>
          <a:xfrm>
            <a:off x="687383" y="4811335"/>
            <a:ext cx="1745591" cy="72356"/>
          </a:xfrm>
          <a:custGeom>
            <a:avLst/>
            <a:gdLst/>
            <a:ahLst/>
            <a:cxnLst/>
            <a:rect l="l" t="t" r="r" b="b"/>
            <a:pathLst>
              <a:path w="1745591" h="72356">
                <a:moveTo>
                  <a:pt x="36178" y="0"/>
                </a:moveTo>
                <a:lnTo>
                  <a:pt x="1709412" y="0"/>
                </a:lnTo>
                <a:cubicBezTo>
                  <a:pt x="1729393" y="0"/>
                  <a:pt x="1745591" y="16197"/>
                  <a:pt x="1745591" y="36178"/>
                </a:cubicBezTo>
                <a:lnTo>
                  <a:pt x="1745591" y="36178"/>
                </a:lnTo>
                <a:cubicBezTo>
                  <a:pt x="1745591" y="56159"/>
                  <a:pt x="1729393" y="72356"/>
                  <a:pt x="1709412" y="72356"/>
                </a:cubicBezTo>
                <a:lnTo>
                  <a:pt x="36178" y="72356"/>
                </a:lnTo>
                <a:cubicBezTo>
                  <a:pt x="16211" y="72356"/>
                  <a:pt x="0" y="56145"/>
                  <a:pt x="0" y="36178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27" name="Shape 25"/>
          <p:cNvSpPr/>
          <p:nvPr/>
        </p:nvSpPr>
        <p:spPr>
          <a:xfrm>
            <a:off x="542671" y="5136937"/>
            <a:ext cx="5281994" cy="1012985"/>
          </a:xfrm>
          <a:custGeom>
            <a:avLst/>
            <a:gdLst/>
            <a:ahLst/>
            <a:cxnLst/>
            <a:rect l="l" t="t" r="r" b="b"/>
            <a:pathLst>
              <a:path w="5281994" h="1012985">
                <a:moveTo>
                  <a:pt x="72358" y="0"/>
                </a:moveTo>
                <a:lnTo>
                  <a:pt x="5209637" y="0"/>
                </a:lnTo>
                <a:cubicBezTo>
                  <a:pt x="5249598" y="0"/>
                  <a:pt x="5281994" y="32396"/>
                  <a:pt x="5281994" y="72358"/>
                </a:cubicBezTo>
                <a:lnTo>
                  <a:pt x="5281994" y="940628"/>
                </a:lnTo>
                <a:cubicBezTo>
                  <a:pt x="5281994" y="980590"/>
                  <a:pt x="5249598" y="1012985"/>
                  <a:pt x="5209637" y="1012985"/>
                </a:cubicBezTo>
                <a:lnTo>
                  <a:pt x="72358" y="1012985"/>
                </a:lnTo>
                <a:cubicBezTo>
                  <a:pt x="32396" y="1012985"/>
                  <a:pt x="0" y="980590"/>
                  <a:pt x="0" y="940628"/>
                </a:cubicBezTo>
                <a:lnTo>
                  <a:pt x="0" y="72358"/>
                </a:lnTo>
                <a:cubicBezTo>
                  <a:pt x="0" y="32396"/>
                  <a:pt x="32396" y="0"/>
                  <a:pt x="7235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8" name="Text 26"/>
          <p:cNvSpPr/>
          <p:nvPr/>
        </p:nvSpPr>
        <p:spPr>
          <a:xfrm>
            <a:off x="687383" y="5281650"/>
            <a:ext cx="868273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LTV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7383" y="5571074"/>
            <a:ext cx="551715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$180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95852" y="5643315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142055" y="78744"/>
                </a:moveTo>
                <a:cubicBezTo>
                  <a:pt x="145588" y="75211"/>
                  <a:pt x="145588" y="69473"/>
                  <a:pt x="142055" y="65940"/>
                </a:cubicBezTo>
                <a:lnTo>
                  <a:pt x="96833" y="20718"/>
                </a:lnTo>
                <a:cubicBezTo>
                  <a:pt x="93300" y="17185"/>
                  <a:pt x="87562" y="17185"/>
                  <a:pt x="84029" y="20718"/>
                </a:cubicBezTo>
                <a:cubicBezTo>
                  <a:pt x="80496" y="24251"/>
                  <a:pt x="80496" y="29988"/>
                  <a:pt x="84029" y="33521"/>
                </a:cubicBezTo>
                <a:lnTo>
                  <a:pt x="113820" y="63312"/>
                </a:lnTo>
                <a:lnTo>
                  <a:pt x="9045" y="63312"/>
                </a:lnTo>
                <a:cubicBezTo>
                  <a:pt x="4042" y="63312"/>
                  <a:pt x="0" y="67353"/>
                  <a:pt x="0" y="72356"/>
                </a:cubicBezTo>
                <a:cubicBezTo>
                  <a:pt x="0" y="77359"/>
                  <a:pt x="4042" y="81401"/>
                  <a:pt x="9045" y="81401"/>
                </a:cubicBezTo>
                <a:lnTo>
                  <a:pt x="113820" y="81401"/>
                </a:lnTo>
                <a:lnTo>
                  <a:pt x="84029" y="111191"/>
                </a:lnTo>
                <a:cubicBezTo>
                  <a:pt x="80496" y="114724"/>
                  <a:pt x="80496" y="120462"/>
                  <a:pt x="84029" y="123995"/>
                </a:cubicBezTo>
                <a:cubicBezTo>
                  <a:pt x="87562" y="127528"/>
                  <a:pt x="93300" y="127528"/>
                  <a:pt x="96833" y="123995"/>
                </a:cubicBezTo>
                <a:lnTo>
                  <a:pt x="142055" y="78772"/>
                </a:lnTo>
                <a:close/>
              </a:path>
            </a:pathLst>
          </a:custGeom>
          <a:solidFill>
            <a:srgbClr val="5A6A7A"/>
          </a:solidFill>
          <a:ln/>
        </p:spPr>
      </p:sp>
      <p:sp>
        <p:nvSpPr>
          <p:cNvPr id="31" name="Text 29"/>
          <p:cNvSpPr/>
          <p:nvPr/>
        </p:nvSpPr>
        <p:spPr>
          <a:xfrm>
            <a:off x="1603366" y="5571074"/>
            <a:ext cx="696427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$250+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7383" y="5932740"/>
            <a:ext cx="4992570" cy="72356"/>
          </a:xfrm>
          <a:custGeom>
            <a:avLst/>
            <a:gdLst/>
            <a:ahLst/>
            <a:cxnLst/>
            <a:rect l="l" t="t" r="r" b="b"/>
            <a:pathLst>
              <a:path w="4992570" h="72356">
                <a:moveTo>
                  <a:pt x="36178" y="0"/>
                </a:moveTo>
                <a:lnTo>
                  <a:pt x="4956392" y="0"/>
                </a:lnTo>
                <a:cubicBezTo>
                  <a:pt x="4976372" y="0"/>
                  <a:pt x="4992570" y="16197"/>
                  <a:pt x="4992570" y="36178"/>
                </a:cubicBezTo>
                <a:lnTo>
                  <a:pt x="4992570" y="36178"/>
                </a:lnTo>
                <a:cubicBezTo>
                  <a:pt x="4992570" y="56159"/>
                  <a:pt x="4976372" y="72356"/>
                  <a:pt x="4956392" y="72356"/>
                </a:cubicBezTo>
                <a:lnTo>
                  <a:pt x="36178" y="72356"/>
                </a:lnTo>
                <a:cubicBezTo>
                  <a:pt x="16211" y="72356"/>
                  <a:pt x="0" y="56145"/>
                  <a:pt x="0" y="36178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3" name="Shape 31"/>
          <p:cNvSpPr/>
          <p:nvPr/>
        </p:nvSpPr>
        <p:spPr>
          <a:xfrm>
            <a:off x="687383" y="5932740"/>
            <a:ext cx="2993733" cy="72356"/>
          </a:xfrm>
          <a:custGeom>
            <a:avLst/>
            <a:gdLst/>
            <a:ahLst/>
            <a:cxnLst/>
            <a:rect l="l" t="t" r="r" b="b"/>
            <a:pathLst>
              <a:path w="2993733" h="72356">
                <a:moveTo>
                  <a:pt x="36178" y="0"/>
                </a:moveTo>
                <a:lnTo>
                  <a:pt x="2957555" y="0"/>
                </a:lnTo>
                <a:cubicBezTo>
                  <a:pt x="2977535" y="0"/>
                  <a:pt x="2993733" y="16197"/>
                  <a:pt x="2993733" y="36178"/>
                </a:cubicBezTo>
                <a:lnTo>
                  <a:pt x="2993733" y="36178"/>
                </a:lnTo>
                <a:cubicBezTo>
                  <a:pt x="2993733" y="56159"/>
                  <a:pt x="2977535" y="72356"/>
                  <a:pt x="2957555" y="72356"/>
                </a:cubicBezTo>
                <a:lnTo>
                  <a:pt x="36178" y="72356"/>
                </a:lnTo>
                <a:cubicBezTo>
                  <a:pt x="16211" y="72356"/>
                  <a:pt x="0" y="56145"/>
                  <a:pt x="0" y="36178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34" name="Shape 32"/>
          <p:cNvSpPr/>
          <p:nvPr/>
        </p:nvSpPr>
        <p:spPr>
          <a:xfrm>
            <a:off x="6184410" y="1193875"/>
            <a:ext cx="5643774" cy="2821887"/>
          </a:xfrm>
          <a:custGeom>
            <a:avLst/>
            <a:gdLst/>
            <a:ahLst/>
            <a:cxnLst/>
            <a:rect l="l" t="t" r="r" b="b"/>
            <a:pathLst>
              <a:path w="5643774" h="2821887">
                <a:moveTo>
                  <a:pt x="72353" y="0"/>
                </a:moveTo>
                <a:lnTo>
                  <a:pt x="5571421" y="0"/>
                </a:lnTo>
                <a:cubicBezTo>
                  <a:pt x="5611381" y="0"/>
                  <a:pt x="5643774" y="32394"/>
                  <a:pt x="5643774" y="72353"/>
                </a:cubicBezTo>
                <a:lnTo>
                  <a:pt x="5643774" y="2749534"/>
                </a:lnTo>
                <a:cubicBezTo>
                  <a:pt x="5643774" y="2789494"/>
                  <a:pt x="5611381" y="2821887"/>
                  <a:pt x="5571421" y="2821887"/>
                </a:cubicBezTo>
                <a:lnTo>
                  <a:pt x="72353" y="2821887"/>
                </a:lnTo>
                <a:cubicBezTo>
                  <a:pt x="32394" y="2821887"/>
                  <a:pt x="0" y="2789494"/>
                  <a:pt x="0" y="2749534"/>
                </a:cubicBezTo>
                <a:lnTo>
                  <a:pt x="0" y="72353"/>
                </a:lnTo>
                <a:cubicBezTo>
                  <a:pt x="0" y="32394"/>
                  <a:pt x="32394" y="0"/>
                  <a:pt x="7235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4267" dist="36178" dir="5400000">
              <a:srgbClr val="000000">
                <a:alpha val="10196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65301" y="1374766"/>
            <a:ext cx="5372439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Execution Requirements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5301" y="1772724"/>
            <a:ext cx="5281994" cy="615027"/>
          </a:xfrm>
          <a:custGeom>
            <a:avLst/>
            <a:gdLst/>
            <a:ahLst/>
            <a:cxnLst/>
            <a:rect l="l" t="t" r="r" b="b"/>
            <a:pathLst>
              <a:path w="5281994" h="615027">
                <a:moveTo>
                  <a:pt x="72358" y="0"/>
                </a:moveTo>
                <a:lnTo>
                  <a:pt x="5209636" y="0"/>
                </a:lnTo>
                <a:cubicBezTo>
                  <a:pt x="5249598" y="0"/>
                  <a:pt x="5281994" y="32396"/>
                  <a:pt x="5281994" y="72358"/>
                </a:cubicBezTo>
                <a:lnTo>
                  <a:pt x="5281994" y="542669"/>
                </a:lnTo>
                <a:cubicBezTo>
                  <a:pt x="5281994" y="582631"/>
                  <a:pt x="5249598" y="615027"/>
                  <a:pt x="5209636" y="615027"/>
                </a:cubicBezTo>
                <a:lnTo>
                  <a:pt x="72358" y="615027"/>
                </a:lnTo>
                <a:cubicBezTo>
                  <a:pt x="32396" y="615027"/>
                  <a:pt x="0" y="582631"/>
                  <a:pt x="0" y="542669"/>
                </a:cubicBezTo>
                <a:lnTo>
                  <a:pt x="0" y="72358"/>
                </a:lnTo>
                <a:cubicBezTo>
                  <a:pt x="0" y="32422"/>
                  <a:pt x="32422" y="0"/>
                  <a:pt x="7235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7" name="Shape 35"/>
          <p:cNvSpPr/>
          <p:nvPr/>
        </p:nvSpPr>
        <p:spPr>
          <a:xfrm>
            <a:off x="6507752" y="1917436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158279" y="72709"/>
                </a:moveTo>
                <a:cubicBezTo>
                  <a:pt x="153050" y="76172"/>
                  <a:pt x="147044" y="78963"/>
                  <a:pt x="140791" y="81189"/>
                </a:cubicBezTo>
                <a:cubicBezTo>
                  <a:pt x="124185" y="87124"/>
                  <a:pt x="102387" y="90445"/>
                  <a:pt x="79139" y="90445"/>
                </a:cubicBezTo>
                <a:cubicBezTo>
                  <a:pt x="55892" y="90445"/>
                  <a:pt x="34058" y="87089"/>
                  <a:pt x="17488" y="81189"/>
                </a:cubicBezTo>
                <a:cubicBezTo>
                  <a:pt x="11270" y="78963"/>
                  <a:pt x="5229" y="76172"/>
                  <a:pt x="0" y="72709"/>
                </a:cubicBezTo>
                <a:lnTo>
                  <a:pt x="0" y="101751"/>
                </a:lnTo>
                <a:cubicBezTo>
                  <a:pt x="0" y="117367"/>
                  <a:pt x="35436" y="130015"/>
                  <a:pt x="79139" y="130015"/>
                </a:cubicBezTo>
                <a:cubicBezTo>
                  <a:pt x="122843" y="130015"/>
                  <a:pt x="158279" y="117367"/>
                  <a:pt x="158279" y="101751"/>
                </a:cubicBezTo>
                <a:lnTo>
                  <a:pt x="158279" y="72709"/>
                </a:lnTo>
                <a:close/>
                <a:moveTo>
                  <a:pt x="158279" y="45223"/>
                </a:moveTo>
                <a:lnTo>
                  <a:pt x="158279" y="28264"/>
                </a:lnTo>
                <a:cubicBezTo>
                  <a:pt x="158279" y="12648"/>
                  <a:pt x="122843" y="0"/>
                  <a:pt x="79139" y="0"/>
                </a:cubicBezTo>
                <a:cubicBezTo>
                  <a:pt x="35436" y="0"/>
                  <a:pt x="0" y="12648"/>
                  <a:pt x="0" y="28264"/>
                </a:cubicBezTo>
                <a:lnTo>
                  <a:pt x="0" y="45223"/>
                </a:lnTo>
                <a:cubicBezTo>
                  <a:pt x="0" y="60838"/>
                  <a:pt x="35436" y="73487"/>
                  <a:pt x="79139" y="73487"/>
                </a:cubicBezTo>
                <a:cubicBezTo>
                  <a:pt x="122843" y="73487"/>
                  <a:pt x="158279" y="60838"/>
                  <a:pt x="158279" y="45223"/>
                </a:cubicBezTo>
                <a:close/>
                <a:moveTo>
                  <a:pt x="140791" y="137717"/>
                </a:moveTo>
                <a:cubicBezTo>
                  <a:pt x="124221" y="143617"/>
                  <a:pt x="102422" y="146973"/>
                  <a:pt x="79139" y="146973"/>
                </a:cubicBezTo>
                <a:cubicBezTo>
                  <a:pt x="55857" y="146973"/>
                  <a:pt x="34058" y="143617"/>
                  <a:pt x="17488" y="137717"/>
                </a:cubicBezTo>
                <a:cubicBezTo>
                  <a:pt x="11270" y="135491"/>
                  <a:pt x="5229" y="132700"/>
                  <a:pt x="0" y="129238"/>
                </a:cubicBezTo>
                <a:lnTo>
                  <a:pt x="0" y="152626"/>
                </a:lnTo>
                <a:cubicBezTo>
                  <a:pt x="0" y="168242"/>
                  <a:pt x="35436" y="180890"/>
                  <a:pt x="79139" y="180890"/>
                </a:cubicBezTo>
                <a:cubicBezTo>
                  <a:pt x="122843" y="180890"/>
                  <a:pt x="158279" y="168242"/>
                  <a:pt x="158279" y="152626"/>
                </a:cubicBezTo>
                <a:lnTo>
                  <a:pt x="158279" y="129238"/>
                </a:lnTo>
                <a:cubicBezTo>
                  <a:pt x="153050" y="132700"/>
                  <a:pt x="147044" y="135491"/>
                  <a:pt x="140791" y="137717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6808482" y="1881258"/>
            <a:ext cx="296659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SQL Alerting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08482" y="2098326"/>
            <a:ext cx="295755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churn risk scoring and automated email triggers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65301" y="2496285"/>
            <a:ext cx="5281994" cy="615027"/>
          </a:xfrm>
          <a:custGeom>
            <a:avLst/>
            <a:gdLst/>
            <a:ahLst/>
            <a:cxnLst/>
            <a:rect l="l" t="t" r="r" b="b"/>
            <a:pathLst>
              <a:path w="5281994" h="615027">
                <a:moveTo>
                  <a:pt x="72358" y="0"/>
                </a:moveTo>
                <a:lnTo>
                  <a:pt x="5209636" y="0"/>
                </a:lnTo>
                <a:cubicBezTo>
                  <a:pt x="5249598" y="0"/>
                  <a:pt x="5281994" y="32396"/>
                  <a:pt x="5281994" y="72358"/>
                </a:cubicBezTo>
                <a:lnTo>
                  <a:pt x="5281994" y="542669"/>
                </a:lnTo>
                <a:cubicBezTo>
                  <a:pt x="5281994" y="582631"/>
                  <a:pt x="5249598" y="615027"/>
                  <a:pt x="5209636" y="615027"/>
                </a:cubicBezTo>
                <a:lnTo>
                  <a:pt x="72358" y="615027"/>
                </a:lnTo>
                <a:cubicBezTo>
                  <a:pt x="32396" y="615027"/>
                  <a:pt x="0" y="582631"/>
                  <a:pt x="0" y="542669"/>
                </a:cubicBezTo>
                <a:lnTo>
                  <a:pt x="0" y="72358"/>
                </a:lnTo>
                <a:cubicBezTo>
                  <a:pt x="0" y="32422"/>
                  <a:pt x="32422" y="0"/>
                  <a:pt x="7235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1" name="Shape 39"/>
          <p:cNvSpPr/>
          <p:nvPr/>
        </p:nvSpPr>
        <p:spPr>
          <a:xfrm>
            <a:off x="6473835" y="2640997"/>
            <a:ext cx="226113" cy="180890"/>
          </a:xfrm>
          <a:custGeom>
            <a:avLst/>
            <a:gdLst/>
            <a:ahLst/>
            <a:cxnLst/>
            <a:rect l="l" t="t" r="r" b="b"/>
            <a:pathLst>
              <a:path w="226113" h="180890">
                <a:moveTo>
                  <a:pt x="113056" y="5653"/>
                </a:moveTo>
                <a:cubicBezTo>
                  <a:pt x="133336" y="5653"/>
                  <a:pt x="149800" y="22117"/>
                  <a:pt x="149800" y="42396"/>
                </a:cubicBezTo>
                <a:cubicBezTo>
                  <a:pt x="149800" y="62675"/>
                  <a:pt x="133336" y="79139"/>
                  <a:pt x="113056" y="79139"/>
                </a:cubicBezTo>
                <a:cubicBezTo>
                  <a:pt x="92777" y="79139"/>
                  <a:pt x="76313" y="62675"/>
                  <a:pt x="76313" y="42396"/>
                </a:cubicBezTo>
                <a:cubicBezTo>
                  <a:pt x="76313" y="22117"/>
                  <a:pt x="92777" y="5653"/>
                  <a:pt x="113056" y="5653"/>
                </a:cubicBezTo>
                <a:close/>
                <a:moveTo>
                  <a:pt x="33917" y="31091"/>
                </a:moveTo>
                <a:cubicBezTo>
                  <a:pt x="47956" y="31091"/>
                  <a:pt x="59355" y="42489"/>
                  <a:pt x="59355" y="56528"/>
                </a:cubicBezTo>
                <a:cubicBezTo>
                  <a:pt x="59355" y="70568"/>
                  <a:pt x="47956" y="81966"/>
                  <a:pt x="33917" y="81966"/>
                </a:cubicBezTo>
                <a:cubicBezTo>
                  <a:pt x="19877" y="81966"/>
                  <a:pt x="8479" y="70568"/>
                  <a:pt x="8479" y="56528"/>
                </a:cubicBezTo>
                <a:cubicBezTo>
                  <a:pt x="8479" y="42489"/>
                  <a:pt x="19877" y="31091"/>
                  <a:pt x="33917" y="31091"/>
                </a:cubicBezTo>
                <a:close/>
                <a:moveTo>
                  <a:pt x="0" y="146973"/>
                </a:moveTo>
                <a:cubicBezTo>
                  <a:pt x="0" y="121995"/>
                  <a:pt x="20244" y="101751"/>
                  <a:pt x="45223" y="101751"/>
                </a:cubicBezTo>
                <a:cubicBezTo>
                  <a:pt x="49745" y="101751"/>
                  <a:pt x="54126" y="102422"/>
                  <a:pt x="58259" y="103659"/>
                </a:cubicBezTo>
                <a:cubicBezTo>
                  <a:pt x="46636" y="116660"/>
                  <a:pt x="39570" y="133830"/>
                  <a:pt x="39570" y="152626"/>
                </a:cubicBezTo>
                <a:lnTo>
                  <a:pt x="39570" y="158279"/>
                </a:lnTo>
                <a:cubicBezTo>
                  <a:pt x="39570" y="162307"/>
                  <a:pt x="40418" y="166122"/>
                  <a:pt x="41937" y="169585"/>
                </a:cubicBezTo>
                <a:lnTo>
                  <a:pt x="11306" y="169585"/>
                </a:lnTo>
                <a:cubicBezTo>
                  <a:pt x="5052" y="169585"/>
                  <a:pt x="0" y="164532"/>
                  <a:pt x="0" y="158279"/>
                </a:cubicBezTo>
                <a:lnTo>
                  <a:pt x="0" y="146973"/>
                </a:lnTo>
                <a:close/>
                <a:moveTo>
                  <a:pt x="184176" y="169585"/>
                </a:moveTo>
                <a:cubicBezTo>
                  <a:pt x="185695" y="166122"/>
                  <a:pt x="186543" y="162307"/>
                  <a:pt x="186543" y="158279"/>
                </a:cubicBezTo>
                <a:lnTo>
                  <a:pt x="186543" y="152626"/>
                </a:lnTo>
                <a:cubicBezTo>
                  <a:pt x="186543" y="133830"/>
                  <a:pt x="179477" y="116660"/>
                  <a:pt x="167853" y="103659"/>
                </a:cubicBezTo>
                <a:cubicBezTo>
                  <a:pt x="171987" y="102422"/>
                  <a:pt x="176368" y="101751"/>
                  <a:pt x="180890" y="101751"/>
                </a:cubicBezTo>
                <a:cubicBezTo>
                  <a:pt x="205869" y="101751"/>
                  <a:pt x="226113" y="121995"/>
                  <a:pt x="226113" y="146973"/>
                </a:cubicBezTo>
                <a:lnTo>
                  <a:pt x="226113" y="158279"/>
                </a:lnTo>
                <a:cubicBezTo>
                  <a:pt x="226113" y="164532"/>
                  <a:pt x="221061" y="169585"/>
                  <a:pt x="214807" y="169585"/>
                </a:cubicBezTo>
                <a:lnTo>
                  <a:pt x="184176" y="169585"/>
                </a:lnTo>
                <a:close/>
                <a:moveTo>
                  <a:pt x="166758" y="56528"/>
                </a:moveTo>
                <a:cubicBezTo>
                  <a:pt x="166758" y="42489"/>
                  <a:pt x="178156" y="31091"/>
                  <a:pt x="192196" y="31091"/>
                </a:cubicBezTo>
                <a:cubicBezTo>
                  <a:pt x="206235" y="31091"/>
                  <a:pt x="217634" y="42489"/>
                  <a:pt x="217634" y="56528"/>
                </a:cubicBezTo>
                <a:cubicBezTo>
                  <a:pt x="217634" y="70568"/>
                  <a:pt x="206235" y="81966"/>
                  <a:pt x="192196" y="81966"/>
                </a:cubicBezTo>
                <a:cubicBezTo>
                  <a:pt x="178156" y="81966"/>
                  <a:pt x="166758" y="70568"/>
                  <a:pt x="166758" y="56528"/>
                </a:cubicBezTo>
                <a:close/>
                <a:moveTo>
                  <a:pt x="56528" y="152626"/>
                </a:moveTo>
                <a:cubicBezTo>
                  <a:pt x="56528" y="121394"/>
                  <a:pt x="81825" y="96098"/>
                  <a:pt x="113056" y="96098"/>
                </a:cubicBezTo>
                <a:cubicBezTo>
                  <a:pt x="144288" y="96098"/>
                  <a:pt x="169585" y="121394"/>
                  <a:pt x="169585" y="152626"/>
                </a:cubicBezTo>
                <a:lnTo>
                  <a:pt x="169585" y="158279"/>
                </a:lnTo>
                <a:cubicBezTo>
                  <a:pt x="169585" y="164532"/>
                  <a:pt x="164532" y="169585"/>
                  <a:pt x="158279" y="169585"/>
                </a:cubicBezTo>
                <a:lnTo>
                  <a:pt x="67834" y="169585"/>
                </a:lnTo>
                <a:cubicBezTo>
                  <a:pt x="61580" y="169585"/>
                  <a:pt x="56528" y="164532"/>
                  <a:pt x="56528" y="158279"/>
                </a:cubicBezTo>
                <a:lnTo>
                  <a:pt x="56528" y="152626"/>
                </a:ln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42" name="Text 40"/>
          <p:cNvSpPr/>
          <p:nvPr/>
        </p:nvSpPr>
        <p:spPr>
          <a:xfrm>
            <a:off x="6808482" y="2604819"/>
            <a:ext cx="313844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Cross-Functional Alignment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08482" y="2821887"/>
            <a:ext cx="312940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Marketing, Product, and Customer Success coordination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65301" y="3219846"/>
            <a:ext cx="5281994" cy="615027"/>
          </a:xfrm>
          <a:custGeom>
            <a:avLst/>
            <a:gdLst/>
            <a:ahLst/>
            <a:cxnLst/>
            <a:rect l="l" t="t" r="r" b="b"/>
            <a:pathLst>
              <a:path w="5281994" h="615027">
                <a:moveTo>
                  <a:pt x="72358" y="0"/>
                </a:moveTo>
                <a:lnTo>
                  <a:pt x="5209636" y="0"/>
                </a:lnTo>
                <a:cubicBezTo>
                  <a:pt x="5249598" y="0"/>
                  <a:pt x="5281994" y="32396"/>
                  <a:pt x="5281994" y="72358"/>
                </a:cubicBezTo>
                <a:lnTo>
                  <a:pt x="5281994" y="542669"/>
                </a:lnTo>
                <a:cubicBezTo>
                  <a:pt x="5281994" y="582631"/>
                  <a:pt x="5249598" y="615027"/>
                  <a:pt x="5209636" y="615027"/>
                </a:cubicBezTo>
                <a:lnTo>
                  <a:pt x="72358" y="615027"/>
                </a:lnTo>
                <a:cubicBezTo>
                  <a:pt x="32396" y="615027"/>
                  <a:pt x="0" y="582631"/>
                  <a:pt x="0" y="542669"/>
                </a:cubicBezTo>
                <a:lnTo>
                  <a:pt x="0" y="72358"/>
                </a:lnTo>
                <a:cubicBezTo>
                  <a:pt x="0" y="32422"/>
                  <a:pt x="32422" y="0"/>
                  <a:pt x="7235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5" name="Shape 43"/>
          <p:cNvSpPr/>
          <p:nvPr/>
        </p:nvSpPr>
        <p:spPr>
          <a:xfrm>
            <a:off x="6496446" y="3364558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22611" y="22611"/>
                </a:moveTo>
                <a:cubicBezTo>
                  <a:pt x="22611" y="16358"/>
                  <a:pt x="17559" y="11306"/>
                  <a:pt x="11306" y="11306"/>
                </a:cubicBezTo>
                <a:cubicBezTo>
                  <a:pt x="5052" y="11306"/>
                  <a:pt x="0" y="16358"/>
                  <a:pt x="0" y="22611"/>
                </a:cubicBezTo>
                <a:lnTo>
                  <a:pt x="0" y="141320"/>
                </a:lnTo>
                <a:cubicBezTo>
                  <a:pt x="0" y="156936"/>
                  <a:pt x="12648" y="169585"/>
                  <a:pt x="28264" y="169585"/>
                </a:cubicBezTo>
                <a:lnTo>
                  <a:pt x="169585" y="169585"/>
                </a:lnTo>
                <a:cubicBezTo>
                  <a:pt x="175838" y="169585"/>
                  <a:pt x="180890" y="164532"/>
                  <a:pt x="180890" y="158279"/>
                </a:cubicBezTo>
                <a:cubicBezTo>
                  <a:pt x="180890" y="152026"/>
                  <a:pt x="175838" y="146973"/>
                  <a:pt x="169585" y="146973"/>
                </a:cubicBezTo>
                <a:lnTo>
                  <a:pt x="28264" y="146973"/>
                </a:lnTo>
                <a:cubicBezTo>
                  <a:pt x="25155" y="146973"/>
                  <a:pt x="22611" y="144430"/>
                  <a:pt x="22611" y="141320"/>
                </a:cubicBezTo>
                <a:lnTo>
                  <a:pt x="22611" y="22611"/>
                </a:lnTo>
                <a:close/>
                <a:moveTo>
                  <a:pt x="166264" y="53207"/>
                </a:moveTo>
                <a:cubicBezTo>
                  <a:pt x="170680" y="48791"/>
                  <a:pt x="170680" y="41619"/>
                  <a:pt x="166264" y="37203"/>
                </a:cubicBezTo>
                <a:cubicBezTo>
                  <a:pt x="161847" y="32786"/>
                  <a:pt x="154675" y="32786"/>
                  <a:pt x="150259" y="37203"/>
                </a:cubicBezTo>
                <a:lnTo>
                  <a:pt x="113056" y="74441"/>
                </a:lnTo>
                <a:lnTo>
                  <a:pt x="92777" y="54196"/>
                </a:lnTo>
                <a:cubicBezTo>
                  <a:pt x="88361" y="49780"/>
                  <a:pt x="81189" y="49780"/>
                  <a:pt x="76772" y="54196"/>
                </a:cubicBezTo>
                <a:lnTo>
                  <a:pt x="42855" y="88113"/>
                </a:lnTo>
                <a:cubicBezTo>
                  <a:pt x="38439" y="92530"/>
                  <a:pt x="38439" y="99702"/>
                  <a:pt x="42855" y="104118"/>
                </a:cubicBezTo>
                <a:cubicBezTo>
                  <a:pt x="47272" y="108534"/>
                  <a:pt x="54444" y="108534"/>
                  <a:pt x="58860" y="104118"/>
                </a:cubicBezTo>
                <a:lnTo>
                  <a:pt x="84792" y="78186"/>
                </a:lnTo>
                <a:lnTo>
                  <a:pt x="105072" y="98465"/>
                </a:lnTo>
                <a:cubicBezTo>
                  <a:pt x="109488" y="102881"/>
                  <a:pt x="116660" y="102881"/>
                  <a:pt x="121076" y="98465"/>
                </a:cubicBezTo>
                <a:lnTo>
                  <a:pt x="166299" y="53242"/>
                </a:ln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46" name="Text 44"/>
          <p:cNvSpPr/>
          <p:nvPr/>
        </p:nvSpPr>
        <p:spPr>
          <a:xfrm>
            <a:off x="6808482" y="3328380"/>
            <a:ext cx="2650042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 KPI Reviews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08482" y="3545448"/>
            <a:ext cx="2640997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monitoring and strategy adjustment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84410" y="4160475"/>
            <a:ext cx="5643774" cy="1790813"/>
          </a:xfrm>
          <a:custGeom>
            <a:avLst/>
            <a:gdLst/>
            <a:ahLst/>
            <a:cxnLst/>
            <a:rect l="l" t="t" r="r" b="b"/>
            <a:pathLst>
              <a:path w="5643774" h="1790813">
                <a:moveTo>
                  <a:pt x="72349" y="0"/>
                </a:moveTo>
                <a:lnTo>
                  <a:pt x="5571426" y="0"/>
                </a:lnTo>
                <a:cubicBezTo>
                  <a:pt x="5611383" y="0"/>
                  <a:pt x="5643774" y="32392"/>
                  <a:pt x="5643774" y="72349"/>
                </a:cubicBezTo>
                <a:lnTo>
                  <a:pt x="5643774" y="1718464"/>
                </a:lnTo>
                <a:cubicBezTo>
                  <a:pt x="5643774" y="1758421"/>
                  <a:pt x="5611383" y="1790813"/>
                  <a:pt x="5571426" y="1790813"/>
                </a:cubicBezTo>
                <a:lnTo>
                  <a:pt x="72349" y="1790813"/>
                </a:lnTo>
                <a:cubicBezTo>
                  <a:pt x="32392" y="1790813"/>
                  <a:pt x="0" y="1758421"/>
                  <a:pt x="0" y="1718464"/>
                </a:cubicBezTo>
                <a:lnTo>
                  <a:pt x="0" y="72349"/>
                </a:lnTo>
                <a:cubicBezTo>
                  <a:pt x="0" y="32418"/>
                  <a:pt x="32418" y="0"/>
                  <a:pt x="72349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outerShdw sx="100000" sy="100000" kx="0" ky="0" algn="bl" rotWithShape="0" blurRad="135668" dist="90445" dir="5400000">
              <a:srgbClr val="000000">
                <a:alpha val="10196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365301" y="4341365"/>
            <a:ext cx="5372439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Areas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65301" y="4739323"/>
            <a:ext cx="1691323" cy="1031074"/>
          </a:xfrm>
          <a:custGeom>
            <a:avLst/>
            <a:gdLst/>
            <a:ahLst/>
            <a:cxnLst/>
            <a:rect l="l" t="t" r="r" b="b"/>
            <a:pathLst>
              <a:path w="1691323" h="1031074">
                <a:moveTo>
                  <a:pt x="72361" y="0"/>
                </a:moveTo>
                <a:lnTo>
                  <a:pt x="1618963" y="0"/>
                </a:lnTo>
                <a:cubicBezTo>
                  <a:pt x="1658926" y="0"/>
                  <a:pt x="1691323" y="32397"/>
                  <a:pt x="1691323" y="72361"/>
                </a:cubicBezTo>
                <a:lnTo>
                  <a:pt x="1691323" y="958713"/>
                </a:lnTo>
                <a:cubicBezTo>
                  <a:pt x="1691323" y="998677"/>
                  <a:pt x="1658926" y="1031074"/>
                  <a:pt x="1618963" y="1031074"/>
                </a:cubicBezTo>
                <a:lnTo>
                  <a:pt x="72361" y="1031074"/>
                </a:lnTo>
                <a:cubicBezTo>
                  <a:pt x="32424" y="1031074"/>
                  <a:pt x="0" y="998650"/>
                  <a:pt x="0" y="958713"/>
                </a:cubicBezTo>
                <a:lnTo>
                  <a:pt x="0" y="72361"/>
                </a:lnTo>
                <a:cubicBezTo>
                  <a:pt x="0" y="32424"/>
                  <a:pt x="32424" y="0"/>
                  <a:pt x="7236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075634" y="4884036"/>
            <a:ext cx="271335" cy="271335"/>
          </a:xfrm>
          <a:custGeom>
            <a:avLst/>
            <a:gdLst/>
            <a:ahLst/>
            <a:cxnLst/>
            <a:rect l="l" t="t" r="r" b="b"/>
            <a:pathLst>
              <a:path w="271335" h="271335">
                <a:moveTo>
                  <a:pt x="127718" y="46159"/>
                </a:moveTo>
                <a:lnTo>
                  <a:pt x="135668" y="57129"/>
                </a:lnTo>
                <a:lnTo>
                  <a:pt x="143617" y="46159"/>
                </a:lnTo>
                <a:cubicBezTo>
                  <a:pt x="156866" y="27822"/>
                  <a:pt x="178170" y="16958"/>
                  <a:pt x="200799" y="16958"/>
                </a:cubicBezTo>
                <a:cubicBezTo>
                  <a:pt x="239750" y="16958"/>
                  <a:pt x="271335" y="48544"/>
                  <a:pt x="271335" y="87495"/>
                </a:cubicBezTo>
                <a:lnTo>
                  <a:pt x="271335" y="88873"/>
                </a:lnTo>
                <a:cubicBezTo>
                  <a:pt x="271335" y="148334"/>
                  <a:pt x="197195" y="217386"/>
                  <a:pt x="158509" y="246905"/>
                </a:cubicBezTo>
                <a:cubicBezTo>
                  <a:pt x="151937" y="251886"/>
                  <a:pt x="143882" y="254377"/>
                  <a:pt x="135668" y="254377"/>
                </a:cubicBezTo>
                <a:cubicBezTo>
                  <a:pt x="127453" y="254377"/>
                  <a:pt x="119345" y="251939"/>
                  <a:pt x="112827" y="246905"/>
                </a:cubicBezTo>
                <a:cubicBezTo>
                  <a:pt x="74140" y="217386"/>
                  <a:pt x="0" y="148334"/>
                  <a:pt x="0" y="88873"/>
                </a:cubicBezTo>
                <a:lnTo>
                  <a:pt x="0" y="87495"/>
                </a:lnTo>
                <a:cubicBezTo>
                  <a:pt x="0" y="48544"/>
                  <a:pt x="31585" y="16958"/>
                  <a:pt x="70537" y="16958"/>
                </a:cubicBezTo>
                <a:cubicBezTo>
                  <a:pt x="93166" y="16958"/>
                  <a:pt x="114470" y="27822"/>
                  <a:pt x="127718" y="46159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52" name="Text 50"/>
          <p:cNvSpPr/>
          <p:nvPr/>
        </p:nvSpPr>
        <p:spPr>
          <a:xfrm>
            <a:off x="6473835" y="5227727"/>
            <a:ext cx="147425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78357" y="5444795"/>
            <a:ext cx="146521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churn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61427" y="4739323"/>
            <a:ext cx="1691323" cy="1031074"/>
          </a:xfrm>
          <a:custGeom>
            <a:avLst/>
            <a:gdLst/>
            <a:ahLst/>
            <a:cxnLst/>
            <a:rect l="l" t="t" r="r" b="b"/>
            <a:pathLst>
              <a:path w="1691323" h="1031074">
                <a:moveTo>
                  <a:pt x="72361" y="0"/>
                </a:moveTo>
                <a:lnTo>
                  <a:pt x="1618963" y="0"/>
                </a:lnTo>
                <a:cubicBezTo>
                  <a:pt x="1658926" y="0"/>
                  <a:pt x="1691323" y="32397"/>
                  <a:pt x="1691323" y="72361"/>
                </a:cubicBezTo>
                <a:lnTo>
                  <a:pt x="1691323" y="958713"/>
                </a:lnTo>
                <a:cubicBezTo>
                  <a:pt x="1691323" y="998677"/>
                  <a:pt x="1658926" y="1031074"/>
                  <a:pt x="1618963" y="1031074"/>
                </a:cubicBezTo>
                <a:lnTo>
                  <a:pt x="72361" y="1031074"/>
                </a:lnTo>
                <a:cubicBezTo>
                  <a:pt x="32424" y="1031074"/>
                  <a:pt x="0" y="998650"/>
                  <a:pt x="0" y="958713"/>
                </a:cubicBezTo>
                <a:lnTo>
                  <a:pt x="0" y="72361"/>
                </a:lnTo>
                <a:cubicBezTo>
                  <a:pt x="0" y="32424"/>
                  <a:pt x="32424" y="0"/>
                  <a:pt x="7236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922636" y="4884036"/>
            <a:ext cx="169585" cy="271335"/>
          </a:xfrm>
          <a:custGeom>
            <a:avLst/>
            <a:gdLst/>
            <a:ahLst/>
            <a:cxnLst/>
            <a:rect l="l" t="t" r="r" b="b"/>
            <a:pathLst>
              <a:path w="169585" h="271335">
                <a:moveTo>
                  <a:pt x="72073" y="12719"/>
                </a:moveTo>
                <a:cubicBezTo>
                  <a:pt x="72073" y="5670"/>
                  <a:pt x="77744" y="0"/>
                  <a:pt x="84792" y="0"/>
                </a:cubicBezTo>
                <a:cubicBezTo>
                  <a:pt x="91841" y="0"/>
                  <a:pt x="97511" y="5670"/>
                  <a:pt x="97511" y="12719"/>
                </a:cubicBezTo>
                <a:lnTo>
                  <a:pt x="97511" y="33917"/>
                </a:lnTo>
                <a:lnTo>
                  <a:pt x="127188" y="33917"/>
                </a:lnTo>
                <a:cubicBezTo>
                  <a:pt x="136569" y="33917"/>
                  <a:pt x="144147" y="41495"/>
                  <a:pt x="144147" y="50875"/>
                </a:cubicBezTo>
                <a:cubicBezTo>
                  <a:pt x="144147" y="60256"/>
                  <a:pt x="136569" y="67834"/>
                  <a:pt x="127188" y="67834"/>
                </a:cubicBezTo>
                <a:lnTo>
                  <a:pt x="66297" y="67834"/>
                </a:lnTo>
                <a:cubicBezTo>
                  <a:pt x="53101" y="67834"/>
                  <a:pt x="42396" y="78539"/>
                  <a:pt x="42396" y="91735"/>
                </a:cubicBezTo>
                <a:cubicBezTo>
                  <a:pt x="42396" y="103659"/>
                  <a:pt x="51140" y="113728"/>
                  <a:pt x="62905" y="115423"/>
                </a:cubicBezTo>
                <a:lnTo>
                  <a:pt x="111449" y="122366"/>
                </a:lnTo>
                <a:cubicBezTo>
                  <a:pt x="139960" y="126446"/>
                  <a:pt x="161105" y="150824"/>
                  <a:pt x="161105" y="179601"/>
                </a:cubicBezTo>
                <a:cubicBezTo>
                  <a:pt x="161105" y="211557"/>
                  <a:pt x="135191" y="237418"/>
                  <a:pt x="103288" y="237418"/>
                </a:cubicBezTo>
                <a:lnTo>
                  <a:pt x="97511" y="237418"/>
                </a:lnTo>
                <a:lnTo>
                  <a:pt x="97511" y="258616"/>
                </a:lnTo>
                <a:cubicBezTo>
                  <a:pt x="97511" y="265665"/>
                  <a:pt x="91841" y="271335"/>
                  <a:pt x="84792" y="271335"/>
                </a:cubicBezTo>
                <a:cubicBezTo>
                  <a:pt x="77744" y="271335"/>
                  <a:pt x="72073" y="265665"/>
                  <a:pt x="72073" y="258616"/>
                </a:cubicBezTo>
                <a:lnTo>
                  <a:pt x="72073" y="237418"/>
                </a:lnTo>
                <a:lnTo>
                  <a:pt x="33917" y="237418"/>
                </a:lnTo>
                <a:cubicBezTo>
                  <a:pt x="24537" y="237418"/>
                  <a:pt x="16958" y="229840"/>
                  <a:pt x="16958" y="220460"/>
                </a:cubicBezTo>
                <a:cubicBezTo>
                  <a:pt x="16958" y="211080"/>
                  <a:pt x="24537" y="203501"/>
                  <a:pt x="33917" y="203501"/>
                </a:cubicBezTo>
                <a:lnTo>
                  <a:pt x="103288" y="203501"/>
                </a:lnTo>
                <a:cubicBezTo>
                  <a:pt x="116483" y="203501"/>
                  <a:pt x="127188" y="192796"/>
                  <a:pt x="127188" y="179601"/>
                </a:cubicBezTo>
                <a:cubicBezTo>
                  <a:pt x="127188" y="167677"/>
                  <a:pt x="118444" y="157608"/>
                  <a:pt x="106679" y="155912"/>
                </a:cubicBezTo>
                <a:lnTo>
                  <a:pt x="58136" y="148969"/>
                </a:lnTo>
                <a:cubicBezTo>
                  <a:pt x="29624" y="144942"/>
                  <a:pt x="8479" y="120511"/>
                  <a:pt x="8479" y="91735"/>
                </a:cubicBezTo>
                <a:cubicBezTo>
                  <a:pt x="8479" y="59832"/>
                  <a:pt x="34394" y="33917"/>
                  <a:pt x="66297" y="33917"/>
                </a:cubicBezTo>
                <a:lnTo>
                  <a:pt x="72073" y="33917"/>
                </a:lnTo>
                <a:lnTo>
                  <a:pt x="72073" y="12719"/>
                </a:ln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56" name="Text 54"/>
          <p:cNvSpPr/>
          <p:nvPr/>
        </p:nvSpPr>
        <p:spPr>
          <a:xfrm>
            <a:off x="8269961" y="5227727"/>
            <a:ext cx="147425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Monetization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274483" y="5444795"/>
            <a:ext cx="146521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 LTV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957554" y="4739323"/>
            <a:ext cx="1691323" cy="1031074"/>
          </a:xfrm>
          <a:custGeom>
            <a:avLst/>
            <a:gdLst/>
            <a:ahLst/>
            <a:cxnLst/>
            <a:rect l="l" t="t" r="r" b="b"/>
            <a:pathLst>
              <a:path w="1691323" h="1031074">
                <a:moveTo>
                  <a:pt x="72361" y="0"/>
                </a:moveTo>
                <a:lnTo>
                  <a:pt x="1618963" y="0"/>
                </a:lnTo>
                <a:cubicBezTo>
                  <a:pt x="1658926" y="0"/>
                  <a:pt x="1691323" y="32397"/>
                  <a:pt x="1691323" y="72361"/>
                </a:cubicBezTo>
                <a:lnTo>
                  <a:pt x="1691323" y="958713"/>
                </a:lnTo>
                <a:cubicBezTo>
                  <a:pt x="1691323" y="998677"/>
                  <a:pt x="1658926" y="1031074"/>
                  <a:pt x="1618963" y="1031074"/>
                </a:cubicBezTo>
                <a:lnTo>
                  <a:pt x="72361" y="1031074"/>
                </a:lnTo>
                <a:cubicBezTo>
                  <a:pt x="32424" y="1031074"/>
                  <a:pt x="0" y="998650"/>
                  <a:pt x="0" y="958713"/>
                </a:cubicBezTo>
                <a:lnTo>
                  <a:pt x="0" y="72361"/>
                </a:lnTo>
                <a:cubicBezTo>
                  <a:pt x="0" y="32424"/>
                  <a:pt x="32424" y="0"/>
                  <a:pt x="7236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667887" y="4884036"/>
            <a:ext cx="271335" cy="271335"/>
          </a:xfrm>
          <a:custGeom>
            <a:avLst/>
            <a:gdLst/>
            <a:ahLst/>
            <a:cxnLst/>
            <a:rect l="l" t="t" r="r" b="b"/>
            <a:pathLst>
              <a:path w="271335" h="271335">
                <a:moveTo>
                  <a:pt x="135668" y="271335"/>
                </a:moveTo>
                <a:cubicBezTo>
                  <a:pt x="210545" y="271335"/>
                  <a:pt x="271335" y="210545"/>
                  <a:pt x="271335" y="135668"/>
                </a:cubicBezTo>
                <a:cubicBezTo>
                  <a:pt x="271335" y="60791"/>
                  <a:pt x="210545" y="0"/>
                  <a:pt x="135668" y="0"/>
                </a:cubicBezTo>
                <a:cubicBezTo>
                  <a:pt x="60791" y="0"/>
                  <a:pt x="0" y="60791"/>
                  <a:pt x="0" y="135668"/>
                </a:cubicBezTo>
                <a:cubicBezTo>
                  <a:pt x="0" y="210545"/>
                  <a:pt x="60791" y="271335"/>
                  <a:pt x="135668" y="271335"/>
                </a:cubicBezTo>
                <a:close/>
                <a:moveTo>
                  <a:pt x="87654" y="170591"/>
                </a:moveTo>
                <a:cubicBezTo>
                  <a:pt x="98465" y="185430"/>
                  <a:pt x="115953" y="195022"/>
                  <a:pt x="135668" y="195022"/>
                </a:cubicBezTo>
                <a:cubicBezTo>
                  <a:pt x="155382" y="195022"/>
                  <a:pt x="172870" y="185430"/>
                  <a:pt x="183681" y="170591"/>
                </a:cubicBezTo>
                <a:cubicBezTo>
                  <a:pt x="187815" y="164921"/>
                  <a:pt x="195764" y="163649"/>
                  <a:pt x="201435" y="167783"/>
                </a:cubicBezTo>
                <a:cubicBezTo>
                  <a:pt x="207105" y="171916"/>
                  <a:pt x="208377" y="179866"/>
                  <a:pt x="204243" y="185536"/>
                </a:cubicBezTo>
                <a:cubicBezTo>
                  <a:pt x="188822" y="206681"/>
                  <a:pt x="163861" y="220460"/>
                  <a:pt x="135668" y="220460"/>
                </a:cubicBezTo>
                <a:cubicBezTo>
                  <a:pt x="107474" y="220460"/>
                  <a:pt x="82513" y="206681"/>
                  <a:pt x="67092" y="185536"/>
                </a:cubicBezTo>
                <a:cubicBezTo>
                  <a:pt x="62958" y="179866"/>
                  <a:pt x="64230" y="171916"/>
                  <a:pt x="69901" y="167783"/>
                </a:cubicBezTo>
                <a:cubicBezTo>
                  <a:pt x="75571" y="163649"/>
                  <a:pt x="83520" y="164921"/>
                  <a:pt x="87654" y="170591"/>
                </a:cubicBezTo>
                <a:close/>
                <a:moveTo>
                  <a:pt x="76313" y="110230"/>
                </a:moveTo>
                <a:cubicBezTo>
                  <a:pt x="76313" y="100870"/>
                  <a:pt x="83912" y="93272"/>
                  <a:pt x="93272" y="93272"/>
                </a:cubicBezTo>
                <a:cubicBezTo>
                  <a:pt x="102631" y="93272"/>
                  <a:pt x="110230" y="100870"/>
                  <a:pt x="110230" y="110230"/>
                </a:cubicBezTo>
                <a:cubicBezTo>
                  <a:pt x="110230" y="119590"/>
                  <a:pt x="102631" y="127188"/>
                  <a:pt x="93272" y="127188"/>
                </a:cubicBezTo>
                <a:cubicBezTo>
                  <a:pt x="83912" y="127188"/>
                  <a:pt x="76313" y="119590"/>
                  <a:pt x="76313" y="110230"/>
                </a:cubicBezTo>
                <a:close/>
                <a:moveTo>
                  <a:pt x="178064" y="93272"/>
                </a:moveTo>
                <a:cubicBezTo>
                  <a:pt x="187423" y="93272"/>
                  <a:pt x="195022" y="100870"/>
                  <a:pt x="195022" y="110230"/>
                </a:cubicBezTo>
                <a:cubicBezTo>
                  <a:pt x="195022" y="119590"/>
                  <a:pt x="187423" y="127188"/>
                  <a:pt x="178064" y="127188"/>
                </a:cubicBezTo>
                <a:cubicBezTo>
                  <a:pt x="168704" y="127188"/>
                  <a:pt x="161105" y="119590"/>
                  <a:pt x="161105" y="110230"/>
                </a:cubicBezTo>
                <a:cubicBezTo>
                  <a:pt x="161105" y="100870"/>
                  <a:pt x="168704" y="93272"/>
                  <a:pt x="178064" y="93272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60" name="Text 58"/>
          <p:cNvSpPr/>
          <p:nvPr/>
        </p:nvSpPr>
        <p:spPr>
          <a:xfrm>
            <a:off x="10066088" y="5227727"/>
            <a:ext cx="147425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070611" y="5444795"/>
            <a:ext cx="146521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NPS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202499" y="6096106"/>
            <a:ext cx="5625685" cy="759739"/>
          </a:xfrm>
          <a:custGeom>
            <a:avLst/>
            <a:gdLst/>
            <a:ahLst/>
            <a:cxnLst/>
            <a:rect l="l" t="t" r="r" b="b"/>
            <a:pathLst>
              <a:path w="5625685" h="759739">
                <a:moveTo>
                  <a:pt x="36178" y="0"/>
                </a:moveTo>
                <a:lnTo>
                  <a:pt x="5553328" y="0"/>
                </a:lnTo>
                <a:cubicBezTo>
                  <a:pt x="5593290" y="0"/>
                  <a:pt x="5625685" y="32396"/>
                  <a:pt x="5625685" y="72358"/>
                </a:cubicBezTo>
                <a:lnTo>
                  <a:pt x="5625685" y="687381"/>
                </a:lnTo>
                <a:cubicBezTo>
                  <a:pt x="5625685" y="727343"/>
                  <a:pt x="5593290" y="759739"/>
                  <a:pt x="5553328" y="759739"/>
                </a:cubicBezTo>
                <a:lnTo>
                  <a:pt x="36178" y="759739"/>
                </a:lnTo>
                <a:cubicBezTo>
                  <a:pt x="16211" y="759739"/>
                  <a:pt x="0" y="743528"/>
                  <a:pt x="0" y="723561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4267" dist="36178" dir="5400000">
              <a:srgbClr val="000000">
                <a:alpha val="10196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202499" y="6096106"/>
            <a:ext cx="36178" cy="759739"/>
          </a:xfrm>
          <a:custGeom>
            <a:avLst/>
            <a:gdLst/>
            <a:ahLst/>
            <a:cxnLst/>
            <a:rect l="l" t="t" r="r" b="b"/>
            <a:pathLst>
              <a:path w="36178" h="759739">
                <a:moveTo>
                  <a:pt x="36178" y="0"/>
                </a:moveTo>
                <a:lnTo>
                  <a:pt x="36178" y="0"/>
                </a:lnTo>
                <a:lnTo>
                  <a:pt x="36178" y="759739"/>
                </a:lnTo>
                <a:lnTo>
                  <a:pt x="36178" y="759739"/>
                </a:lnTo>
                <a:cubicBezTo>
                  <a:pt x="16197" y="759739"/>
                  <a:pt x="0" y="743541"/>
                  <a:pt x="0" y="723561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64" name="Text 62"/>
          <p:cNvSpPr/>
          <p:nvPr/>
        </p:nvSpPr>
        <p:spPr>
          <a:xfrm>
            <a:off x="6365301" y="6240818"/>
            <a:ext cx="93158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5A6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65301" y="6421708"/>
            <a:ext cx="976807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 Days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0673201" y="6367335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08534" y="217068"/>
                </a:moveTo>
                <a:cubicBezTo>
                  <a:pt x="168436" y="217068"/>
                  <a:pt x="217068" y="168436"/>
                  <a:pt x="217068" y="108534"/>
                </a:cubicBezTo>
                <a:cubicBezTo>
                  <a:pt x="217068" y="48633"/>
                  <a:pt x="168436" y="0"/>
                  <a:pt x="108534" y="0"/>
                </a:cubicBezTo>
                <a:cubicBezTo>
                  <a:pt x="48633" y="0"/>
                  <a:pt x="0" y="48633"/>
                  <a:pt x="0" y="108534"/>
                </a:cubicBezTo>
                <a:cubicBezTo>
                  <a:pt x="0" y="168436"/>
                  <a:pt x="48633" y="217068"/>
                  <a:pt x="108534" y="217068"/>
                </a:cubicBezTo>
                <a:close/>
                <a:moveTo>
                  <a:pt x="144316" y="90177"/>
                </a:moveTo>
                <a:lnTo>
                  <a:pt x="110400" y="144444"/>
                </a:lnTo>
                <a:cubicBezTo>
                  <a:pt x="108619" y="147284"/>
                  <a:pt x="105566" y="149065"/>
                  <a:pt x="102217" y="149234"/>
                </a:cubicBezTo>
                <a:cubicBezTo>
                  <a:pt x="98868" y="149404"/>
                  <a:pt x="95646" y="147878"/>
                  <a:pt x="93653" y="145164"/>
                </a:cubicBezTo>
                <a:lnTo>
                  <a:pt x="73303" y="118031"/>
                </a:lnTo>
                <a:cubicBezTo>
                  <a:pt x="69911" y="113537"/>
                  <a:pt x="70844" y="107177"/>
                  <a:pt x="75338" y="103786"/>
                </a:cubicBezTo>
                <a:cubicBezTo>
                  <a:pt x="79832" y="100394"/>
                  <a:pt x="86191" y="101327"/>
                  <a:pt x="89583" y="105821"/>
                </a:cubicBezTo>
                <a:lnTo>
                  <a:pt x="101030" y="121083"/>
                </a:lnTo>
                <a:lnTo>
                  <a:pt x="127061" y="79408"/>
                </a:lnTo>
                <a:cubicBezTo>
                  <a:pt x="130029" y="74660"/>
                  <a:pt x="136304" y="73176"/>
                  <a:pt x="141094" y="76186"/>
                </a:cubicBezTo>
                <a:cubicBezTo>
                  <a:pt x="145885" y="79196"/>
                  <a:pt x="147327" y="85428"/>
                  <a:pt x="144316" y="90219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67" name="Text 65"/>
          <p:cNvSpPr/>
          <p:nvPr/>
        </p:nvSpPr>
        <p:spPr>
          <a:xfrm>
            <a:off x="10989759" y="6367335"/>
            <a:ext cx="75973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Achievable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ms.vibe.dev/09a7d62810cc07ec31171f2fae8098aec385e5db.jpe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44" r="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2E7D32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2028825" cy="381000"/>
          </a:xfrm>
          <a:custGeom>
            <a:avLst/>
            <a:gdLst/>
            <a:ahLst/>
            <a:cxnLst/>
            <a:rect l="l" t="t" r="r" b="b"/>
            <a:pathLst>
              <a:path w="2028825" h="381000">
                <a:moveTo>
                  <a:pt x="57150" y="0"/>
                </a:moveTo>
                <a:lnTo>
                  <a:pt x="1971675" y="0"/>
                </a:lnTo>
                <a:cubicBezTo>
                  <a:pt x="2003217" y="0"/>
                  <a:pt x="2028825" y="25608"/>
                  <a:pt x="2028825" y="57150"/>
                </a:cubicBezTo>
                <a:lnTo>
                  <a:pt x="2028825" y="323850"/>
                </a:lnTo>
                <a:cubicBezTo>
                  <a:pt x="2028825" y="355392"/>
                  <a:pt x="2003217" y="381000"/>
                  <a:pt x="1971675" y="381000"/>
                </a:cubicBezTo>
                <a:lnTo>
                  <a:pt x="57150" y="381000"/>
                </a:lnTo>
                <a:cubicBezTo>
                  <a:pt x="25608" y="381000"/>
                  <a:pt x="0" y="355392"/>
                  <a:pt x="0" y="3238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381000"/>
            <a:ext cx="2105025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9144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Executive Takeaways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810" y="1604010"/>
            <a:ext cx="5608320" cy="1264920"/>
          </a:xfrm>
          <a:custGeom>
            <a:avLst/>
            <a:gdLst/>
            <a:ahLst/>
            <a:cxnLst/>
            <a:rect l="l" t="t" r="r" b="b"/>
            <a:pathLst>
              <a:path w="5608320" h="1264920">
                <a:moveTo>
                  <a:pt x="76199" y="0"/>
                </a:moveTo>
                <a:lnTo>
                  <a:pt x="5532121" y="0"/>
                </a:lnTo>
                <a:cubicBezTo>
                  <a:pt x="5574205" y="0"/>
                  <a:pt x="5608320" y="34115"/>
                  <a:pt x="5608320" y="76199"/>
                </a:cubicBezTo>
                <a:lnTo>
                  <a:pt x="5608320" y="1188721"/>
                </a:lnTo>
                <a:cubicBezTo>
                  <a:pt x="5608320" y="1230805"/>
                  <a:pt x="5574205" y="1264920"/>
                  <a:pt x="5532121" y="1264920"/>
                </a:cubicBezTo>
                <a:lnTo>
                  <a:pt x="76199" y="1264920"/>
                </a:lnTo>
                <a:cubicBezTo>
                  <a:pt x="34115" y="1264920"/>
                  <a:pt x="0" y="1230805"/>
                  <a:pt x="0" y="11887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7695" y="18173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9" name="Text 6"/>
          <p:cNvSpPr/>
          <p:nvPr/>
        </p:nvSpPr>
        <p:spPr>
          <a:xfrm>
            <a:off x="979170" y="1798318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Identified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9120" y="2179318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18% revenue decline driven by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concentration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engagement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A7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inefficient acquisition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channels.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4810" y="3028946"/>
            <a:ext cx="5608320" cy="1264920"/>
          </a:xfrm>
          <a:custGeom>
            <a:avLst/>
            <a:gdLst/>
            <a:ahLst/>
            <a:cxnLst/>
            <a:rect l="l" t="t" r="r" b="b"/>
            <a:pathLst>
              <a:path w="5608320" h="1264920">
                <a:moveTo>
                  <a:pt x="76199" y="0"/>
                </a:moveTo>
                <a:lnTo>
                  <a:pt x="5532121" y="0"/>
                </a:lnTo>
                <a:cubicBezTo>
                  <a:pt x="5574205" y="0"/>
                  <a:pt x="5608320" y="34115"/>
                  <a:pt x="5608320" y="76199"/>
                </a:cubicBezTo>
                <a:lnTo>
                  <a:pt x="5608320" y="1188721"/>
                </a:lnTo>
                <a:cubicBezTo>
                  <a:pt x="5608320" y="1230805"/>
                  <a:pt x="5574205" y="1264920"/>
                  <a:pt x="5532121" y="1264920"/>
                </a:cubicBezTo>
                <a:lnTo>
                  <a:pt x="76199" y="1264920"/>
                </a:lnTo>
                <a:cubicBezTo>
                  <a:pt x="34115" y="1264920"/>
                  <a:pt x="0" y="1230805"/>
                  <a:pt x="0" y="11887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6270" y="324230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13" name="Text 10"/>
          <p:cNvSpPr/>
          <p:nvPr/>
        </p:nvSpPr>
        <p:spPr>
          <a:xfrm>
            <a:off x="979170" y="3223254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Insights Delivered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9120" y="3604254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data-backed findings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clear action paths: churn prediction, activation rules, channel ROI, engagement drivers, and payment recovery.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4810" y="4453883"/>
            <a:ext cx="5608320" cy="1264920"/>
          </a:xfrm>
          <a:custGeom>
            <a:avLst/>
            <a:gdLst/>
            <a:ahLst/>
            <a:cxnLst/>
            <a:rect l="l" t="t" r="r" b="b"/>
            <a:pathLst>
              <a:path w="5608320" h="1264920">
                <a:moveTo>
                  <a:pt x="76199" y="0"/>
                </a:moveTo>
                <a:lnTo>
                  <a:pt x="5532121" y="0"/>
                </a:lnTo>
                <a:cubicBezTo>
                  <a:pt x="5574205" y="0"/>
                  <a:pt x="5608320" y="34115"/>
                  <a:pt x="5608320" y="76199"/>
                </a:cubicBezTo>
                <a:lnTo>
                  <a:pt x="5608320" y="1188721"/>
                </a:lnTo>
                <a:cubicBezTo>
                  <a:pt x="5608320" y="1230805"/>
                  <a:pt x="5574205" y="1264920"/>
                  <a:pt x="5532121" y="1264920"/>
                </a:cubicBezTo>
                <a:lnTo>
                  <a:pt x="76199" y="1264920"/>
                </a:lnTo>
                <a:cubicBezTo>
                  <a:pt x="34115" y="1264920"/>
                  <a:pt x="0" y="1230805"/>
                  <a:pt x="0" y="11887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7695" y="4667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17" name="Text 14"/>
          <p:cNvSpPr/>
          <p:nvPr/>
        </p:nvSpPr>
        <p:spPr>
          <a:xfrm>
            <a:off x="979170" y="4648200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 Defined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9120" y="502920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prioritized recommendations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300% ROI retention campaigns and quick-win opportunities.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95060" y="1604010"/>
            <a:ext cx="5608320" cy="1264920"/>
          </a:xfrm>
          <a:custGeom>
            <a:avLst/>
            <a:gdLst/>
            <a:ahLst/>
            <a:cxnLst/>
            <a:rect l="l" t="t" r="r" b="b"/>
            <a:pathLst>
              <a:path w="5608320" h="1264920">
                <a:moveTo>
                  <a:pt x="76199" y="0"/>
                </a:moveTo>
                <a:lnTo>
                  <a:pt x="5532121" y="0"/>
                </a:lnTo>
                <a:cubicBezTo>
                  <a:pt x="5574205" y="0"/>
                  <a:pt x="5608320" y="34115"/>
                  <a:pt x="5608320" y="76199"/>
                </a:cubicBezTo>
                <a:lnTo>
                  <a:pt x="5608320" y="1188721"/>
                </a:lnTo>
                <a:cubicBezTo>
                  <a:pt x="5608320" y="1230805"/>
                  <a:pt x="5574205" y="1264920"/>
                  <a:pt x="5532121" y="1264920"/>
                </a:cubicBezTo>
                <a:lnTo>
                  <a:pt x="76199" y="1264920"/>
                </a:lnTo>
                <a:cubicBezTo>
                  <a:pt x="34115" y="1264920"/>
                  <a:pt x="0" y="1230805"/>
                  <a:pt x="0" y="11887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17945" y="18173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21" name="Text 18"/>
          <p:cNvSpPr/>
          <p:nvPr/>
        </p:nvSpPr>
        <p:spPr>
          <a:xfrm>
            <a:off x="6789420" y="1798318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89370" y="2179318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$120K+ annual revenue recovery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potential with 90-day implementation timeline and measurable quick wins.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91250" y="3025136"/>
            <a:ext cx="5619750" cy="2524125"/>
          </a:xfrm>
          <a:custGeom>
            <a:avLst/>
            <a:gdLst/>
            <a:ahLst/>
            <a:cxnLst/>
            <a:rect l="l" t="t" r="r" b="b"/>
            <a:pathLst>
              <a:path w="5619750" h="2524125">
                <a:moveTo>
                  <a:pt x="76203" y="0"/>
                </a:moveTo>
                <a:lnTo>
                  <a:pt x="5543547" y="0"/>
                </a:lnTo>
                <a:cubicBezTo>
                  <a:pt x="5585633" y="0"/>
                  <a:pt x="5619750" y="34117"/>
                  <a:pt x="5619750" y="76203"/>
                </a:cubicBezTo>
                <a:lnTo>
                  <a:pt x="5619750" y="2447922"/>
                </a:lnTo>
                <a:cubicBezTo>
                  <a:pt x="5619750" y="2490008"/>
                  <a:pt x="5585633" y="2524125"/>
                  <a:pt x="5543547" y="2524125"/>
                </a:cubicBezTo>
                <a:lnTo>
                  <a:pt x="76203" y="2524125"/>
                </a:lnTo>
                <a:cubicBezTo>
                  <a:pt x="34117" y="2524125"/>
                  <a:pt x="0" y="2490008"/>
                  <a:pt x="0" y="2447922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2E7D32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362700" y="3253736"/>
            <a:ext cx="5276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Decision Required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81750" y="3672715"/>
            <a:ext cx="523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Approve immediate retention campaign and payment recovery fixes to demonstrate quick wins before Q2 board meeting.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19850" y="4320415"/>
            <a:ext cx="2524125" cy="762000"/>
          </a:xfrm>
          <a:custGeom>
            <a:avLst/>
            <a:gdLst/>
            <a:ahLst/>
            <a:cxnLst/>
            <a:rect l="l" t="t" r="r" b="b"/>
            <a:pathLst>
              <a:path w="2524125" h="762000">
                <a:moveTo>
                  <a:pt x="76200" y="0"/>
                </a:moveTo>
                <a:lnTo>
                  <a:pt x="2447925" y="0"/>
                </a:lnTo>
                <a:cubicBezTo>
                  <a:pt x="2489981" y="0"/>
                  <a:pt x="2524125" y="34144"/>
                  <a:pt x="2524125" y="76200"/>
                </a:cubicBezTo>
                <a:lnTo>
                  <a:pt x="2524125" y="685800"/>
                </a:lnTo>
                <a:cubicBezTo>
                  <a:pt x="2524125" y="727856"/>
                  <a:pt x="2489981" y="762000"/>
                  <a:pt x="24479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462713" y="4434715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$90K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500813" y="477761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 Campaign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058275" y="4320415"/>
            <a:ext cx="2524125" cy="762000"/>
          </a:xfrm>
          <a:custGeom>
            <a:avLst/>
            <a:gdLst/>
            <a:ahLst/>
            <a:cxnLst/>
            <a:rect l="l" t="t" r="r" b="b"/>
            <a:pathLst>
              <a:path w="2524125" h="762000">
                <a:moveTo>
                  <a:pt x="76200" y="0"/>
                </a:moveTo>
                <a:lnTo>
                  <a:pt x="2447925" y="0"/>
                </a:lnTo>
                <a:cubicBezTo>
                  <a:pt x="2489981" y="0"/>
                  <a:pt x="2524125" y="34144"/>
                  <a:pt x="2524125" y="76200"/>
                </a:cubicBezTo>
                <a:lnTo>
                  <a:pt x="2524125" y="685800"/>
                </a:lnTo>
                <a:cubicBezTo>
                  <a:pt x="2524125" y="727856"/>
                  <a:pt x="2489981" y="762000"/>
                  <a:pt x="24479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9101138" y="4434715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$15K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139238" y="477761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Recovery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195060" y="5703564"/>
            <a:ext cx="5608320" cy="769620"/>
          </a:xfrm>
          <a:custGeom>
            <a:avLst/>
            <a:gdLst/>
            <a:ahLst/>
            <a:cxnLst/>
            <a:rect l="l" t="t" r="r" b="b"/>
            <a:pathLst>
              <a:path w="5608320" h="769620">
                <a:moveTo>
                  <a:pt x="76200" y="0"/>
                </a:moveTo>
                <a:lnTo>
                  <a:pt x="5532120" y="0"/>
                </a:lnTo>
                <a:cubicBezTo>
                  <a:pt x="5574204" y="0"/>
                  <a:pt x="5608320" y="34116"/>
                  <a:pt x="5608320" y="76200"/>
                </a:cubicBezTo>
                <a:lnTo>
                  <a:pt x="5608320" y="693420"/>
                </a:lnTo>
                <a:cubicBezTo>
                  <a:pt x="5608320" y="735504"/>
                  <a:pt x="5574204" y="769620"/>
                  <a:pt x="553212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51270" y="5859773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351270" y="6050273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 Week 1 Actions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0459641" y="59740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81C784"/>
          </a:solidFill>
          <a:ln/>
        </p:spPr>
      </p:sp>
      <p:sp>
        <p:nvSpPr>
          <p:cNvPr id="36" name="Text 33"/>
          <p:cNvSpPr/>
          <p:nvPr/>
        </p:nvSpPr>
        <p:spPr>
          <a:xfrm>
            <a:off x="10793016" y="5974073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1C78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Let's Execute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SkillStream Pro: Subscription Revenue Optimization</dc:title>
  <dc:subject>SkillStream Pro: Subscription Revenue Optimization</dc:subject>
  <dc:creator>Kimi</dc:creator>
  <cp:lastModifiedBy>Kimi</cp:lastModifiedBy>
  <cp:revision>1</cp:revision>
  <dcterms:created xsi:type="dcterms:W3CDTF">2026-02-02T17:29:34Z</dcterms:created>
  <dcterms:modified xsi:type="dcterms:W3CDTF">2026-02-02T17:29:34Z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{"Label":"SkillStream Pro: Subscription Revenue Optimization","ContentProducer":"001191110108MACG2KBH8F10000","ProduceID":"19c1f511-2b32-8a05-8000-00002b5990e7","ReservedCode1":"","ContentPropagator":"001191110108MACG2KBH8F20000","PropagateID":"19c1f511-2b32-8a05-8000-00002b5990e7","ReservedCode2":""}</vt:lpwstr>
  </property>
</Properties>
</file>